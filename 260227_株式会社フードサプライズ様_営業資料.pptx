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12192000"/>
  <p:embeddedFontLst>
    <p:embeddedFont>
      <p:font typeface="Noto Sans JP"/>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jm6tl+aTkqVu0pBsqtT/IHw/AQ0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NotoSansJP-bold.fntdata"/><Relationship Id="rId16" Type="http://schemas.openxmlformats.org/officeDocument/2006/relationships/font" Target="fonts/NotoSansJP-regular.fntdata"/><Relationship Id="rId5" Type="http://schemas.openxmlformats.org/officeDocument/2006/relationships/slide" Target="slides/slide1.xml"/><Relationship Id="rId6" Type="http://schemas.openxmlformats.org/officeDocument/2006/relationships/slide" Target="slides/slide2.xml"/><Relationship Id="rId18"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 name="Google Shape;3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 name="Google Shape;4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9.png"/><Relationship Id="rId4"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image" Target="../media/image13.png"/><Relationship Id="rId8"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4.png"/><Relationship Id="rId10" Type="http://schemas.openxmlformats.org/officeDocument/2006/relationships/image" Target="../media/image7.png"/><Relationship Id="rId9" Type="http://schemas.openxmlformats.org/officeDocument/2006/relationships/image" Target="../media/image23.png"/><Relationship Id="rId5" Type="http://schemas.openxmlformats.org/officeDocument/2006/relationships/image" Target="../media/image5.png"/><Relationship Id="rId6" Type="http://schemas.openxmlformats.org/officeDocument/2006/relationships/image" Target="../media/image14.png"/><Relationship Id="rId7" Type="http://schemas.openxmlformats.org/officeDocument/2006/relationships/image" Target="../media/image2.png"/><Relationship Id="rId8"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7.png"/><Relationship Id="rId4" Type="http://schemas.openxmlformats.org/officeDocument/2006/relationships/image" Target="../media/image6.png"/><Relationship Id="rId11" Type="http://schemas.openxmlformats.org/officeDocument/2006/relationships/image" Target="../media/image7.png"/><Relationship Id="rId10" Type="http://schemas.openxmlformats.org/officeDocument/2006/relationships/image" Target="../media/image39.png"/><Relationship Id="rId9" Type="http://schemas.openxmlformats.org/officeDocument/2006/relationships/image" Target="../media/image22.png"/><Relationship Id="rId5" Type="http://schemas.openxmlformats.org/officeDocument/2006/relationships/image" Target="../media/image30.png"/><Relationship Id="rId6" Type="http://schemas.openxmlformats.org/officeDocument/2006/relationships/image" Target="../media/image18.png"/><Relationship Id="rId7" Type="http://schemas.openxmlformats.org/officeDocument/2006/relationships/image" Target="../media/image12.png"/><Relationship Id="rId8" Type="http://schemas.openxmlformats.org/officeDocument/2006/relationships/image" Target="../media/image9.png"/></Relationships>
</file>

<file path=ppt/slides/_rels/slide4.xml.rels><?xml version="1.0" encoding="UTF-8" standalone="yes"?><Relationships xmlns="http://schemas.openxmlformats.org/package/2006/relationships"><Relationship Id="rId11" Type="http://schemas.openxmlformats.org/officeDocument/2006/relationships/image" Target="../media/image29.png"/><Relationship Id="rId10" Type="http://schemas.openxmlformats.org/officeDocument/2006/relationships/image" Target="../media/image24.png"/><Relationship Id="rId13" Type="http://schemas.openxmlformats.org/officeDocument/2006/relationships/image" Target="../media/image7.png"/><Relationship Id="rId12" Type="http://schemas.openxmlformats.org/officeDocument/2006/relationships/image" Target="../media/image28.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1.png"/><Relationship Id="rId4" Type="http://schemas.openxmlformats.org/officeDocument/2006/relationships/image" Target="../media/image26.png"/><Relationship Id="rId9" Type="http://schemas.openxmlformats.org/officeDocument/2006/relationships/image" Target="../media/image25.png"/><Relationship Id="rId5" Type="http://schemas.openxmlformats.org/officeDocument/2006/relationships/image" Target="../media/image15.png"/><Relationship Id="rId6" Type="http://schemas.openxmlformats.org/officeDocument/2006/relationships/image" Target="../media/image42.png"/><Relationship Id="rId7" Type="http://schemas.openxmlformats.org/officeDocument/2006/relationships/image" Target="../media/image36.png"/><Relationship Id="rId8" Type="http://schemas.openxmlformats.org/officeDocument/2006/relationships/image" Target="../media/image33.png"/></Relationships>
</file>

<file path=ppt/slides/_rels/slide5.xml.rels><?xml version="1.0" encoding="UTF-8" standalone="yes"?><Relationships xmlns="http://schemas.openxmlformats.org/package/2006/relationships"><Relationship Id="rId11" Type="http://schemas.openxmlformats.org/officeDocument/2006/relationships/image" Target="../media/image41.png"/><Relationship Id="rId10" Type="http://schemas.openxmlformats.org/officeDocument/2006/relationships/image" Target="../media/image37.png"/><Relationship Id="rId13" Type="http://schemas.openxmlformats.org/officeDocument/2006/relationships/image" Target="../media/image53.png"/><Relationship Id="rId12" Type="http://schemas.openxmlformats.org/officeDocument/2006/relationships/image" Target="../media/image59.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1.png"/><Relationship Id="rId4" Type="http://schemas.openxmlformats.org/officeDocument/2006/relationships/image" Target="../media/image40.png"/><Relationship Id="rId9" Type="http://schemas.openxmlformats.org/officeDocument/2006/relationships/image" Target="../media/image68.png"/><Relationship Id="rId14" Type="http://schemas.openxmlformats.org/officeDocument/2006/relationships/image" Target="../media/image46.png"/><Relationship Id="rId5" Type="http://schemas.openxmlformats.org/officeDocument/2006/relationships/image" Target="../media/image38.png"/><Relationship Id="rId6" Type="http://schemas.openxmlformats.org/officeDocument/2006/relationships/image" Target="../media/image35.png"/><Relationship Id="rId7" Type="http://schemas.openxmlformats.org/officeDocument/2006/relationships/image" Target="../media/image7.png"/><Relationship Id="rId8" Type="http://schemas.openxmlformats.org/officeDocument/2006/relationships/image" Target="../media/image34.png"/></Relationships>
</file>

<file path=ppt/slides/_rels/slide6.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50.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2.png"/><Relationship Id="rId4" Type="http://schemas.openxmlformats.org/officeDocument/2006/relationships/image" Target="../media/image54.png"/><Relationship Id="rId9" Type="http://schemas.openxmlformats.org/officeDocument/2006/relationships/image" Target="../media/image47.png"/><Relationship Id="rId5" Type="http://schemas.openxmlformats.org/officeDocument/2006/relationships/image" Target="../media/image79.png"/><Relationship Id="rId6" Type="http://schemas.openxmlformats.org/officeDocument/2006/relationships/image" Target="../media/image45.png"/><Relationship Id="rId7" Type="http://schemas.openxmlformats.org/officeDocument/2006/relationships/image" Target="../media/image43.png"/><Relationship Id="rId8" Type="http://schemas.openxmlformats.org/officeDocument/2006/relationships/image" Target="../media/image49.png"/></Relationships>
</file>

<file path=ppt/slides/_rels/slide7.xml.rels><?xml version="1.0" encoding="UTF-8" standalone="yes"?><Relationships xmlns="http://schemas.openxmlformats.org/package/2006/relationships"><Relationship Id="rId11" Type="http://schemas.openxmlformats.org/officeDocument/2006/relationships/image" Target="../media/image58.png"/><Relationship Id="rId10" Type="http://schemas.openxmlformats.org/officeDocument/2006/relationships/image" Target="../media/image63.png"/><Relationship Id="rId12" Type="http://schemas.openxmlformats.org/officeDocument/2006/relationships/image" Target="../media/image7.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7.png"/><Relationship Id="rId4" Type="http://schemas.openxmlformats.org/officeDocument/2006/relationships/image" Target="../media/image56.png"/><Relationship Id="rId9" Type="http://schemas.openxmlformats.org/officeDocument/2006/relationships/image" Target="../media/image55.png"/><Relationship Id="rId5" Type="http://schemas.openxmlformats.org/officeDocument/2006/relationships/image" Target="../media/image66.png"/><Relationship Id="rId6" Type="http://schemas.openxmlformats.org/officeDocument/2006/relationships/image" Target="../media/image62.png"/><Relationship Id="rId7" Type="http://schemas.openxmlformats.org/officeDocument/2006/relationships/image" Target="../media/image81.png"/><Relationship Id="rId8" Type="http://schemas.openxmlformats.org/officeDocument/2006/relationships/image" Target="../media/image61.png"/></Relationships>
</file>

<file path=ppt/slides/_rels/slide8.xml.rels><?xml version="1.0" encoding="UTF-8" standalone="yes"?><Relationships xmlns="http://schemas.openxmlformats.org/package/2006/relationships"><Relationship Id="rId11" Type="http://schemas.openxmlformats.org/officeDocument/2006/relationships/image" Target="../media/image92.png"/><Relationship Id="rId10" Type="http://schemas.openxmlformats.org/officeDocument/2006/relationships/image" Target="../media/image7.png"/><Relationship Id="rId13" Type="http://schemas.openxmlformats.org/officeDocument/2006/relationships/image" Target="../media/image83.png"/><Relationship Id="rId12" Type="http://schemas.openxmlformats.org/officeDocument/2006/relationships/image" Target="../media/image77.pn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3.png"/><Relationship Id="rId4" Type="http://schemas.openxmlformats.org/officeDocument/2006/relationships/image" Target="../media/image80.png"/><Relationship Id="rId9" Type="http://schemas.openxmlformats.org/officeDocument/2006/relationships/image" Target="../media/image84.png"/><Relationship Id="rId5" Type="http://schemas.openxmlformats.org/officeDocument/2006/relationships/image" Target="../media/image65.png"/><Relationship Id="rId6" Type="http://schemas.openxmlformats.org/officeDocument/2006/relationships/image" Target="../media/image87.png"/><Relationship Id="rId7" Type="http://schemas.openxmlformats.org/officeDocument/2006/relationships/image" Target="../media/image72.png"/><Relationship Id="rId8" Type="http://schemas.openxmlformats.org/officeDocument/2006/relationships/image" Target="../media/image9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7.png"/><Relationship Id="rId4" Type="http://schemas.openxmlformats.org/officeDocument/2006/relationships/image" Target="../media/image7.png"/><Relationship Id="rId5" Type="http://schemas.openxmlformats.org/officeDocument/2006/relationships/image" Target="../media/image90.png"/><Relationship Id="rId6" Type="http://schemas.openxmlformats.org/officeDocument/2006/relationships/image" Target="../media/image76.png"/><Relationship Id="rId7" Type="http://schemas.openxmlformats.org/officeDocument/2006/relationships/image" Target="../media/image8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5.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3.png"/><Relationship Id="rId4" Type="http://schemas.openxmlformats.org/officeDocument/2006/relationships/image" Target="../media/image89.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sp>
        <p:nvSpPr>
          <p:cNvPr id="16" name="Google Shape;16;p1"/>
          <p:cNvSpPr/>
          <p:nvPr/>
        </p:nvSpPr>
        <p:spPr>
          <a:xfrm>
            <a:off x="0" y="0"/>
            <a:ext cx="12191695" cy="6858000"/>
          </a:xfrm>
          <a:prstGeom prst="rect">
            <a:avLst/>
          </a:prstGeom>
          <a:solidFill>
            <a:srgbClr val="F3F4F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0" y="0"/>
            <a:ext cx="12191695" cy="6858000"/>
          </a:xfrm>
          <a:prstGeom prst="rect">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 name="Google Shape;18;p1"/>
          <p:cNvPicPr preferRelativeResize="0"/>
          <p:nvPr/>
        </p:nvPicPr>
        <p:blipFill rotWithShape="1">
          <a:blip r:embed="rId3">
            <a:alphaModFix/>
          </a:blip>
          <a:srcRect b="0" l="17409" r="17409" t="0"/>
          <a:stretch/>
        </p:blipFill>
        <p:spPr>
          <a:xfrm>
            <a:off x="5486400" y="0"/>
            <a:ext cx="6705295" cy="6858000"/>
          </a:xfrm>
          <a:prstGeom prst="rect">
            <a:avLst/>
          </a:prstGeom>
          <a:noFill/>
          <a:ln>
            <a:noFill/>
          </a:ln>
        </p:spPr>
      </p:pic>
      <p:sp>
        <p:nvSpPr>
          <p:cNvPr id="19" name="Google Shape;19;p1"/>
          <p:cNvSpPr/>
          <p:nvPr/>
        </p:nvSpPr>
        <p:spPr>
          <a:xfrm>
            <a:off x="-952805" y="-952805"/>
            <a:ext cx="2857500" cy="2857500"/>
          </a:xfrm>
          <a:prstGeom prst="ellipse">
            <a:avLst/>
          </a:prstGeom>
          <a:solidFill>
            <a:srgbClr val="FEF3C7">
              <a:alpha val="50196"/>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 name="Google Shape;20;p1"/>
          <p:cNvPicPr preferRelativeResize="0"/>
          <p:nvPr/>
        </p:nvPicPr>
        <p:blipFill rotWithShape="1">
          <a:blip r:embed="rId4">
            <a:alphaModFix/>
          </a:blip>
          <a:srcRect b="-420" l="0" r="0" t="-420"/>
          <a:stretch/>
        </p:blipFill>
        <p:spPr>
          <a:xfrm>
            <a:off x="761695" y="1259129"/>
            <a:ext cx="761695" cy="57607"/>
          </a:xfrm>
          <a:prstGeom prst="rect">
            <a:avLst/>
          </a:prstGeom>
          <a:noFill/>
          <a:ln>
            <a:noFill/>
          </a:ln>
        </p:spPr>
      </p:pic>
      <p:sp>
        <p:nvSpPr>
          <p:cNvPr id="21" name="Google Shape;21;p1"/>
          <p:cNvSpPr txBox="1"/>
          <p:nvPr/>
        </p:nvSpPr>
        <p:spPr>
          <a:xfrm>
            <a:off x="761695" y="1621231"/>
            <a:ext cx="11621110" cy="2670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Noto Sans JP"/>
              <a:buNone/>
            </a:pPr>
            <a:r>
              <a:rPr b="1" i="0" lang="en-US" sz="1300" u="none" cap="none" strike="noStrike">
                <a:solidFill>
                  <a:srgbClr val="000000"/>
                </a:solidFill>
                <a:latin typeface="Noto Sans JP"/>
                <a:ea typeface="Noto Sans JP"/>
                <a:cs typeface="Noto Sans JP"/>
                <a:sym typeface="Noto Sans JP"/>
              </a:rPr>
              <a:t>法人向け福利厚生・販促活用のご提案</a:t>
            </a:r>
            <a:endParaRPr b="0" i="0" sz="1300" u="none" cap="none" strike="noStrike">
              <a:solidFill>
                <a:schemeClr val="dk1"/>
              </a:solidFill>
              <a:latin typeface="Calibri"/>
              <a:ea typeface="Calibri"/>
              <a:cs typeface="Calibri"/>
              <a:sym typeface="Calibri"/>
            </a:endParaRPr>
          </a:p>
        </p:txBody>
      </p:sp>
      <p:sp>
        <p:nvSpPr>
          <p:cNvPr id="22" name="Google Shape;22;p1"/>
          <p:cNvSpPr txBox="1"/>
          <p:nvPr/>
        </p:nvSpPr>
        <p:spPr>
          <a:xfrm>
            <a:off x="761695" y="2040026"/>
            <a:ext cx="11601907" cy="14676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4800"/>
              <a:buFont typeface="Arial"/>
              <a:buNone/>
            </a:pPr>
            <a:r>
              <a:rPr b="0" i="0" lang="en-US" sz="4800" u="none" cap="none" strike="noStrike">
                <a:solidFill>
                  <a:srgbClr val="1F2937"/>
                </a:solidFill>
                <a:latin typeface="Arial"/>
                <a:ea typeface="Arial"/>
                <a:cs typeface="Arial"/>
                <a:sym typeface="Arial"/>
              </a:rPr>
              <a:t>旬の果</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4800"/>
              <a:buFont typeface="Arial"/>
              <a:buNone/>
            </a:pPr>
            <a:r>
              <a:rPr b="0" i="0" lang="en-US" sz="4800" u="none" cap="none" strike="noStrike">
                <a:solidFill>
                  <a:srgbClr val="1F2937"/>
                </a:solidFill>
                <a:latin typeface="Arial"/>
                <a:ea typeface="Arial"/>
                <a:cs typeface="Arial"/>
                <a:sym typeface="Arial"/>
              </a:rPr>
              <a:t>定期コース</a:t>
            </a:r>
            <a:endParaRPr b="0" i="0" sz="4800" u="none" cap="none" strike="noStrike">
              <a:solidFill>
                <a:schemeClr val="dk1"/>
              </a:solidFill>
              <a:latin typeface="Calibri"/>
              <a:ea typeface="Calibri"/>
              <a:cs typeface="Calibri"/>
              <a:sym typeface="Calibri"/>
            </a:endParaRPr>
          </a:p>
        </p:txBody>
      </p:sp>
      <p:sp>
        <p:nvSpPr>
          <p:cNvPr id="23" name="Google Shape;23;p1"/>
          <p:cNvSpPr txBox="1"/>
          <p:nvPr/>
        </p:nvSpPr>
        <p:spPr>
          <a:xfrm>
            <a:off x="761695" y="3731666"/>
            <a:ext cx="11621110"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2100"/>
              <a:buFont typeface="Noto Sans JP"/>
              <a:buNone/>
            </a:pPr>
            <a:r>
              <a:rPr b="0" i="0" lang="en-US" sz="2100" u="none" cap="none" strike="noStrike">
                <a:solidFill>
                  <a:srgbClr val="4B5563"/>
                </a:solidFill>
                <a:latin typeface="Noto Sans JP"/>
                <a:ea typeface="Noto Sans JP"/>
                <a:cs typeface="Noto Sans JP"/>
                <a:sym typeface="Noto Sans JP"/>
              </a:rPr>
              <a:t>山形から直送する、四季折々の感動体験。</a:t>
            </a:r>
            <a:endParaRPr b="0" i="0" sz="2100" u="none" cap="none" strike="noStrike">
              <a:solidFill>
                <a:schemeClr val="dk1"/>
              </a:solidFill>
              <a:latin typeface="Calibri"/>
              <a:ea typeface="Calibri"/>
              <a:cs typeface="Calibri"/>
              <a:sym typeface="Calibri"/>
            </a:endParaRPr>
          </a:p>
        </p:txBody>
      </p:sp>
      <p:sp>
        <p:nvSpPr>
          <p:cNvPr id="24" name="Google Shape;24;p1"/>
          <p:cNvSpPr/>
          <p:nvPr/>
        </p:nvSpPr>
        <p:spPr>
          <a:xfrm>
            <a:off x="761695" y="4589374"/>
            <a:ext cx="1171346" cy="400507"/>
          </a:xfrm>
          <a:prstGeom prst="roundRect">
            <a:avLst>
              <a:gd fmla="val 228311" name="adj"/>
            </a:avLst>
          </a:prstGeom>
          <a:solidFill>
            <a:srgbClr val="FFF7ED"/>
          </a:solidFill>
          <a:ln cap="flat" cmpd="sng" w="12700">
            <a:solidFill>
              <a:srgbClr val="FED7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1"/>
          <p:cNvPicPr preferRelativeResize="0"/>
          <p:nvPr/>
        </p:nvPicPr>
        <p:blipFill rotWithShape="1">
          <a:blip r:embed="rId5">
            <a:alphaModFix/>
          </a:blip>
          <a:srcRect b="0" l="0" r="0" t="0"/>
          <a:stretch/>
        </p:blipFill>
        <p:spPr>
          <a:xfrm>
            <a:off x="961949" y="4712818"/>
            <a:ext cx="152705" cy="152705"/>
          </a:xfrm>
          <a:prstGeom prst="rect">
            <a:avLst/>
          </a:prstGeom>
          <a:noFill/>
          <a:ln>
            <a:noFill/>
          </a:ln>
        </p:spPr>
      </p:pic>
      <p:sp>
        <p:nvSpPr>
          <p:cNvPr id="26" name="Google Shape;26;p1"/>
          <p:cNvSpPr txBox="1"/>
          <p:nvPr/>
        </p:nvSpPr>
        <p:spPr>
          <a:xfrm>
            <a:off x="1114654" y="4589374"/>
            <a:ext cx="676656"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410C"/>
              </a:buClr>
              <a:buSzPts val="1200"/>
              <a:buFont typeface="Noto Sans JP"/>
              <a:buNone/>
            </a:pPr>
            <a:r>
              <a:rPr b="1" i="0" lang="en-US" sz="1200" u="none" cap="none" strike="noStrike">
                <a:solidFill>
                  <a:srgbClr val="C2410C"/>
                </a:solidFill>
                <a:latin typeface="Noto Sans JP"/>
                <a:ea typeface="Noto Sans JP"/>
                <a:cs typeface="Noto Sans JP"/>
                <a:sym typeface="Noto Sans JP"/>
              </a:rPr>
              <a:t>福利厚生</a:t>
            </a:r>
            <a:endParaRPr b="0" i="0" sz="1200" u="none" cap="none" strike="noStrike">
              <a:solidFill>
                <a:schemeClr val="dk1"/>
              </a:solidFill>
              <a:latin typeface="Calibri"/>
              <a:ea typeface="Calibri"/>
              <a:cs typeface="Calibri"/>
              <a:sym typeface="Calibri"/>
            </a:endParaRPr>
          </a:p>
        </p:txBody>
      </p:sp>
      <p:sp>
        <p:nvSpPr>
          <p:cNvPr id="27" name="Google Shape;27;p1"/>
          <p:cNvSpPr/>
          <p:nvPr/>
        </p:nvSpPr>
        <p:spPr>
          <a:xfrm>
            <a:off x="2076602" y="4589374"/>
            <a:ext cx="1647749" cy="400507"/>
          </a:xfrm>
          <a:prstGeom prst="roundRect">
            <a:avLst>
              <a:gd fmla="val 228311" name="adj"/>
            </a:avLst>
          </a:prstGeom>
          <a:solidFill>
            <a:srgbClr val="FFF7ED"/>
          </a:solidFill>
          <a:ln cap="flat" cmpd="sng" w="12700">
            <a:solidFill>
              <a:srgbClr val="FED7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 name="Google Shape;28;p1"/>
          <p:cNvPicPr preferRelativeResize="0"/>
          <p:nvPr/>
        </p:nvPicPr>
        <p:blipFill rotWithShape="1">
          <a:blip r:embed="rId6">
            <a:alphaModFix/>
          </a:blip>
          <a:srcRect b="0" l="-33" r="-33" t="0"/>
          <a:stretch/>
        </p:blipFill>
        <p:spPr>
          <a:xfrm>
            <a:off x="2276856" y="4712818"/>
            <a:ext cx="171907" cy="152705"/>
          </a:xfrm>
          <a:prstGeom prst="rect">
            <a:avLst/>
          </a:prstGeom>
          <a:noFill/>
          <a:ln>
            <a:noFill/>
          </a:ln>
        </p:spPr>
      </p:pic>
      <p:sp>
        <p:nvSpPr>
          <p:cNvPr id="29" name="Google Shape;29;p1"/>
          <p:cNvSpPr txBox="1"/>
          <p:nvPr/>
        </p:nvSpPr>
        <p:spPr>
          <a:xfrm>
            <a:off x="2447849" y="4589374"/>
            <a:ext cx="1133856"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410C"/>
              </a:buClr>
              <a:buSzPts val="1200"/>
              <a:buFont typeface="Noto Sans JP"/>
              <a:buNone/>
            </a:pPr>
            <a:r>
              <a:rPr b="1" i="0" lang="en-US" sz="1200" u="none" cap="none" strike="noStrike">
                <a:solidFill>
                  <a:srgbClr val="C2410C"/>
                </a:solidFill>
                <a:latin typeface="Noto Sans JP"/>
                <a:ea typeface="Noto Sans JP"/>
                <a:cs typeface="Noto Sans JP"/>
                <a:sym typeface="Noto Sans JP"/>
              </a:rPr>
              <a:t>成約プレゼント</a:t>
            </a:r>
            <a:endParaRPr b="0" i="0" sz="1200" u="none" cap="none" strike="noStrike">
              <a:solidFill>
                <a:schemeClr val="dk1"/>
              </a:solidFill>
              <a:latin typeface="Calibri"/>
              <a:ea typeface="Calibri"/>
              <a:cs typeface="Calibri"/>
              <a:sym typeface="Calibri"/>
            </a:endParaRPr>
          </a:p>
        </p:txBody>
      </p:sp>
      <p:sp>
        <p:nvSpPr>
          <p:cNvPr id="30" name="Google Shape;30;p1"/>
          <p:cNvSpPr/>
          <p:nvPr/>
        </p:nvSpPr>
        <p:spPr>
          <a:xfrm>
            <a:off x="3866998" y="4589374"/>
            <a:ext cx="1190549" cy="400507"/>
          </a:xfrm>
          <a:prstGeom prst="roundRect">
            <a:avLst>
              <a:gd fmla="val 228311" name="adj"/>
            </a:avLst>
          </a:prstGeom>
          <a:solidFill>
            <a:srgbClr val="FFF7ED"/>
          </a:solidFill>
          <a:ln cap="flat" cmpd="sng" w="12700">
            <a:solidFill>
              <a:srgbClr val="FED7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 name="Google Shape;31;p1"/>
          <p:cNvPicPr preferRelativeResize="0"/>
          <p:nvPr/>
        </p:nvPicPr>
        <p:blipFill rotWithShape="1">
          <a:blip r:embed="rId7">
            <a:alphaModFix/>
          </a:blip>
          <a:srcRect b="0" l="-33" r="-33" t="0"/>
          <a:stretch/>
        </p:blipFill>
        <p:spPr>
          <a:xfrm>
            <a:off x="4067251" y="4712818"/>
            <a:ext cx="171907" cy="152705"/>
          </a:xfrm>
          <a:prstGeom prst="rect">
            <a:avLst/>
          </a:prstGeom>
          <a:noFill/>
          <a:ln>
            <a:noFill/>
          </a:ln>
        </p:spPr>
      </p:pic>
      <p:sp>
        <p:nvSpPr>
          <p:cNvPr id="32" name="Google Shape;32;p1"/>
          <p:cNvSpPr txBox="1"/>
          <p:nvPr/>
        </p:nvSpPr>
        <p:spPr>
          <a:xfrm>
            <a:off x="4239158" y="4589374"/>
            <a:ext cx="676656"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410C"/>
              </a:buClr>
              <a:buSzPts val="1200"/>
              <a:buFont typeface="Noto Sans JP"/>
              <a:buNone/>
            </a:pPr>
            <a:r>
              <a:rPr b="1" i="0" lang="en-US" sz="1200" u="none" cap="none" strike="noStrike">
                <a:solidFill>
                  <a:srgbClr val="C2410C"/>
                </a:solidFill>
                <a:latin typeface="Noto Sans JP"/>
                <a:ea typeface="Noto Sans JP"/>
                <a:cs typeface="Noto Sans JP"/>
                <a:sym typeface="Noto Sans JP"/>
              </a:rPr>
              <a:t>来場特典</a:t>
            </a:r>
            <a:endParaRPr b="0" i="0" sz="1200" u="none" cap="none" strike="noStrike">
              <a:solidFill>
                <a:schemeClr val="dk1"/>
              </a:solidFill>
              <a:latin typeface="Calibri"/>
              <a:ea typeface="Calibri"/>
              <a:cs typeface="Calibri"/>
              <a:sym typeface="Calibri"/>
            </a:endParaRPr>
          </a:p>
        </p:txBody>
      </p:sp>
      <p:sp>
        <p:nvSpPr>
          <p:cNvPr id="33" name="Google Shape;33;p1"/>
          <p:cNvSpPr txBox="1"/>
          <p:nvPr/>
        </p:nvSpPr>
        <p:spPr>
          <a:xfrm>
            <a:off x="761695" y="6133795"/>
            <a:ext cx="293431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800"/>
              <a:buFont typeface="Noto Sans JP"/>
              <a:buNone/>
            </a:pPr>
            <a:r>
              <a:rPr b="1" i="0" lang="en-US" sz="1800" u="none" cap="none" strike="noStrike">
                <a:solidFill>
                  <a:srgbClr val="9CA3AF"/>
                </a:solidFill>
                <a:latin typeface="Noto Sans JP"/>
                <a:ea typeface="Noto Sans JP"/>
                <a:cs typeface="Noto Sans JP"/>
                <a:sym typeface="Noto Sans JP"/>
              </a:rPr>
              <a:t>株式会社フードサプライズ</a:t>
            </a:r>
            <a:endParaRPr b="0" i="0" sz="1800" u="none" cap="none" strike="noStrike">
              <a:solidFill>
                <a:schemeClr val="dk1"/>
              </a:solidFill>
              <a:latin typeface="Calibri"/>
              <a:ea typeface="Calibri"/>
              <a:cs typeface="Calibri"/>
              <a:sym typeface="Calibri"/>
            </a:endParaRPr>
          </a:p>
        </p:txBody>
      </p:sp>
      <p:sp>
        <p:nvSpPr>
          <p:cNvPr id="34" name="Google Shape;34;p1"/>
          <p:cNvSpPr/>
          <p:nvPr/>
        </p:nvSpPr>
        <p:spPr>
          <a:xfrm>
            <a:off x="10325405" y="381305"/>
            <a:ext cx="1495044" cy="457200"/>
          </a:xfrm>
          <a:prstGeom prst="roundRect">
            <a:avLst>
              <a:gd fmla="val 66667" name="adj"/>
            </a:avLst>
          </a:prstGeom>
          <a:solidFill>
            <a:srgbClr val="FFFFFF">
              <a:alpha val="90196"/>
            </a:srgbClr>
          </a:solidFill>
          <a:ln cap="flat" cmpd="sng" w="12700">
            <a:solidFill>
              <a:srgbClr val="FFFFFF">
                <a:alpha val="0"/>
              </a:srgbClr>
            </a:solidFill>
            <a:prstDash val="solid"/>
            <a:round/>
            <a:headEnd len="sm" w="sm" type="none"/>
            <a:tailEnd len="sm" w="sm" type="none"/>
          </a:ln>
          <a:effectLst>
            <a:outerShdw blurRad="63500" rotWithShape="0" algn="bl" dir="16200000" dist="38100">
              <a:srgbClr val="000000">
                <a:alpha val="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 name="Google Shape;35;p1"/>
          <p:cNvPicPr preferRelativeResize="0"/>
          <p:nvPr/>
        </p:nvPicPr>
        <p:blipFill rotWithShape="1">
          <a:blip r:embed="rId8">
            <a:alphaModFix/>
          </a:blip>
          <a:srcRect b="0" l="0" r="0" t="0"/>
          <a:stretch/>
        </p:blipFill>
        <p:spPr>
          <a:xfrm>
            <a:off x="10554005" y="514807"/>
            <a:ext cx="190195" cy="190195"/>
          </a:xfrm>
          <a:prstGeom prst="rect">
            <a:avLst/>
          </a:prstGeom>
          <a:noFill/>
          <a:ln>
            <a:noFill/>
          </a:ln>
        </p:spPr>
      </p:pic>
      <p:sp>
        <p:nvSpPr>
          <p:cNvPr id="36" name="Google Shape;36;p1"/>
          <p:cNvSpPr txBox="1"/>
          <p:nvPr/>
        </p:nvSpPr>
        <p:spPr>
          <a:xfrm>
            <a:off x="10820095" y="381305"/>
            <a:ext cx="829361"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Noto Sans JP"/>
              <a:buNone/>
            </a:pPr>
            <a:r>
              <a:rPr b="1" i="0" lang="en-US" sz="1200" u="none" cap="none" strike="noStrike">
                <a:solidFill>
                  <a:srgbClr val="374151"/>
                </a:solidFill>
                <a:latin typeface="Noto Sans JP"/>
                <a:ea typeface="Noto Sans JP"/>
                <a:cs typeface="Noto Sans JP"/>
                <a:sym typeface="Noto Sans JP"/>
              </a:rPr>
              <a:t>山形県産直</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sp>
        <p:nvSpPr>
          <p:cNvPr id="42" name="Google Shape;42;p2"/>
          <p:cNvSpPr/>
          <p:nvPr/>
        </p:nvSpPr>
        <p:spPr>
          <a:xfrm>
            <a:off x="0" y="0"/>
            <a:ext cx="12191695" cy="6858000"/>
          </a:xfrm>
          <a:prstGeom prst="rect">
            <a:avLst/>
          </a:prstGeom>
          <a:solidFill>
            <a:srgbClr val="F3F4F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0" y="0"/>
            <a:ext cx="12191695" cy="6858000"/>
          </a:xfrm>
          <a:prstGeom prst="rect">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0" y="838505"/>
            <a:ext cx="12191695" cy="19202"/>
          </a:xfrm>
          <a:prstGeom prst="rect">
            <a:avLst/>
          </a:prstGeom>
          <a:solidFill>
            <a:srgbClr val="FFF7ED"/>
          </a:solidFill>
          <a:ln cap="flat" cmpd="sng" w="12700">
            <a:solidFill>
              <a:srgbClr val="FFF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txBox="1"/>
          <p:nvPr/>
        </p:nvSpPr>
        <p:spPr>
          <a:xfrm>
            <a:off x="571500" y="331013"/>
            <a:ext cx="3941064"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Arial"/>
              <a:buNone/>
            </a:pPr>
            <a:r>
              <a:rPr b="1" i="0" lang="en-US" sz="2700" u="none" cap="none" strike="noStrike">
                <a:solidFill>
                  <a:srgbClr val="111827"/>
                </a:solidFill>
                <a:latin typeface="Arial"/>
                <a:ea typeface="Arial"/>
                <a:cs typeface="Arial"/>
                <a:sym typeface="Arial"/>
              </a:rPr>
              <a:t>ご挨拶と本日の趣旨</a:t>
            </a:r>
            <a:endParaRPr b="0" i="0" sz="2700" u="none" cap="none" strike="noStrike">
              <a:solidFill>
                <a:schemeClr val="dk1"/>
              </a:solidFill>
              <a:latin typeface="Calibri"/>
              <a:ea typeface="Calibri"/>
              <a:cs typeface="Calibri"/>
              <a:sym typeface="Calibri"/>
            </a:endParaRPr>
          </a:p>
        </p:txBody>
      </p:sp>
      <p:sp>
        <p:nvSpPr>
          <p:cNvPr id="46" name="Google Shape;46;p2"/>
          <p:cNvSpPr txBox="1"/>
          <p:nvPr/>
        </p:nvSpPr>
        <p:spPr>
          <a:xfrm>
            <a:off x="9568282" y="448056"/>
            <a:ext cx="2221992"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300"/>
              <a:buFont typeface="Noto Sans JP"/>
              <a:buNone/>
            </a:pPr>
            <a:r>
              <a:rPr b="1" i="0" lang="en-US" sz="1300" u="none" cap="none" strike="noStrike">
                <a:solidFill>
                  <a:srgbClr val="9CA3AF"/>
                </a:solidFill>
                <a:latin typeface="Noto Sans JP"/>
                <a:ea typeface="Noto Sans JP"/>
                <a:cs typeface="Noto Sans JP"/>
                <a:sym typeface="Noto Sans JP"/>
              </a:rPr>
              <a:t>株式会社フードサプライズ</a:t>
            </a:r>
            <a:endParaRPr b="0" i="0" sz="1300" u="none" cap="none" strike="noStrike">
              <a:solidFill>
                <a:schemeClr val="dk1"/>
              </a:solidFill>
              <a:latin typeface="Calibri"/>
              <a:ea typeface="Calibri"/>
              <a:cs typeface="Calibri"/>
              <a:sym typeface="Calibri"/>
            </a:endParaRPr>
          </a:p>
        </p:txBody>
      </p:sp>
      <p:sp>
        <p:nvSpPr>
          <p:cNvPr id="47" name="Google Shape;47;p2"/>
          <p:cNvSpPr/>
          <p:nvPr/>
        </p:nvSpPr>
        <p:spPr>
          <a:xfrm>
            <a:off x="571500" y="1823314"/>
            <a:ext cx="1028700" cy="276149"/>
          </a:xfrm>
          <a:prstGeom prst="roundRect">
            <a:avLst>
              <a:gd fmla="val 91345" name="adj"/>
            </a:avLst>
          </a:prstGeom>
          <a:solidFill>
            <a:srgbClr val="FFF7ED"/>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txBox="1"/>
          <p:nvPr/>
        </p:nvSpPr>
        <p:spPr>
          <a:xfrm>
            <a:off x="571500" y="1823314"/>
            <a:ext cx="1086307" cy="277063"/>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t" bIns="38100" lIns="114300" spcFirstLastPara="1" rIns="114300" wrap="square" tIns="38100">
            <a:noAutofit/>
          </a:bodyPr>
          <a:lstStyle/>
          <a:p>
            <a:pPr indent="0" lvl="0" marL="0" marR="0" rtl="0" algn="l">
              <a:spcBef>
                <a:spcPts val="0"/>
              </a:spcBef>
              <a:spcAft>
                <a:spcPts val="0"/>
              </a:spcAft>
              <a:buClr>
                <a:srgbClr val="EA580C"/>
              </a:buClr>
              <a:buSzPts val="1000"/>
              <a:buFont typeface="Noto Sans JP"/>
              <a:buNone/>
            </a:pPr>
            <a:r>
              <a:rPr b="1" i="0" lang="en-US" sz="1000" u="none" cap="none" strike="noStrike">
                <a:solidFill>
                  <a:srgbClr val="EA580C"/>
                </a:solidFill>
                <a:latin typeface="Noto Sans JP"/>
                <a:ea typeface="Noto Sans JP"/>
                <a:cs typeface="Noto Sans JP"/>
                <a:sym typeface="Noto Sans JP"/>
              </a:rPr>
              <a:t>本日のゴール</a:t>
            </a:r>
            <a:endParaRPr b="0" i="0" sz="1000" u="none" cap="none" strike="noStrike">
              <a:solidFill>
                <a:schemeClr val="dk1"/>
              </a:solidFill>
              <a:latin typeface="Calibri"/>
              <a:ea typeface="Calibri"/>
              <a:cs typeface="Calibri"/>
              <a:sym typeface="Calibri"/>
            </a:endParaRPr>
          </a:p>
        </p:txBody>
      </p:sp>
      <p:sp>
        <p:nvSpPr>
          <p:cNvPr id="49" name="Google Shape;49;p2"/>
          <p:cNvSpPr txBox="1"/>
          <p:nvPr/>
        </p:nvSpPr>
        <p:spPr>
          <a:xfrm>
            <a:off x="571500" y="2213762"/>
            <a:ext cx="6036869" cy="74340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1900"/>
              <a:buFont typeface="Noto Sans JP"/>
              <a:buNone/>
            </a:pPr>
            <a:r>
              <a:rPr b="1" i="0" lang="en-US" sz="1900" u="none" cap="none" strike="noStrike">
                <a:solidFill>
                  <a:srgbClr val="374151"/>
                </a:solidFill>
                <a:latin typeface="Noto Sans JP"/>
                <a:ea typeface="Noto Sans JP"/>
                <a:cs typeface="Noto Sans JP"/>
                <a:sym typeface="Noto Sans JP"/>
              </a:rPr>
              <a:t>旬の果物を通じた</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74151"/>
              </a:buClr>
              <a:buSzPts val="1900"/>
              <a:buFont typeface="Noto Sans JP"/>
              <a:buNone/>
            </a:pPr>
            <a:r>
              <a:rPr b="1" i="0" lang="en-US" sz="1900" u="none" cap="none" strike="noStrike">
                <a:solidFill>
                  <a:srgbClr val="374151"/>
                </a:solidFill>
                <a:latin typeface="Noto Sans JP"/>
                <a:ea typeface="Noto Sans JP"/>
                <a:cs typeface="Noto Sans JP"/>
                <a:sym typeface="Noto Sans JP"/>
              </a:rPr>
              <a:t>貴社の福利厚生・販促支援のご提案</a:t>
            </a:r>
            <a:endParaRPr b="0" i="0" sz="1900" u="none" cap="none" strike="noStrike">
              <a:solidFill>
                <a:schemeClr val="dk1"/>
              </a:solidFill>
              <a:latin typeface="Calibri"/>
              <a:ea typeface="Calibri"/>
              <a:cs typeface="Calibri"/>
              <a:sym typeface="Calibri"/>
            </a:endParaRPr>
          </a:p>
        </p:txBody>
      </p:sp>
      <p:sp>
        <p:nvSpPr>
          <p:cNvPr id="50" name="Google Shape;50;p2"/>
          <p:cNvSpPr txBox="1"/>
          <p:nvPr/>
        </p:nvSpPr>
        <p:spPr>
          <a:xfrm>
            <a:off x="571500" y="3070555"/>
            <a:ext cx="6020410" cy="49560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200"/>
              <a:buFont typeface="Noto Sans JP"/>
              <a:buNone/>
            </a:pPr>
            <a:r>
              <a:rPr b="0" i="0" lang="en-US" sz="1200" u="none" cap="none" strike="noStrike">
                <a:solidFill>
                  <a:srgbClr val="6B7280"/>
                </a:solidFill>
                <a:latin typeface="Noto Sans JP"/>
                <a:ea typeface="Noto Sans JP"/>
                <a:cs typeface="Noto Sans JP"/>
                <a:sym typeface="Noto Sans JP"/>
              </a:rPr>
              <a:t>「季節の感動」を定期的に社内・顧客へお届けすることで、満足度向上や関係性強化に貢献できるメリットを中心にお話しします。</a:t>
            </a:r>
            <a:endParaRPr b="0" i="0" sz="1200" u="none" cap="none" strike="noStrike">
              <a:solidFill>
                <a:schemeClr val="dk1"/>
              </a:solidFill>
              <a:latin typeface="Calibri"/>
              <a:ea typeface="Calibri"/>
              <a:cs typeface="Calibri"/>
              <a:sym typeface="Calibri"/>
            </a:endParaRPr>
          </a:p>
        </p:txBody>
      </p:sp>
      <p:sp>
        <p:nvSpPr>
          <p:cNvPr id="51" name="Google Shape;51;p2"/>
          <p:cNvSpPr/>
          <p:nvPr/>
        </p:nvSpPr>
        <p:spPr>
          <a:xfrm>
            <a:off x="571500" y="3844138"/>
            <a:ext cx="1162202" cy="276149"/>
          </a:xfrm>
          <a:prstGeom prst="roundRect">
            <a:avLst>
              <a:gd fmla="val 91345" name="adj"/>
            </a:avLst>
          </a:prstGeom>
          <a:solidFill>
            <a:srgbClr val="FFF7ED"/>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txBox="1"/>
          <p:nvPr/>
        </p:nvSpPr>
        <p:spPr>
          <a:xfrm>
            <a:off x="571500" y="3844138"/>
            <a:ext cx="1219810" cy="277063"/>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t" bIns="38100" lIns="114300" spcFirstLastPara="1" rIns="114300" wrap="square" tIns="38100">
            <a:noAutofit/>
          </a:bodyPr>
          <a:lstStyle/>
          <a:p>
            <a:pPr indent="0" lvl="0" marL="0" marR="0" rtl="0" algn="l">
              <a:spcBef>
                <a:spcPts val="0"/>
              </a:spcBef>
              <a:spcAft>
                <a:spcPts val="0"/>
              </a:spcAft>
              <a:buClr>
                <a:srgbClr val="EA580C"/>
              </a:buClr>
              <a:buSzPts val="1000"/>
              <a:buFont typeface="Noto Sans JP"/>
              <a:buNone/>
            </a:pPr>
            <a:r>
              <a:rPr b="1" i="0" lang="en-US" sz="1000" u="none" cap="none" strike="noStrike">
                <a:solidFill>
                  <a:srgbClr val="EA580C"/>
                </a:solidFill>
                <a:latin typeface="Noto Sans JP"/>
                <a:ea typeface="Noto Sans JP"/>
                <a:cs typeface="Noto Sans JP"/>
                <a:sym typeface="Noto Sans JP"/>
              </a:rPr>
              <a:t>主な活用シーン</a:t>
            </a:r>
            <a:endParaRPr b="0" i="0" sz="1000" u="none" cap="none" strike="noStrike">
              <a:solidFill>
                <a:schemeClr val="dk1"/>
              </a:solidFill>
              <a:latin typeface="Calibri"/>
              <a:ea typeface="Calibri"/>
              <a:cs typeface="Calibri"/>
              <a:sym typeface="Calibri"/>
            </a:endParaRPr>
          </a:p>
        </p:txBody>
      </p:sp>
      <p:sp>
        <p:nvSpPr>
          <p:cNvPr id="53" name="Google Shape;53;p2"/>
          <p:cNvSpPr/>
          <p:nvPr/>
        </p:nvSpPr>
        <p:spPr>
          <a:xfrm>
            <a:off x="571500" y="4387291"/>
            <a:ext cx="1886407" cy="1238098"/>
          </a:xfrm>
          <a:prstGeom prst="roundRect">
            <a:avLst>
              <a:gd fmla="val 13635" name="adj"/>
            </a:avLst>
          </a:prstGeom>
          <a:solidFill>
            <a:srgbClr val="FFFFFF"/>
          </a:solidFill>
          <a:ln cap="flat" cmpd="sng" w="12700">
            <a:solidFill>
              <a:srgbClr val="E5E7EB"/>
            </a:solidFill>
            <a:prstDash val="solid"/>
            <a:round/>
            <a:headEnd len="sm" w="sm" type="none"/>
            <a:tailEnd len="sm" w="sm" type="none"/>
          </a:ln>
          <a:effectLst>
            <a:outerShdw blurRad="63500" rotWithShape="0" algn="bl" dir="16200000" dist="38100">
              <a:srgbClr val="000000">
                <a:alpha val="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4" name="Google Shape;54;p2"/>
          <p:cNvPicPr preferRelativeResize="0"/>
          <p:nvPr/>
        </p:nvPicPr>
        <p:blipFill rotWithShape="1">
          <a:blip r:embed="rId3">
            <a:alphaModFix/>
          </a:blip>
          <a:srcRect b="0" l="0" r="0" t="0"/>
          <a:stretch/>
        </p:blipFill>
        <p:spPr>
          <a:xfrm>
            <a:off x="1378001" y="4613148"/>
            <a:ext cx="267005" cy="267005"/>
          </a:xfrm>
          <a:prstGeom prst="rect">
            <a:avLst/>
          </a:prstGeom>
          <a:noFill/>
          <a:ln>
            <a:noFill/>
          </a:ln>
        </p:spPr>
      </p:pic>
      <p:sp>
        <p:nvSpPr>
          <p:cNvPr id="55" name="Google Shape;55;p2"/>
          <p:cNvSpPr txBox="1"/>
          <p:nvPr/>
        </p:nvSpPr>
        <p:spPr>
          <a:xfrm>
            <a:off x="1187806" y="4975250"/>
            <a:ext cx="65745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100"/>
              <a:buFont typeface="Noto Sans JP"/>
              <a:buNone/>
            </a:pPr>
            <a:r>
              <a:rPr b="1" i="0" lang="en-US" sz="1100" u="none" cap="none" strike="noStrike">
                <a:solidFill>
                  <a:srgbClr val="374151"/>
                </a:solidFill>
                <a:latin typeface="Noto Sans JP"/>
                <a:ea typeface="Noto Sans JP"/>
                <a:cs typeface="Noto Sans JP"/>
                <a:sym typeface="Noto Sans JP"/>
              </a:rPr>
              <a:t>福利厚生</a:t>
            </a:r>
            <a:endParaRPr b="0" i="0" sz="1100" u="none" cap="none" strike="noStrike">
              <a:solidFill>
                <a:schemeClr val="dk1"/>
              </a:solidFill>
              <a:latin typeface="Calibri"/>
              <a:ea typeface="Calibri"/>
              <a:cs typeface="Calibri"/>
              <a:sym typeface="Calibri"/>
            </a:endParaRPr>
          </a:p>
        </p:txBody>
      </p:sp>
      <p:sp>
        <p:nvSpPr>
          <p:cNvPr id="56" name="Google Shape;56;p2"/>
          <p:cNvSpPr txBox="1"/>
          <p:nvPr/>
        </p:nvSpPr>
        <p:spPr>
          <a:xfrm>
            <a:off x="1073506" y="5227625"/>
            <a:ext cx="886054" cy="171907"/>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CA3AF"/>
              </a:buClr>
              <a:buSzPts val="900"/>
              <a:buFont typeface="Noto Sans JP"/>
              <a:buNone/>
            </a:pPr>
            <a:r>
              <a:rPr b="0" i="0" lang="en-US" sz="900" u="none" cap="none" strike="noStrike">
                <a:solidFill>
                  <a:srgbClr val="9CA3AF"/>
                </a:solidFill>
                <a:latin typeface="Noto Sans JP"/>
                <a:ea typeface="Noto Sans JP"/>
                <a:cs typeface="Noto Sans JP"/>
                <a:sym typeface="Noto Sans JP"/>
              </a:rPr>
              <a:t>社員様への還元</a:t>
            </a:r>
            <a:endParaRPr b="0" i="0" sz="900" u="none" cap="none" strike="noStrike">
              <a:solidFill>
                <a:schemeClr val="dk1"/>
              </a:solidFill>
              <a:latin typeface="Calibri"/>
              <a:ea typeface="Calibri"/>
              <a:cs typeface="Calibri"/>
              <a:sym typeface="Calibri"/>
            </a:endParaRPr>
          </a:p>
        </p:txBody>
      </p:sp>
      <p:sp>
        <p:nvSpPr>
          <p:cNvPr id="57" name="Google Shape;57;p2"/>
          <p:cNvSpPr/>
          <p:nvPr/>
        </p:nvSpPr>
        <p:spPr>
          <a:xfrm>
            <a:off x="2603297" y="4387291"/>
            <a:ext cx="1886407" cy="1238098"/>
          </a:xfrm>
          <a:prstGeom prst="roundRect">
            <a:avLst>
              <a:gd fmla="val 13635" name="adj"/>
            </a:avLst>
          </a:prstGeom>
          <a:solidFill>
            <a:srgbClr val="FFFFFF"/>
          </a:solidFill>
          <a:ln cap="flat" cmpd="sng" w="12700">
            <a:solidFill>
              <a:srgbClr val="E5E7EB"/>
            </a:solidFill>
            <a:prstDash val="solid"/>
            <a:round/>
            <a:headEnd len="sm" w="sm" type="none"/>
            <a:tailEnd len="sm" w="sm" type="none"/>
          </a:ln>
          <a:effectLst>
            <a:outerShdw blurRad="63500" rotWithShape="0" algn="bl" dir="16200000" dist="38100">
              <a:srgbClr val="000000">
                <a:alpha val="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8" name="Google Shape;58;p2"/>
          <p:cNvPicPr preferRelativeResize="0"/>
          <p:nvPr/>
        </p:nvPicPr>
        <p:blipFill rotWithShape="1">
          <a:blip r:embed="rId4">
            <a:alphaModFix/>
          </a:blip>
          <a:srcRect b="0" l="0" r="0" t="0"/>
          <a:stretch/>
        </p:blipFill>
        <p:spPr>
          <a:xfrm>
            <a:off x="3376879" y="4613148"/>
            <a:ext cx="333756" cy="267005"/>
          </a:xfrm>
          <a:prstGeom prst="rect">
            <a:avLst/>
          </a:prstGeom>
          <a:noFill/>
          <a:ln>
            <a:noFill/>
          </a:ln>
        </p:spPr>
      </p:pic>
      <p:sp>
        <p:nvSpPr>
          <p:cNvPr id="59" name="Google Shape;59;p2"/>
          <p:cNvSpPr txBox="1"/>
          <p:nvPr/>
        </p:nvSpPr>
        <p:spPr>
          <a:xfrm>
            <a:off x="3002890" y="4975250"/>
            <a:ext cx="1090879"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100"/>
              <a:buFont typeface="Noto Sans JP"/>
              <a:buNone/>
            </a:pPr>
            <a:r>
              <a:rPr b="1" i="0" lang="en-US" sz="1100" u="none" cap="none" strike="noStrike">
                <a:solidFill>
                  <a:srgbClr val="374151"/>
                </a:solidFill>
                <a:latin typeface="Noto Sans JP"/>
                <a:ea typeface="Noto Sans JP"/>
                <a:cs typeface="Noto Sans JP"/>
                <a:sym typeface="Noto Sans JP"/>
              </a:rPr>
              <a:t>成約プレゼント</a:t>
            </a:r>
            <a:endParaRPr b="0" i="0" sz="1100" u="none" cap="none" strike="noStrike">
              <a:solidFill>
                <a:schemeClr val="dk1"/>
              </a:solidFill>
              <a:latin typeface="Calibri"/>
              <a:ea typeface="Calibri"/>
              <a:cs typeface="Calibri"/>
              <a:sym typeface="Calibri"/>
            </a:endParaRPr>
          </a:p>
        </p:txBody>
      </p:sp>
      <p:sp>
        <p:nvSpPr>
          <p:cNvPr id="60" name="Google Shape;60;p2"/>
          <p:cNvSpPr txBox="1"/>
          <p:nvPr/>
        </p:nvSpPr>
        <p:spPr>
          <a:xfrm>
            <a:off x="3105302" y="5227625"/>
            <a:ext cx="886054" cy="171907"/>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CA3AF"/>
              </a:buClr>
              <a:buSzPts val="900"/>
              <a:buFont typeface="Noto Sans JP"/>
              <a:buNone/>
            </a:pPr>
            <a:r>
              <a:rPr b="0" i="0" lang="en-US" sz="900" u="none" cap="none" strike="noStrike">
                <a:solidFill>
                  <a:srgbClr val="9CA3AF"/>
                </a:solidFill>
                <a:latin typeface="Noto Sans JP"/>
                <a:ea typeface="Noto Sans JP"/>
                <a:cs typeface="Noto Sans JP"/>
                <a:sym typeface="Noto Sans JP"/>
              </a:rPr>
              <a:t>顧客満足度向上</a:t>
            </a:r>
            <a:endParaRPr b="0" i="0" sz="900" u="none" cap="none" strike="noStrike">
              <a:solidFill>
                <a:schemeClr val="dk1"/>
              </a:solidFill>
              <a:latin typeface="Calibri"/>
              <a:ea typeface="Calibri"/>
              <a:cs typeface="Calibri"/>
              <a:sym typeface="Calibri"/>
            </a:endParaRPr>
          </a:p>
        </p:txBody>
      </p:sp>
      <p:sp>
        <p:nvSpPr>
          <p:cNvPr id="61" name="Google Shape;61;p2"/>
          <p:cNvSpPr/>
          <p:nvPr/>
        </p:nvSpPr>
        <p:spPr>
          <a:xfrm>
            <a:off x="4635094" y="4387291"/>
            <a:ext cx="1886407" cy="1238098"/>
          </a:xfrm>
          <a:prstGeom prst="roundRect">
            <a:avLst>
              <a:gd fmla="val 13635" name="adj"/>
            </a:avLst>
          </a:prstGeom>
          <a:solidFill>
            <a:srgbClr val="FFFFFF"/>
          </a:solidFill>
          <a:ln cap="flat" cmpd="sng" w="12700">
            <a:solidFill>
              <a:srgbClr val="E5E7EB"/>
            </a:solidFill>
            <a:prstDash val="solid"/>
            <a:round/>
            <a:headEnd len="sm" w="sm" type="none"/>
            <a:tailEnd len="sm" w="sm" type="none"/>
          </a:ln>
          <a:effectLst>
            <a:outerShdw blurRad="63500" rotWithShape="0" algn="bl" dir="16200000" dist="38100">
              <a:srgbClr val="000000">
                <a:alpha val="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2" name="Google Shape;62;p2"/>
          <p:cNvPicPr preferRelativeResize="0"/>
          <p:nvPr/>
        </p:nvPicPr>
        <p:blipFill rotWithShape="1">
          <a:blip r:embed="rId5">
            <a:alphaModFix/>
          </a:blip>
          <a:srcRect b="0" l="0" r="0" t="0"/>
          <a:stretch/>
        </p:blipFill>
        <p:spPr>
          <a:xfrm>
            <a:off x="5408676" y="4613148"/>
            <a:ext cx="333756" cy="267005"/>
          </a:xfrm>
          <a:prstGeom prst="rect">
            <a:avLst/>
          </a:prstGeom>
          <a:noFill/>
          <a:ln>
            <a:noFill/>
          </a:ln>
        </p:spPr>
      </p:pic>
      <p:sp>
        <p:nvSpPr>
          <p:cNvPr id="63" name="Google Shape;63;p2"/>
          <p:cNvSpPr txBox="1"/>
          <p:nvPr/>
        </p:nvSpPr>
        <p:spPr>
          <a:xfrm>
            <a:off x="5251399" y="4975250"/>
            <a:ext cx="65745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100"/>
              <a:buFont typeface="Noto Sans JP"/>
              <a:buNone/>
            </a:pPr>
            <a:r>
              <a:rPr b="1" i="0" lang="en-US" sz="1100" u="none" cap="none" strike="noStrike">
                <a:solidFill>
                  <a:srgbClr val="374151"/>
                </a:solidFill>
                <a:latin typeface="Noto Sans JP"/>
                <a:ea typeface="Noto Sans JP"/>
                <a:cs typeface="Noto Sans JP"/>
                <a:sym typeface="Noto Sans JP"/>
              </a:rPr>
              <a:t>来場特典</a:t>
            </a:r>
            <a:endParaRPr b="0" i="0" sz="1100" u="none" cap="none" strike="noStrike">
              <a:solidFill>
                <a:schemeClr val="dk1"/>
              </a:solidFill>
              <a:latin typeface="Calibri"/>
              <a:ea typeface="Calibri"/>
              <a:cs typeface="Calibri"/>
              <a:sym typeface="Calibri"/>
            </a:endParaRPr>
          </a:p>
        </p:txBody>
      </p:sp>
      <p:sp>
        <p:nvSpPr>
          <p:cNvPr id="64" name="Google Shape;64;p2"/>
          <p:cNvSpPr txBox="1"/>
          <p:nvPr/>
        </p:nvSpPr>
        <p:spPr>
          <a:xfrm>
            <a:off x="5079492" y="5227625"/>
            <a:ext cx="1000354" cy="171907"/>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CA3AF"/>
              </a:buClr>
              <a:buSzPts val="900"/>
              <a:buFont typeface="Noto Sans JP"/>
              <a:buNone/>
            </a:pPr>
            <a:r>
              <a:rPr b="0" i="0" lang="en-US" sz="900" u="none" cap="none" strike="noStrike">
                <a:solidFill>
                  <a:srgbClr val="9CA3AF"/>
                </a:solidFill>
                <a:latin typeface="Noto Sans JP"/>
                <a:ea typeface="Noto Sans JP"/>
                <a:cs typeface="Noto Sans JP"/>
                <a:sym typeface="Noto Sans JP"/>
              </a:rPr>
              <a:t>集客イベント支援</a:t>
            </a:r>
            <a:endParaRPr b="0" i="0" sz="900" u="none" cap="none" strike="noStrike">
              <a:solidFill>
                <a:schemeClr val="dk1"/>
              </a:solidFill>
              <a:latin typeface="Calibri"/>
              <a:ea typeface="Calibri"/>
              <a:cs typeface="Calibri"/>
              <a:sym typeface="Calibri"/>
            </a:endParaRPr>
          </a:p>
        </p:txBody>
      </p:sp>
      <p:sp>
        <p:nvSpPr>
          <p:cNvPr id="65" name="Google Shape;65;p2"/>
          <p:cNvSpPr/>
          <p:nvPr/>
        </p:nvSpPr>
        <p:spPr>
          <a:xfrm>
            <a:off x="7086600" y="1143000"/>
            <a:ext cx="4533595" cy="5447995"/>
          </a:xfrm>
          <a:prstGeom prst="roundRect">
            <a:avLst>
              <a:gd fmla="val 1695" name="adj"/>
            </a:avLst>
          </a:prstGeom>
          <a:solidFill>
            <a:srgbClr val="F8FAFC"/>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6" name="Google Shape;66;p2"/>
          <p:cNvPicPr preferRelativeResize="0"/>
          <p:nvPr/>
        </p:nvPicPr>
        <p:blipFill rotWithShape="1">
          <a:blip r:embed="rId6">
            <a:alphaModFix/>
          </a:blip>
          <a:srcRect b="0" l="0" r="0" t="0"/>
          <a:stretch/>
        </p:blipFill>
        <p:spPr>
          <a:xfrm>
            <a:off x="10477195" y="5447995"/>
            <a:ext cx="952805" cy="952805"/>
          </a:xfrm>
          <a:prstGeom prst="rect">
            <a:avLst/>
          </a:prstGeom>
          <a:noFill/>
          <a:ln>
            <a:noFill/>
          </a:ln>
        </p:spPr>
      </p:pic>
      <p:sp>
        <p:nvSpPr>
          <p:cNvPr id="67" name="Google Shape;67;p2"/>
          <p:cNvSpPr/>
          <p:nvPr/>
        </p:nvSpPr>
        <p:spPr>
          <a:xfrm>
            <a:off x="7372807" y="2759659"/>
            <a:ext cx="3962095" cy="19202"/>
          </a:xfrm>
          <a:prstGeom prst="rect">
            <a:avLst/>
          </a:prstGeom>
          <a:solidFill>
            <a:srgbClr val="F97316"/>
          </a:solidFill>
          <a:ln cap="flat" cmpd="sng" w="12700">
            <a:solidFill>
              <a:srgbClr val="F9731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txBox="1"/>
          <p:nvPr/>
        </p:nvSpPr>
        <p:spPr>
          <a:xfrm>
            <a:off x="7372807" y="2350008"/>
            <a:ext cx="4041648" cy="314554"/>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Clr>
                <a:srgbClr val="1F2937"/>
              </a:buClr>
              <a:buSzPts val="1600"/>
              <a:buFont typeface="Arial"/>
              <a:buNone/>
            </a:pPr>
            <a:r>
              <a:rPr b="0" i="0" lang="en-US" sz="1600" u="none" cap="none" strike="noStrike">
                <a:solidFill>
                  <a:srgbClr val="1F2937"/>
                </a:solidFill>
                <a:latin typeface="Arial"/>
                <a:ea typeface="Arial"/>
                <a:cs typeface="Arial"/>
                <a:sym typeface="Arial"/>
              </a:rPr>
              <a:t>会社概要</a:t>
            </a:r>
            <a:endParaRPr b="0" i="0" sz="1600" u="none" cap="none" strike="noStrike">
              <a:solidFill>
                <a:schemeClr val="dk1"/>
              </a:solidFill>
              <a:latin typeface="Calibri"/>
              <a:ea typeface="Calibri"/>
              <a:cs typeface="Calibri"/>
              <a:sym typeface="Calibri"/>
            </a:endParaRPr>
          </a:p>
        </p:txBody>
      </p:sp>
      <p:pic>
        <p:nvPicPr>
          <p:cNvPr descr="preencoded.png" id="69" name="Google Shape;69;p2"/>
          <p:cNvPicPr preferRelativeResize="0"/>
          <p:nvPr/>
        </p:nvPicPr>
        <p:blipFill rotWithShape="1">
          <a:blip r:embed="rId7">
            <a:alphaModFix/>
          </a:blip>
          <a:srcRect b="0" l="-1773" r="-1773" t="0"/>
          <a:stretch/>
        </p:blipFill>
        <p:spPr>
          <a:xfrm>
            <a:off x="7376465" y="3047695"/>
            <a:ext cx="133502" cy="171907"/>
          </a:xfrm>
          <a:prstGeom prst="rect">
            <a:avLst/>
          </a:prstGeom>
          <a:noFill/>
          <a:ln>
            <a:noFill/>
          </a:ln>
        </p:spPr>
      </p:pic>
      <p:sp>
        <p:nvSpPr>
          <p:cNvPr id="70" name="Google Shape;70;p2"/>
          <p:cNvSpPr txBox="1"/>
          <p:nvPr/>
        </p:nvSpPr>
        <p:spPr>
          <a:xfrm>
            <a:off x="7647127" y="2969057"/>
            <a:ext cx="1553566"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Noto Sans JP"/>
              <a:buNone/>
            </a:pPr>
            <a:r>
              <a:rPr b="1" i="0" lang="en-US" sz="1100" u="none" cap="none" strike="noStrike">
                <a:solidFill>
                  <a:srgbClr val="374151"/>
                </a:solidFill>
                <a:latin typeface="Noto Sans JP"/>
                <a:ea typeface="Noto Sans JP"/>
                <a:cs typeface="Noto Sans JP"/>
                <a:sym typeface="Noto Sans JP"/>
              </a:rPr>
              <a:t>山形県から全国へ直送</a:t>
            </a:r>
            <a:endParaRPr b="0" i="0" sz="1100" u="none" cap="none" strike="noStrike">
              <a:solidFill>
                <a:schemeClr val="dk1"/>
              </a:solidFill>
              <a:latin typeface="Calibri"/>
              <a:ea typeface="Calibri"/>
              <a:cs typeface="Calibri"/>
              <a:sym typeface="Calibri"/>
            </a:endParaRPr>
          </a:p>
        </p:txBody>
      </p:sp>
      <p:sp>
        <p:nvSpPr>
          <p:cNvPr id="71" name="Google Shape;71;p2"/>
          <p:cNvSpPr txBox="1"/>
          <p:nvPr/>
        </p:nvSpPr>
        <p:spPr>
          <a:xfrm>
            <a:off x="7647127" y="3212287"/>
            <a:ext cx="3771900" cy="37216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山形県の特産品を中心に、旬の果物やお米、そばなどを新鮮な 状態でお届けしています。</a:t>
            </a:r>
            <a:endParaRPr b="0" i="0" sz="900" u="none" cap="none" strike="noStrike">
              <a:solidFill>
                <a:schemeClr val="dk1"/>
              </a:solidFill>
              <a:latin typeface="Calibri"/>
              <a:ea typeface="Calibri"/>
              <a:cs typeface="Calibri"/>
              <a:sym typeface="Calibri"/>
            </a:endParaRPr>
          </a:p>
        </p:txBody>
      </p:sp>
      <p:pic>
        <p:nvPicPr>
          <p:cNvPr descr="preencoded.png" id="72" name="Google Shape;72;p2"/>
          <p:cNvPicPr preferRelativeResize="0"/>
          <p:nvPr/>
        </p:nvPicPr>
        <p:blipFill rotWithShape="1">
          <a:blip r:embed="rId8">
            <a:alphaModFix/>
          </a:blip>
          <a:srcRect b="-842" l="0" r="0" t="-842"/>
          <a:stretch/>
        </p:blipFill>
        <p:spPr>
          <a:xfrm>
            <a:off x="7372807" y="3853282"/>
            <a:ext cx="190195" cy="171907"/>
          </a:xfrm>
          <a:prstGeom prst="rect">
            <a:avLst/>
          </a:prstGeom>
          <a:noFill/>
          <a:ln>
            <a:noFill/>
          </a:ln>
        </p:spPr>
      </p:pic>
      <p:sp>
        <p:nvSpPr>
          <p:cNvPr id="73" name="Google Shape;73;p2"/>
          <p:cNvSpPr txBox="1"/>
          <p:nvPr/>
        </p:nvSpPr>
        <p:spPr>
          <a:xfrm>
            <a:off x="7696505" y="3774643"/>
            <a:ext cx="2016252"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Noto Sans JP"/>
              <a:buNone/>
            </a:pPr>
            <a:r>
              <a:rPr b="1" i="0" lang="en-US" sz="1100" u="none" cap="none" strike="noStrike">
                <a:solidFill>
                  <a:srgbClr val="374151"/>
                </a:solidFill>
                <a:latin typeface="Noto Sans JP"/>
                <a:ea typeface="Noto Sans JP"/>
                <a:cs typeface="Noto Sans JP"/>
                <a:sym typeface="Noto Sans JP"/>
              </a:rPr>
              <a:t>通販サイト「寒甘王国」運営</a:t>
            </a:r>
            <a:endParaRPr b="0" i="0" sz="1100" u="none" cap="none" strike="noStrike">
              <a:solidFill>
                <a:schemeClr val="dk1"/>
              </a:solidFill>
              <a:latin typeface="Calibri"/>
              <a:ea typeface="Calibri"/>
              <a:cs typeface="Calibri"/>
              <a:sym typeface="Calibri"/>
            </a:endParaRPr>
          </a:p>
        </p:txBody>
      </p:sp>
      <p:sp>
        <p:nvSpPr>
          <p:cNvPr id="74" name="Google Shape;74;p2"/>
          <p:cNvSpPr txBox="1"/>
          <p:nvPr/>
        </p:nvSpPr>
        <p:spPr>
          <a:xfrm>
            <a:off x="7696505" y="4016959"/>
            <a:ext cx="3715207" cy="37216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個人のお客様向けに長年の実績があり、品質管理と配送ノウハウを蓄積しています。</a:t>
            </a:r>
            <a:endParaRPr b="0" i="0" sz="900" u="none" cap="none" strike="noStrike">
              <a:solidFill>
                <a:schemeClr val="dk1"/>
              </a:solidFill>
              <a:latin typeface="Calibri"/>
              <a:ea typeface="Calibri"/>
              <a:cs typeface="Calibri"/>
              <a:sym typeface="Calibri"/>
            </a:endParaRPr>
          </a:p>
        </p:txBody>
      </p:sp>
      <p:pic>
        <p:nvPicPr>
          <p:cNvPr descr="preencoded.png" id="75" name="Google Shape;75;p2"/>
          <p:cNvPicPr preferRelativeResize="0"/>
          <p:nvPr/>
        </p:nvPicPr>
        <p:blipFill rotWithShape="1">
          <a:blip r:embed="rId9">
            <a:alphaModFix/>
          </a:blip>
          <a:srcRect b="0" l="-1773" r="-1773" t="0"/>
          <a:stretch/>
        </p:blipFill>
        <p:spPr>
          <a:xfrm>
            <a:off x="7378294" y="4657954"/>
            <a:ext cx="133502" cy="171907"/>
          </a:xfrm>
          <a:prstGeom prst="rect">
            <a:avLst/>
          </a:prstGeom>
          <a:noFill/>
          <a:ln>
            <a:noFill/>
          </a:ln>
        </p:spPr>
      </p:pic>
      <p:sp>
        <p:nvSpPr>
          <p:cNvPr id="76" name="Google Shape;76;p2"/>
          <p:cNvSpPr txBox="1"/>
          <p:nvPr/>
        </p:nvSpPr>
        <p:spPr>
          <a:xfrm>
            <a:off x="7650785" y="4579315"/>
            <a:ext cx="1090879"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Noto Sans JP"/>
              <a:buNone/>
            </a:pPr>
            <a:r>
              <a:rPr b="1" i="0" lang="en-US" sz="1100" u="none" cap="none" strike="noStrike">
                <a:solidFill>
                  <a:srgbClr val="374151"/>
                </a:solidFill>
                <a:latin typeface="Noto Sans JP"/>
                <a:ea typeface="Noto Sans JP"/>
                <a:cs typeface="Noto Sans JP"/>
                <a:sym typeface="Noto Sans JP"/>
              </a:rPr>
              <a:t>法人取引の拡大</a:t>
            </a:r>
            <a:endParaRPr b="0" i="0" sz="1100" u="none" cap="none" strike="noStrike">
              <a:solidFill>
                <a:schemeClr val="dk1"/>
              </a:solidFill>
              <a:latin typeface="Calibri"/>
              <a:ea typeface="Calibri"/>
              <a:cs typeface="Calibri"/>
              <a:sym typeface="Calibri"/>
            </a:endParaRPr>
          </a:p>
        </p:txBody>
      </p:sp>
      <p:sp>
        <p:nvSpPr>
          <p:cNvPr id="77" name="Google Shape;77;p2"/>
          <p:cNvSpPr txBox="1"/>
          <p:nvPr/>
        </p:nvSpPr>
        <p:spPr>
          <a:xfrm>
            <a:off x="7650785" y="4821631"/>
            <a:ext cx="3762756" cy="37216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近年は法人様からのご相談が増加しており、福利厚生やギフト 対応の実績が豊富です。</a:t>
            </a:r>
            <a:endParaRPr b="0" i="0" sz="900" u="none" cap="none" strike="noStrike">
              <a:solidFill>
                <a:schemeClr val="dk1"/>
              </a:solidFill>
              <a:latin typeface="Calibri"/>
              <a:ea typeface="Calibri"/>
              <a:cs typeface="Calibri"/>
              <a:sym typeface="Calibri"/>
            </a:endParaRPr>
          </a:p>
        </p:txBody>
      </p:sp>
      <p:pic>
        <p:nvPicPr>
          <p:cNvPr descr="preencoded.png" id="78" name="Google Shape;78;p2"/>
          <p:cNvPicPr preferRelativeResize="0"/>
          <p:nvPr/>
        </p:nvPicPr>
        <p:blipFill rotWithShape="1">
          <a:blip r:embed="rId10">
            <a:alphaModFix/>
          </a:blip>
          <a:srcRect b="0" l="-200" r="-200" t="0"/>
          <a:stretch/>
        </p:blipFill>
        <p:spPr>
          <a:xfrm>
            <a:off x="0" y="6782105"/>
            <a:ext cx="12191695" cy="7589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3"/>
          <p:cNvSpPr/>
          <p:nvPr/>
        </p:nvSpPr>
        <p:spPr>
          <a:xfrm>
            <a:off x="0" y="0"/>
            <a:ext cx="12191695" cy="6858000"/>
          </a:xfrm>
          <a:prstGeom prst="rect">
            <a:avLst/>
          </a:prstGeom>
          <a:solidFill>
            <a:srgbClr val="F3F4F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0" y="0"/>
            <a:ext cx="12191695" cy="6858000"/>
          </a:xfrm>
          <a:prstGeom prst="rect">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6" name="Google Shape;86;p3"/>
          <p:cNvPicPr preferRelativeResize="0"/>
          <p:nvPr/>
        </p:nvPicPr>
        <p:blipFill rotWithShape="1">
          <a:blip r:embed="rId3">
            <a:alphaModFix/>
          </a:blip>
          <a:srcRect b="13082" l="0" r="0" t="13082"/>
          <a:stretch/>
        </p:blipFill>
        <p:spPr>
          <a:xfrm>
            <a:off x="0" y="857707"/>
            <a:ext cx="12191695" cy="6001207"/>
          </a:xfrm>
          <a:prstGeom prst="rect">
            <a:avLst/>
          </a:prstGeom>
          <a:noFill/>
          <a:ln>
            <a:noFill/>
          </a:ln>
        </p:spPr>
      </p:pic>
      <p:sp>
        <p:nvSpPr>
          <p:cNvPr id="87" name="Google Shape;87;p3"/>
          <p:cNvSpPr/>
          <p:nvPr/>
        </p:nvSpPr>
        <p:spPr>
          <a:xfrm>
            <a:off x="0" y="857707"/>
            <a:ext cx="12191695" cy="6001207"/>
          </a:xfrm>
          <a:prstGeom prst="rect">
            <a:avLst/>
          </a:prstGeom>
          <a:solidFill>
            <a:srgbClr val="FFFFFF">
              <a:alpha val="92156"/>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txBox="1"/>
          <p:nvPr/>
        </p:nvSpPr>
        <p:spPr>
          <a:xfrm>
            <a:off x="571500" y="2074774"/>
            <a:ext cx="4153205"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580C"/>
              </a:buClr>
              <a:buSzPts val="2100"/>
              <a:buFont typeface="Arial"/>
              <a:buNone/>
            </a:pPr>
            <a:r>
              <a:rPr b="1" i="0" lang="en-US" sz="2100" u="none" cap="none" strike="noStrike">
                <a:solidFill>
                  <a:srgbClr val="EA580C"/>
                </a:solidFill>
                <a:latin typeface="Arial"/>
                <a:ea typeface="Arial"/>
                <a:cs typeface="Arial"/>
                <a:sym typeface="Arial"/>
              </a:rPr>
              <a:t>最適なプラン設計のために</a:t>
            </a:r>
            <a:endParaRPr b="0" i="0" sz="2100" u="none" cap="none" strike="noStrike">
              <a:solidFill>
                <a:schemeClr val="dk1"/>
              </a:solidFill>
              <a:latin typeface="Calibri"/>
              <a:ea typeface="Calibri"/>
              <a:cs typeface="Calibri"/>
              <a:sym typeface="Calibri"/>
            </a:endParaRPr>
          </a:p>
        </p:txBody>
      </p:sp>
      <p:sp>
        <p:nvSpPr>
          <p:cNvPr id="89" name="Google Shape;89;p3"/>
          <p:cNvSpPr txBox="1"/>
          <p:nvPr/>
        </p:nvSpPr>
        <p:spPr>
          <a:xfrm>
            <a:off x="571500" y="2627071"/>
            <a:ext cx="4038905" cy="82936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B5563"/>
              </a:buClr>
              <a:buSzPts val="1200"/>
              <a:buFont typeface="Noto Sans JP"/>
              <a:buNone/>
            </a:pPr>
            <a:r>
              <a:rPr b="0" i="0" lang="en-US" sz="1200" u="none" cap="none" strike="noStrike">
                <a:solidFill>
                  <a:srgbClr val="4B5563"/>
                </a:solidFill>
                <a:latin typeface="Noto Sans JP"/>
                <a:ea typeface="Noto Sans JP"/>
                <a:cs typeface="Noto Sans JP"/>
                <a:sym typeface="Noto Sans JP"/>
              </a:rPr>
              <a:t> 貴社の現状や課題感に合わせて、</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B5563"/>
              </a:buClr>
              <a:buSzPts val="1200"/>
              <a:buFont typeface="Noto Sans JP"/>
              <a:buNone/>
            </a:pPr>
            <a:r>
              <a:rPr b="0" i="0" lang="en-US" sz="1200" u="none" cap="none" strike="noStrike">
                <a:solidFill>
                  <a:srgbClr val="4B5563"/>
                </a:solidFill>
                <a:latin typeface="Noto Sans JP"/>
                <a:ea typeface="Noto Sans JP"/>
                <a:cs typeface="Noto Sans JP"/>
                <a:sym typeface="Noto Sans JP"/>
              </a:rPr>
              <a:t> 最も効果的な導入プランをご提案させて</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B5563"/>
              </a:buClr>
              <a:buSzPts val="1200"/>
              <a:buFont typeface="Noto Sans JP"/>
              <a:buNone/>
            </a:pPr>
            <a:r>
              <a:rPr b="0" i="0" lang="en-US" sz="1200" u="none" cap="none" strike="noStrike">
                <a:solidFill>
                  <a:srgbClr val="4B5563"/>
                </a:solidFill>
                <a:latin typeface="Noto Sans JP"/>
                <a:ea typeface="Noto Sans JP"/>
                <a:cs typeface="Noto Sans JP"/>
                <a:sym typeface="Noto Sans JP"/>
              </a:rPr>
              <a:t> いただきたく存じます。 </a:t>
            </a:r>
            <a:endParaRPr b="0" i="0" sz="1200" u="none" cap="none" strike="noStrike">
              <a:solidFill>
                <a:schemeClr val="dk1"/>
              </a:solidFill>
              <a:latin typeface="Calibri"/>
              <a:ea typeface="Calibri"/>
              <a:cs typeface="Calibri"/>
              <a:sym typeface="Calibri"/>
            </a:endParaRPr>
          </a:p>
        </p:txBody>
      </p:sp>
      <p:sp>
        <p:nvSpPr>
          <p:cNvPr id="90" name="Google Shape;90;p3"/>
          <p:cNvSpPr/>
          <p:nvPr/>
        </p:nvSpPr>
        <p:spPr>
          <a:xfrm>
            <a:off x="571500" y="3735324"/>
            <a:ext cx="3962095" cy="1904695"/>
          </a:xfrm>
          <a:prstGeom prst="roundRect">
            <a:avLst>
              <a:gd fmla="val 7681" name="adj"/>
            </a:avLst>
          </a:prstGeom>
          <a:solidFill>
            <a:srgbClr val="FFF7ED"/>
          </a:solidFill>
          <a:ln cap="flat" cmpd="sng" w="25400">
            <a:solidFill>
              <a:srgbClr val="FED7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1" name="Google Shape;91;p3"/>
          <p:cNvPicPr preferRelativeResize="0"/>
          <p:nvPr/>
        </p:nvPicPr>
        <p:blipFill rotWithShape="1">
          <a:blip r:embed="rId4">
            <a:alphaModFix/>
          </a:blip>
          <a:srcRect b="-25" l="0" r="0" t="-25"/>
          <a:stretch/>
        </p:blipFill>
        <p:spPr>
          <a:xfrm>
            <a:off x="2319833" y="4192524"/>
            <a:ext cx="457200" cy="609905"/>
          </a:xfrm>
          <a:prstGeom prst="rect">
            <a:avLst/>
          </a:prstGeom>
          <a:noFill/>
          <a:ln>
            <a:noFill/>
          </a:ln>
        </p:spPr>
      </p:pic>
      <p:sp>
        <p:nvSpPr>
          <p:cNvPr id="92" name="Google Shape;92;p3"/>
          <p:cNvSpPr txBox="1"/>
          <p:nvPr/>
        </p:nvSpPr>
        <p:spPr>
          <a:xfrm>
            <a:off x="1890065" y="4955134"/>
            <a:ext cx="1327709"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3412"/>
              </a:buClr>
              <a:buSzPts val="1200"/>
              <a:buFont typeface="Noto Sans JP"/>
              <a:buNone/>
            </a:pPr>
            <a:r>
              <a:rPr b="1" i="0" lang="en-US" sz="1200" u="none" cap="none" strike="noStrike">
                <a:solidFill>
                  <a:srgbClr val="9A3412"/>
                </a:solidFill>
                <a:latin typeface="Noto Sans JP"/>
                <a:ea typeface="Noto Sans JP"/>
                <a:cs typeface="Noto Sans JP"/>
                <a:sym typeface="Noto Sans JP"/>
              </a:rPr>
              <a:t>ヒアリングシート</a:t>
            </a:r>
            <a:endParaRPr b="0" i="0" sz="1200" u="none" cap="none" strike="noStrike">
              <a:solidFill>
                <a:schemeClr val="dk1"/>
              </a:solidFill>
              <a:latin typeface="Calibri"/>
              <a:ea typeface="Calibri"/>
              <a:cs typeface="Calibri"/>
              <a:sym typeface="Calibri"/>
            </a:endParaRPr>
          </a:p>
        </p:txBody>
      </p:sp>
      <p:pic>
        <p:nvPicPr>
          <p:cNvPr descr="preencoded.png" id="93" name="Google Shape;93;p3"/>
          <p:cNvPicPr preferRelativeResize="0"/>
          <p:nvPr/>
        </p:nvPicPr>
        <p:blipFill rotWithShape="1">
          <a:blip r:embed="rId5">
            <a:alphaModFix/>
          </a:blip>
          <a:srcRect b="0" l="-4" r="-4" t="0"/>
          <a:stretch/>
        </p:blipFill>
        <p:spPr>
          <a:xfrm>
            <a:off x="4907585" y="1238098"/>
            <a:ext cx="6713525" cy="5238598"/>
          </a:xfrm>
          <a:prstGeom prst="rect">
            <a:avLst/>
          </a:prstGeom>
          <a:noFill/>
          <a:ln>
            <a:noFill/>
          </a:ln>
        </p:spPr>
      </p:pic>
      <p:sp>
        <p:nvSpPr>
          <p:cNvPr id="94" name="Google Shape;94;p3"/>
          <p:cNvSpPr/>
          <p:nvPr/>
        </p:nvSpPr>
        <p:spPr>
          <a:xfrm>
            <a:off x="5298034" y="2028139"/>
            <a:ext cx="5934456" cy="19202"/>
          </a:xfrm>
          <a:prstGeom prst="rect">
            <a:avLst/>
          </a:prstGeom>
          <a:solidFill>
            <a:srgbClr val="F3F4F6"/>
          </a:solidFill>
          <a:ln cap="flat" cmpd="sng" w="12700">
            <a:solidFill>
              <a:srgbClr val="F3F4F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txBox="1"/>
          <p:nvPr/>
        </p:nvSpPr>
        <p:spPr>
          <a:xfrm>
            <a:off x="5259629" y="1628546"/>
            <a:ext cx="6010351" cy="286207"/>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Clr>
                <a:srgbClr val="374151"/>
              </a:buClr>
              <a:buSzPts val="1500"/>
              <a:buFont typeface="Noto Sans JP"/>
              <a:buNone/>
            </a:pPr>
            <a:r>
              <a:rPr b="1" i="0" lang="en-US" sz="1500" u="none" cap="none" strike="noStrike">
                <a:solidFill>
                  <a:srgbClr val="374151"/>
                </a:solidFill>
                <a:latin typeface="Noto Sans JP"/>
                <a:ea typeface="Noto Sans JP"/>
                <a:cs typeface="Noto Sans JP"/>
                <a:sym typeface="Noto Sans JP"/>
              </a:rPr>
              <a:t>ご確認させていただきたい事項</a:t>
            </a:r>
            <a:endParaRPr b="0" i="0" sz="1500" u="none" cap="none" strike="noStrike">
              <a:solidFill>
                <a:schemeClr val="dk1"/>
              </a:solidFill>
              <a:latin typeface="Calibri"/>
              <a:ea typeface="Calibri"/>
              <a:cs typeface="Calibri"/>
              <a:sym typeface="Calibri"/>
            </a:endParaRPr>
          </a:p>
        </p:txBody>
      </p:sp>
      <p:sp>
        <p:nvSpPr>
          <p:cNvPr id="96" name="Google Shape;96;p3"/>
          <p:cNvSpPr/>
          <p:nvPr/>
        </p:nvSpPr>
        <p:spPr>
          <a:xfrm>
            <a:off x="5298034" y="2276856"/>
            <a:ext cx="5934456" cy="761695"/>
          </a:xfrm>
          <a:prstGeom prst="roundRect">
            <a:avLst>
              <a:gd fmla="val 36014" name="adj"/>
            </a:avLst>
          </a:prstGeom>
          <a:solidFill>
            <a:srgbClr val="F9FAFB"/>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a:off x="5431536" y="2409444"/>
            <a:ext cx="304495" cy="304495"/>
          </a:xfrm>
          <a:prstGeom prst="ellipse">
            <a:avLst/>
          </a:prstGeom>
          <a:solidFill>
            <a:srgbClr val="10B981"/>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8" name="Google Shape;98;p3"/>
          <p:cNvPicPr preferRelativeResize="0"/>
          <p:nvPr/>
        </p:nvPicPr>
        <p:blipFill rotWithShape="1">
          <a:blip r:embed="rId6">
            <a:alphaModFix/>
          </a:blip>
          <a:srcRect b="-1100" l="0" r="0" t="-1100"/>
          <a:stretch/>
        </p:blipFill>
        <p:spPr>
          <a:xfrm>
            <a:off x="5526634" y="2495398"/>
            <a:ext cx="114300" cy="133502"/>
          </a:xfrm>
          <a:prstGeom prst="rect">
            <a:avLst/>
          </a:prstGeom>
          <a:noFill/>
          <a:ln>
            <a:noFill/>
          </a:ln>
        </p:spPr>
      </p:pic>
      <p:sp>
        <p:nvSpPr>
          <p:cNvPr id="99" name="Google Shape;99;p3"/>
          <p:cNvSpPr txBox="1"/>
          <p:nvPr/>
        </p:nvSpPr>
        <p:spPr>
          <a:xfrm>
            <a:off x="5888736" y="2409444"/>
            <a:ext cx="5401361"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Noto Sans JP"/>
              <a:buNone/>
            </a:pPr>
            <a:r>
              <a:rPr b="1" i="0" lang="en-US" sz="1300" u="none" cap="none" strike="noStrike">
                <a:solidFill>
                  <a:srgbClr val="1F2937"/>
                </a:solidFill>
                <a:latin typeface="Noto Sans JP"/>
                <a:ea typeface="Noto Sans JP"/>
                <a:cs typeface="Noto Sans JP"/>
                <a:sym typeface="Noto Sans JP"/>
              </a:rPr>
              <a:t>ご関心をお持ちいただいた背景</a:t>
            </a:r>
            <a:endParaRPr b="0" i="0" sz="1300" u="none" cap="none" strike="noStrike">
              <a:solidFill>
                <a:schemeClr val="dk1"/>
              </a:solidFill>
              <a:latin typeface="Calibri"/>
              <a:ea typeface="Calibri"/>
              <a:cs typeface="Calibri"/>
              <a:sym typeface="Calibri"/>
            </a:endParaRPr>
          </a:p>
        </p:txBody>
      </p:sp>
      <p:sp>
        <p:nvSpPr>
          <p:cNvPr id="100" name="Google Shape;100;p3"/>
          <p:cNvSpPr txBox="1"/>
          <p:nvPr/>
        </p:nvSpPr>
        <p:spPr>
          <a:xfrm>
            <a:off x="5888736" y="2704795"/>
            <a:ext cx="5401361"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Noto Sans JP"/>
              <a:buNone/>
            </a:pPr>
            <a:r>
              <a:rPr b="0" i="0" lang="en-US" sz="1000" u="none" cap="none" strike="noStrike">
                <a:solidFill>
                  <a:srgbClr val="6B7280"/>
                </a:solidFill>
                <a:latin typeface="Noto Sans JP"/>
                <a:ea typeface="Noto Sans JP"/>
                <a:cs typeface="Noto Sans JP"/>
                <a:sym typeface="Noto Sans JP"/>
              </a:rPr>
              <a:t>福利厚生の充実、販促強化、その他の課題感など</a:t>
            </a:r>
            <a:endParaRPr b="0" i="0" sz="1000" u="none" cap="none" strike="noStrike">
              <a:solidFill>
                <a:schemeClr val="dk1"/>
              </a:solidFill>
              <a:latin typeface="Calibri"/>
              <a:ea typeface="Calibri"/>
              <a:cs typeface="Calibri"/>
              <a:sym typeface="Calibri"/>
            </a:endParaRPr>
          </a:p>
        </p:txBody>
      </p:sp>
      <p:sp>
        <p:nvSpPr>
          <p:cNvPr id="101" name="Google Shape;101;p3"/>
          <p:cNvSpPr/>
          <p:nvPr/>
        </p:nvSpPr>
        <p:spPr>
          <a:xfrm>
            <a:off x="5298034" y="3228746"/>
            <a:ext cx="5934456" cy="761695"/>
          </a:xfrm>
          <a:prstGeom prst="roundRect">
            <a:avLst>
              <a:gd fmla="val 36014" name="adj"/>
            </a:avLst>
          </a:prstGeom>
          <a:solidFill>
            <a:srgbClr val="F9FAFB"/>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5431536" y="3362249"/>
            <a:ext cx="304495" cy="304495"/>
          </a:xfrm>
          <a:prstGeom prst="ellipse">
            <a:avLst/>
          </a:prstGeom>
          <a:solidFill>
            <a:srgbClr val="10B981"/>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3" name="Google Shape;103;p3"/>
          <p:cNvPicPr preferRelativeResize="0"/>
          <p:nvPr/>
        </p:nvPicPr>
        <p:blipFill rotWithShape="1">
          <a:blip r:embed="rId7">
            <a:alphaModFix/>
          </a:blip>
          <a:srcRect b="0" l="-1507" r="-1507" t="0"/>
          <a:stretch/>
        </p:blipFill>
        <p:spPr>
          <a:xfrm>
            <a:off x="5498287" y="3448202"/>
            <a:ext cx="171907" cy="133502"/>
          </a:xfrm>
          <a:prstGeom prst="rect">
            <a:avLst/>
          </a:prstGeom>
          <a:noFill/>
          <a:ln>
            <a:noFill/>
          </a:ln>
        </p:spPr>
      </p:pic>
      <p:sp>
        <p:nvSpPr>
          <p:cNvPr id="104" name="Google Shape;104;p3"/>
          <p:cNvSpPr txBox="1"/>
          <p:nvPr/>
        </p:nvSpPr>
        <p:spPr>
          <a:xfrm>
            <a:off x="5888736" y="3362249"/>
            <a:ext cx="5401361"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Noto Sans JP"/>
              <a:buNone/>
            </a:pPr>
            <a:r>
              <a:rPr b="1" i="0" lang="en-US" sz="1300" u="none" cap="none" strike="noStrike">
                <a:solidFill>
                  <a:srgbClr val="1F2937"/>
                </a:solidFill>
                <a:latin typeface="Noto Sans JP"/>
                <a:ea typeface="Noto Sans JP"/>
                <a:cs typeface="Noto Sans JP"/>
                <a:sym typeface="Noto Sans JP"/>
              </a:rPr>
              <a:t>現物支給・物品活用の現状</a:t>
            </a:r>
            <a:endParaRPr b="0" i="0" sz="1300" u="none" cap="none" strike="noStrike">
              <a:solidFill>
                <a:schemeClr val="dk1"/>
              </a:solidFill>
              <a:latin typeface="Calibri"/>
              <a:ea typeface="Calibri"/>
              <a:cs typeface="Calibri"/>
              <a:sym typeface="Calibri"/>
            </a:endParaRPr>
          </a:p>
        </p:txBody>
      </p:sp>
      <p:sp>
        <p:nvSpPr>
          <p:cNvPr id="105" name="Google Shape;105;p3"/>
          <p:cNvSpPr txBox="1"/>
          <p:nvPr/>
        </p:nvSpPr>
        <p:spPr>
          <a:xfrm>
            <a:off x="5888736" y="3657600"/>
            <a:ext cx="5401361"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Noto Sans JP"/>
              <a:buNone/>
            </a:pPr>
            <a:r>
              <a:rPr b="0" i="0" lang="en-US" sz="1000" u="none" cap="none" strike="noStrike">
                <a:solidFill>
                  <a:srgbClr val="6B7280"/>
                </a:solidFill>
                <a:latin typeface="Noto Sans JP"/>
                <a:ea typeface="Noto Sans JP"/>
                <a:cs typeface="Noto Sans JP"/>
                <a:sym typeface="Noto Sans JP"/>
              </a:rPr>
              <a:t>現在実施されている施策や、過去の実施事例について</a:t>
            </a:r>
            <a:endParaRPr b="0" i="0" sz="1000" u="none" cap="none" strike="noStrike">
              <a:solidFill>
                <a:schemeClr val="dk1"/>
              </a:solidFill>
              <a:latin typeface="Calibri"/>
              <a:ea typeface="Calibri"/>
              <a:cs typeface="Calibri"/>
              <a:sym typeface="Calibri"/>
            </a:endParaRPr>
          </a:p>
        </p:txBody>
      </p:sp>
      <p:sp>
        <p:nvSpPr>
          <p:cNvPr id="106" name="Google Shape;106;p3"/>
          <p:cNvSpPr/>
          <p:nvPr/>
        </p:nvSpPr>
        <p:spPr>
          <a:xfrm>
            <a:off x="5298034" y="4181551"/>
            <a:ext cx="5934456" cy="761695"/>
          </a:xfrm>
          <a:prstGeom prst="roundRect">
            <a:avLst>
              <a:gd fmla="val 36014" name="adj"/>
            </a:avLst>
          </a:prstGeom>
          <a:solidFill>
            <a:srgbClr val="F9FAFB"/>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5431536" y="4315054"/>
            <a:ext cx="304495" cy="304495"/>
          </a:xfrm>
          <a:prstGeom prst="ellipse">
            <a:avLst/>
          </a:prstGeom>
          <a:solidFill>
            <a:srgbClr val="10B981"/>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8" name="Google Shape;108;p3"/>
          <p:cNvPicPr preferRelativeResize="0"/>
          <p:nvPr/>
        </p:nvPicPr>
        <p:blipFill rotWithShape="1">
          <a:blip r:embed="rId8">
            <a:alphaModFix/>
          </a:blip>
          <a:srcRect b="0" l="0" r="0" t="0"/>
          <a:stretch/>
        </p:blipFill>
        <p:spPr>
          <a:xfrm>
            <a:off x="5516575" y="4401007"/>
            <a:ext cx="133502" cy="133502"/>
          </a:xfrm>
          <a:prstGeom prst="rect">
            <a:avLst/>
          </a:prstGeom>
          <a:noFill/>
          <a:ln>
            <a:noFill/>
          </a:ln>
        </p:spPr>
      </p:pic>
      <p:sp>
        <p:nvSpPr>
          <p:cNvPr id="109" name="Google Shape;109;p3"/>
          <p:cNvSpPr txBox="1"/>
          <p:nvPr/>
        </p:nvSpPr>
        <p:spPr>
          <a:xfrm>
            <a:off x="5888736" y="4315054"/>
            <a:ext cx="5401361"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Noto Sans JP"/>
              <a:buNone/>
            </a:pPr>
            <a:r>
              <a:rPr b="1" i="0" lang="en-US" sz="1300" u="none" cap="none" strike="noStrike">
                <a:solidFill>
                  <a:srgbClr val="1F2937"/>
                </a:solidFill>
                <a:latin typeface="Noto Sans JP"/>
                <a:ea typeface="Noto Sans JP"/>
                <a:cs typeface="Noto Sans JP"/>
                <a:sym typeface="Noto Sans JP"/>
              </a:rPr>
              <a:t>福利厚生・販促施策の方向性</a:t>
            </a:r>
            <a:endParaRPr b="0" i="0" sz="1300" u="none" cap="none" strike="noStrike">
              <a:solidFill>
                <a:schemeClr val="dk1"/>
              </a:solidFill>
              <a:latin typeface="Calibri"/>
              <a:ea typeface="Calibri"/>
              <a:cs typeface="Calibri"/>
              <a:sym typeface="Calibri"/>
            </a:endParaRPr>
          </a:p>
        </p:txBody>
      </p:sp>
      <p:sp>
        <p:nvSpPr>
          <p:cNvPr id="110" name="Google Shape;110;p3"/>
          <p:cNvSpPr txBox="1"/>
          <p:nvPr/>
        </p:nvSpPr>
        <p:spPr>
          <a:xfrm>
            <a:off x="5888736" y="4610405"/>
            <a:ext cx="5401361"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Noto Sans JP"/>
              <a:buNone/>
            </a:pPr>
            <a:r>
              <a:rPr b="0" i="0" lang="en-US" sz="1000" u="none" cap="none" strike="noStrike">
                <a:solidFill>
                  <a:srgbClr val="6B7280"/>
                </a:solidFill>
                <a:latin typeface="Noto Sans JP"/>
                <a:ea typeface="Noto Sans JP"/>
                <a:cs typeface="Noto Sans JP"/>
                <a:sym typeface="Noto Sans JP"/>
              </a:rPr>
              <a:t>現金支給からの切り替えや、見直しの具体的なご予定</a:t>
            </a:r>
            <a:endParaRPr b="0" i="0" sz="1000" u="none" cap="none" strike="noStrike">
              <a:solidFill>
                <a:schemeClr val="dk1"/>
              </a:solidFill>
              <a:latin typeface="Calibri"/>
              <a:ea typeface="Calibri"/>
              <a:cs typeface="Calibri"/>
              <a:sym typeface="Calibri"/>
            </a:endParaRPr>
          </a:p>
        </p:txBody>
      </p:sp>
      <p:sp>
        <p:nvSpPr>
          <p:cNvPr id="111" name="Google Shape;111;p3"/>
          <p:cNvSpPr/>
          <p:nvPr/>
        </p:nvSpPr>
        <p:spPr>
          <a:xfrm>
            <a:off x="5298034" y="5134356"/>
            <a:ext cx="5934456" cy="761695"/>
          </a:xfrm>
          <a:prstGeom prst="roundRect">
            <a:avLst>
              <a:gd fmla="val 36014" name="adj"/>
            </a:avLst>
          </a:prstGeom>
          <a:solidFill>
            <a:srgbClr val="F9FAFB"/>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a:off x="5431536" y="5266944"/>
            <a:ext cx="304495" cy="304495"/>
          </a:xfrm>
          <a:prstGeom prst="ellipse">
            <a:avLst/>
          </a:prstGeom>
          <a:solidFill>
            <a:srgbClr val="10B981"/>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3" name="Google Shape;113;p3"/>
          <p:cNvPicPr preferRelativeResize="0"/>
          <p:nvPr/>
        </p:nvPicPr>
        <p:blipFill rotWithShape="1">
          <a:blip r:embed="rId9">
            <a:alphaModFix/>
          </a:blip>
          <a:srcRect b="0" l="0" r="0" t="0"/>
          <a:stretch/>
        </p:blipFill>
        <p:spPr>
          <a:xfrm>
            <a:off x="5516575" y="5352898"/>
            <a:ext cx="133502" cy="133502"/>
          </a:xfrm>
          <a:prstGeom prst="rect">
            <a:avLst/>
          </a:prstGeom>
          <a:noFill/>
          <a:ln>
            <a:noFill/>
          </a:ln>
        </p:spPr>
      </p:pic>
      <p:sp>
        <p:nvSpPr>
          <p:cNvPr id="114" name="Google Shape;114;p3"/>
          <p:cNvSpPr txBox="1"/>
          <p:nvPr/>
        </p:nvSpPr>
        <p:spPr>
          <a:xfrm>
            <a:off x="5888736" y="5266944"/>
            <a:ext cx="5401361"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Noto Sans JP"/>
              <a:buNone/>
            </a:pPr>
            <a:r>
              <a:rPr b="1" i="0" lang="en-US" sz="1300" u="none" cap="none" strike="noStrike">
                <a:solidFill>
                  <a:srgbClr val="1F2937"/>
                </a:solidFill>
                <a:latin typeface="Noto Sans JP"/>
                <a:ea typeface="Noto Sans JP"/>
                <a:cs typeface="Noto Sans JP"/>
                <a:sym typeface="Noto Sans JP"/>
              </a:rPr>
              <a:t>運用面でのご懸念点</a:t>
            </a:r>
            <a:endParaRPr b="0" i="0" sz="1300" u="none" cap="none" strike="noStrike">
              <a:solidFill>
                <a:schemeClr val="dk1"/>
              </a:solidFill>
              <a:latin typeface="Calibri"/>
              <a:ea typeface="Calibri"/>
              <a:cs typeface="Calibri"/>
              <a:sym typeface="Calibri"/>
            </a:endParaRPr>
          </a:p>
        </p:txBody>
      </p:sp>
      <p:sp>
        <p:nvSpPr>
          <p:cNvPr id="115" name="Google Shape;115;p3"/>
          <p:cNvSpPr txBox="1"/>
          <p:nvPr/>
        </p:nvSpPr>
        <p:spPr>
          <a:xfrm>
            <a:off x="5888736" y="5562295"/>
            <a:ext cx="5401361"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Noto Sans JP"/>
              <a:buNone/>
            </a:pPr>
            <a:r>
              <a:rPr b="0" i="0" lang="en-US" sz="1000" u="none" cap="none" strike="noStrike">
                <a:solidFill>
                  <a:srgbClr val="6B7280"/>
                </a:solidFill>
                <a:latin typeface="Noto Sans JP"/>
                <a:ea typeface="Noto Sans JP"/>
                <a:cs typeface="Noto Sans JP"/>
                <a:sym typeface="Noto Sans JP"/>
              </a:rPr>
              <a:t>配送管理の手間や、在庫管理などについて</a:t>
            </a:r>
            <a:endParaRPr b="0" i="0" sz="1000" u="none" cap="none" strike="noStrike">
              <a:solidFill>
                <a:schemeClr val="dk1"/>
              </a:solidFill>
              <a:latin typeface="Calibri"/>
              <a:ea typeface="Calibri"/>
              <a:cs typeface="Calibri"/>
              <a:sym typeface="Calibri"/>
            </a:endParaRPr>
          </a:p>
        </p:txBody>
      </p:sp>
      <p:sp>
        <p:nvSpPr>
          <p:cNvPr id="116" name="Google Shape;116;p3"/>
          <p:cNvSpPr/>
          <p:nvPr/>
        </p:nvSpPr>
        <p:spPr>
          <a:xfrm>
            <a:off x="7691933" y="1104595"/>
            <a:ext cx="1143000" cy="286207"/>
          </a:xfrm>
          <a:prstGeom prst="roundRect">
            <a:avLst>
              <a:gd fmla="val 170394" name="adj"/>
            </a:avLst>
          </a:prstGeom>
          <a:solidFill>
            <a:srgbClr val="374151"/>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7" name="Google Shape;117;p3"/>
          <p:cNvPicPr preferRelativeResize="0"/>
          <p:nvPr/>
        </p:nvPicPr>
        <p:blipFill rotWithShape="1">
          <a:blip r:embed="rId10">
            <a:alphaModFix/>
          </a:blip>
          <a:srcRect b="0" l="-181" r="-181" t="0"/>
          <a:stretch/>
        </p:blipFill>
        <p:spPr>
          <a:xfrm>
            <a:off x="7883042" y="1209751"/>
            <a:ext cx="761695" cy="75895"/>
          </a:xfrm>
          <a:prstGeom prst="rect">
            <a:avLst/>
          </a:prstGeom>
          <a:noFill/>
          <a:ln>
            <a:noFill/>
          </a:ln>
        </p:spPr>
      </p:pic>
      <p:sp>
        <p:nvSpPr>
          <p:cNvPr id="118" name="Google Shape;118;p3"/>
          <p:cNvSpPr/>
          <p:nvPr/>
        </p:nvSpPr>
        <p:spPr>
          <a:xfrm>
            <a:off x="0" y="0"/>
            <a:ext cx="12191695" cy="8577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
          <p:cNvSpPr/>
          <p:nvPr/>
        </p:nvSpPr>
        <p:spPr>
          <a:xfrm>
            <a:off x="0" y="838505"/>
            <a:ext cx="12191695" cy="19202"/>
          </a:xfrm>
          <a:prstGeom prst="rect">
            <a:avLst/>
          </a:prstGeom>
          <a:solidFill>
            <a:srgbClr val="F3F4F6"/>
          </a:solidFill>
          <a:ln cap="flat" cmpd="sng" w="12700">
            <a:solidFill>
              <a:srgbClr val="F3F4F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txBox="1"/>
          <p:nvPr/>
        </p:nvSpPr>
        <p:spPr>
          <a:xfrm>
            <a:off x="571500" y="331013"/>
            <a:ext cx="2671877"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Arial"/>
              <a:buNone/>
            </a:pPr>
            <a:r>
              <a:rPr b="1" i="0" lang="en-US" sz="2700" u="none" cap="none" strike="noStrike">
                <a:solidFill>
                  <a:srgbClr val="111827"/>
                </a:solidFill>
                <a:latin typeface="Arial"/>
                <a:ea typeface="Arial"/>
                <a:cs typeface="Arial"/>
                <a:sym typeface="Arial"/>
              </a:rPr>
              <a:t>ご状況の確認</a:t>
            </a:r>
            <a:endParaRPr b="0" i="0" sz="2700" u="none" cap="none" strike="noStrike">
              <a:solidFill>
                <a:schemeClr val="dk1"/>
              </a:solidFill>
              <a:latin typeface="Calibri"/>
              <a:ea typeface="Calibri"/>
              <a:cs typeface="Calibri"/>
              <a:sym typeface="Calibri"/>
            </a:endParaRPr>
          </a:p>
        </p:txBody>
      </p:sp>
      <p:sp>
        <p:nvSpPr>
          <p:cNvPr id="121" name="Google Shape;121;p3"/>
          <p:cNvSpPr txBox="1"/>
          <p:nvPr/>
        </p:nvSpPr>
        <p:spPr>
          <a:xfrm>
            <a:off x="9568282" y="428854"/>
            <a:ext cx="2221992"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300"/>
              <a:buFont typeface="Noto Sans JP"/>
              <a:buNone/>
            </a:pPr>
            <a:r>
              <a:rPr b="1" i="0" lang="en-US" sz="1300" u="none" cap="none" strike="noStrike">
                <a:solidFill>
                  <a:srgbClr val="9CA3AF"/>
                </a:solidFill>
                <a:latin typeface="Noto Sans JP"/>
                <a:ea typeface="Noto Sans JP"/>
                <a:cs typeface="Noto Sans JP"/>
                <a:sym typeface="Noto Sans JP"/>
              </a:rPr>
              <a:t>株式会社フードサプライズ</a:t>
            </a:r>
            <a:endParaRPr b="0" i="0" sz="1300" u="none" cap="none" strike="noStrike">
              <a:solidFill>
                <a:schemeClr val="dk1"/>
              </a:solidFill>
              <a:latin typeface="Calibri"/>
              <a:ea typeface="Calibri"/>
              <a:cs typeface="Calibri"/>
              <a:sym typeface="Calibri"/>
            </a:endParaRPr>
          </a:p>
        </p:txBody>
      </p:sp>
      <p:pic>
        <p:nvPicPr>
          <p:cNvPr descr="preencoded.png" id="122" name="Google Shape;122;p3"/>
          <p:cNvPicPr preferRelativeResize="0"/>
          <p:nvPr/>
        </p:nvPicPr>
        <p:blipFill rotWithShape="1">
          <a:blip r:embed="rId11">
            <a:alphaModFix/>
          </a:blip>
          <a:srcRect b="0" l="-200" r="-200" t="0"/>
          <a:stretch/>
        </p:blipFill>
        <p:spPr>
          <a:xfrm>
            <a:off x="0" y="6782105"/>
            <a:ext cx="12191695" cy="7589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4"/>
          <p:cNvSpPr/>
          <p:nvPr/>
        </p:nvSpPr>
        <p:spPr>
          <a:xfrm>
            <a:off x="0" y="0"/>
            <a:ext cx="12191695" cy="6858000"/>
          </a:xfrm>
          <a:prstGeom prst="rect">
            <a:avLst/>
          </a:prstGeom>
          <a:solidFill>
            <a:srgbClr val="F3F4F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a:off x="0" y="0"/>
            <a:ext cx="12191695" cy="6858000"/>
          </a:xfrm>
          <a:prstGeom prst="rect">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
          <p:cNvSpPr/>
          <p:nvPr/>
        </p:nvSpPr>
        <p:spPr>
          <a:xfrm>
            <a:off x="571500" y="1143000"/>
            <a:ext cx="3534156" cy="2695651"/>
          </a:xfrm>
          <a:prstGeom prst="roundRect">
            <a:avLst>
              <a:gd fmla="val 3836" name="adj"/>
            </a:avLst>
          </a:prstGeom>
          <a:solidFill>
            <a:srgbClr val="FFF7ED"/>
          </a:solidFill>
          <a:ln cap="flat" cmpd="sng" w="12700">
            <a:solidFill>
              <a:srgbClr val="FED7AA"/>
            </a:solidFill>
            <a:prstDash val="solid"/>
            <a:round/>
            <a:headEnd len="sm" w="sm" type="none"/>
            <a:tailEnd len="sm" w="sm" type="none"/>
          </a:ln>
          <a:effectLst>
            <a:outerShdw blurRad="63500" rotWithShape="0" algn="bl" dir="16200000" dist="38100">
              <a:srgbClr val="000000">
                <a:alpha val="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1" name="Google Shape;131;p4"/>
          <p:cNvPicPr preferRelativeResize="0"/>
          <p:nvPr/>
        </p:nvPicPr>
        <p:blipFill rotWithShape="1">
          <a:blip r:embed="rId3">
            <a:alphaModFix/>
          </a:blip>
          <a:srcRect b="0" l="0" r="0" t="0"/>
          <a:stretch/>
        </p:blipFill>
        <p:spPr>
          <a:xfrm>
            <a:off x="2070202" y="1343254"/>
            <a:ext cx="533095" cy="533095"/>
          </a:xfrm>
          <a:prstGeom prst="rect">
            <a:avLst/>
          </a:prstGeom>
          <a:noFill/>
          <a:ln>
            <a:noFill/>
          </a:ln>
        </p:spPr>
      </p:pic>
      <p:pic>
        <p:nvPicPr>
          <p:cNvPr descr="preencoded.png" id="132" name="Google Shape;132;p4"/>
          <p:cNvPicPr preferRelativeResize="0"/>
          <p:nvPr/>
        </p:nvPicPr>
        <p:blipFill rotWithShape="1">
          <a:blip r:embed="rId4">
            <a:alphaModFix/>
          </a:blip>
          <a:srcRect b="0" l="0" r="0" t="0"/>
          <a:stretch/>
        </p:blipFill>
        <p:spPr>
          <a:xfrm>
            <a:off x="2212848" y="1485900"/>
            <a:ext cx="247802" cy="247802"/>
          </a:xfrm>
          <a:prstGeom prst="rect">
            <a:avLst/>
          </a:prstGeom>
          <a:noFill/>
          <a:ln>
            <a:noFill/>
          </a:ln>
        </p:spPr>
      </p:pic>
      <p:sp>
        <p:nvSpPr>
          <p:cNvPr id="133" name="Google Shape;133;p4"/>
          <p:cNvSpPr txBox="1"/>
          <p:nvPr/>
        </p:nvSpPr>
        <p:spPr>
          <a:xfrm>
            <a:off x="1514246" y="1990649"/>
            <a:ext cx="1645920" cy="286207"/>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3412"/>
              </a:buClr>
              <a:buSzPts val="1500"/>
              <a:buFont typeface="Arial"/>
              <a:buNone/>
            </a:pPr>
            <a:r>
              <a:rPr b="1" i="0" lang="en-US" sz="1500" u="none" cap="none" strike="noStrike">
                <a:solidFill>
                  <a:srgbClr val="9A3412"/>
                </a:solidFill>
                <a:latin typeface="Arial"/>
                <a:ea typeface="Arial"/>
                <a:cs typeface="Arial"/>
                <a:sym typeface="Arial"/>
              </a:rPr>
              <a:t>サブスク型定期便</a:t>
            </a:r>
            <a:endParaRPr b="0" i="0" sz="1500" u="none" cap="none" strike="noStrike">
              <a:solidFill>
                <a:schemeClr val="dk1"/>
              </a:solidFill>
              <a:latin typeface="Calibri"/>
              <a:ea typeface="Calibri"/>
              <a:cs typeface="Calibri"/>
              <a:sym typeface="Calibri"/>
            </a:endParaRPr>
          </a:p>
        </p:txBody>
      </p:sp>
      <p:sp>
        <p:nvSpPr>
          <p:cNvPr id="134" name="Google Shape;134;p4"/>
          <p:cNvSpPr txBox="1"/>
          <p:nvPr/>
        </p:nvSpPr>
        <p:spPr>
          <a:xfrm>
            <a:off x="1171346" y="2352751"/>
            <a:ext cx="2334463" cy="64831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B5563"/>
              </a:buClr>
              <a:buSzPts val="1000"/>
              <a:buFont typeface="Noto Sans JP"/>
              <a:buNone/>
            </a:pPr>
            <a:r>
              <a:rPr b="0" i="0" lang="en-US" sz="1000" u="none" cap="none" strike="noStrike">
                <a:solidFill>
                  <a:srgbClr val="4B5563"/>
                </a:solidFill>
                <a:latin typeface="Noto Sans JP"/>
                <a:ea typeface="Noto Sans JP"/>
                <a:cs typeface="Noto Sans JP"/>
                <a:sym typeface="Noto Sans JP"/>
              </a:rPr>
              <a:t> 毎月決まった時期に自動でお届け。</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A580C"/>
              </a:buClr>
              <a:buSzPts val="1000"/>
              <a:buFont typeface="Noto Sans JP"/>
              <a:buNone/>
            </a:pPr>
            <a:r>
              <a:rPr b="1" i="0" lang="en-US" sz="1000" u="none" cap="none" strike="noStrike">
                <a:solidFill>
                  <a:srgbClr val="EA580C"/>
                </a:solidFill>
                <a:latin typeface="Noto Sans JP"/>
                <a:ea typeface="Noto Sans JP"/>
                <a:cs typeface="Noto Sans JP"/>
                <a:sym typeface="Noto Sans JP"/>
              </a:rPr>
              <a:t>年間設計が容易</a:t>
            </a:r>
            <a:r>
              <a:rPr b="0" i="0" lang="en-US" sz="1000" u="none" cap="none" strike="noStrike">
                <a:solidFill>
                  <a:srgbClr val="4B5563"/>
                </a:solidFill>
                <a:latin typeface="Noto Sans JP"/>
                <a:ea typeface="Noto Sans JP"/>
                <a:cs typeface="Noto Sans JP"/>
                <a:sym typeface="Noto Sans JP"/>
              </a:rPr>
              <a:t>で、福利厚生の</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B5563"/>
              </a:buClr>
              <a:buSzPts val="1000"/>
              <a:buFont typeface="Noto Sans JP"/>
              <a:buNone/>
            </a:pPr>
            <a:r>
              <a:rPr b="0" i="0" lang="en-US" sz="1000" u="none" cap="none" strike="noStrike">
                <a:solidFill>
                  <a:srgbClr val="4B5563"/>
                </a:solidFill>
                <a:latin typeface="Noto Sans JP"/>
                <a:ea typeface="Noto Sans JP"/>
                <a:cs typeface="Noto Sans JP"/>
                <a:sym typeface="Noto Sans JP"/>
              </a:rPr>
              <a:t> 定着化・運用工数削減に貢献します。 </a:t>
            </a:r>
            <a:endParaRPr b="0" i="0" sz="1000" u="none" cap="none" strike="noStrike">
              <a:solidFill>
                <a:schemeClr val="dk1"/>
              </a:solidFill>
              <a:latin typeface="Calibri"/>
              <a:ea typeface="Calibri"/>
              <a:cs typeface="Calibri"/>
              <a:sym typeface="Calibri"/>
            </a:endParaRPr>
          </a:p>
        </p:txBody>
      </p:sp>
      <p:sp>
        <p:nvSpPr>
          <p:cNvPr id="135" name="Google Shape;135;p4"/>
          <p:cNvSpPr/>
          <p:nvPr/>
        </p:nvSpPr>
        <p:spPr>
          <a:xfrm>
            <a:off x="4330598" y="1143000"/>
            <a:ext cx="3534156" cy="2695651"/>
          </a:xfrm>
          <a:prstGeom prst="roundRect">
            <a:avLst>
              <a:gd fmla="val 3836" name="adj"/>
            </a:avLst>
          </a:prstGeom>
          <a:solidFill>
            <a:srgbClr val="FFF7ED"/>
          </a:solidFill>
          <a:ln cap="flat" cmpd="sng" w="12700">
            <a:solidFill>
              <a:srgbClr val="FED7AA"/>
            </a:solidFill>
            <a:prstDash val="solid"/>
            <a:round/>
            <a:headEnd len="sm" w="sm" type="none"/>
            <a:tailEnd len="sm" w="sm" type="none"/>
          </a:ln>
          <a:effectLst>
            <a:outerShdw blurRad="63500" rotWithShape="0" algn="bl" dir="16200000" dist="38100">
              <a:srgbClr val="000000">
                <a:alpha val="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6" name="Google Shape;136;p4"/>
          <p:cNvPicPr preferRelativeResize="0"/>
          <p:nvPr/>
        </p:nvPicPr>
        <p:blipFill rotWithShape="1">
          <a:blip r:embed="rId3">
            <a:alphaModFix/>
          </a:blip>
          <a:srcRect b="0" l="0" r="0" t="0"/>
          <a:stretch/>
        </p:blipFill>
        <p:spPr>
          <a:xfrm>
            <a:off x="5829300" y="1343254"/>
            <a:ext cx="533095" cy="533095"/>
          </a:xfrm>
          <a:prstGeom prst="rect">
            <a:avLst/>
          </a:prstGeom>
          <a:noFill/>
          <a:ln>
            <a:noFill/>
          </a:ln>
        </p:spPr>
      </p:pic>
      <p:pic>
        <p:nvPicPr>
          <p:cNvPr descr="preencoded.png" id="137" name="Google Shape;137;p4"/>
          <p:cNvPicPr preferRelativeResize="0"/>
          <p:nvPr/>
        </p:nvPicPr>
        <p:blipFill rotWithShape="1">
          <a:blip r:embed="rId5">
            <a:alphaModFix/>
          </a:blip>
          <a:srcRect b="0" l="-606" r="-606" t="0"/>
          <a:stretch/>
        </p:blipFill>
        <p:spPr>
          <a:xfrm>
            <a:off x="5986577" y="1485900"/>
            <a:ext cx="219456" cy="247802"/>
          </a:xfrm>
          <a:prstGeom prst="rect">
            <a:avLst/>
          </a:prstGeom>
          <a:noFill/>
          <a:ln>
            <a:noFill/>
          </a:ln>
        </p:spPr>
      </p:pic>
      <p:sp>
        <p:nvSpPr>
          <p:cNvPr id="138" name="Google Shape;138;p4"/>
          <p:cNvSpPr txBox="1"/>
          <p:nvPr/>
        </p:nvSpPr>
        <p:spPr>
          <a:xfrm>
            <a:off x="5273345" y="1990649"/>
            <a:ext cx="1645920" cy="286207"/>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3412"/>
              </a:buClr>
              <a:buSzPts val="1500"/>
              <a:buFont typeface="Arial"/>
              <a:buNone/>
            </a:pPr>
            <a:r>
              <a:rPr b="1" i="0" lang="en-US" sz="1500" u="none" cap="none" strike="noStrike">
                <a:solidFill>
                  <a:srgbClr val="9A3412"/>
                </a:solidFill>
                <a:latin typeface="Arial"/>
                <a:ea typeface="Arial"/>
                <a:cs typeface="Arial"/>
                <a:sym typeface="Arial"/>
              </a:rPr>
              <a:t>旬のラインナップ</a:t>
            </a:r>
            <a:endParaRPr b="0" i="0" sz="1500" u="none" cap="none" strike="noStrike">
              <a:solidFill>
                <a:schemeClr val="dk1"/>
              </a:solidFill>
              <a:latin typeface="Calibri"/>
              <a:ea typeface="Calibri"/>
              <a:cs typeface="Calibri"/>
              <a:sym typeface="Calibri"/>
            </a:endParaRPr>
          </a:p>
        </p:txBody>
      </p:sp>
      <p:sp>
        <p:nvSpPr>
          <p:cNvPr id="139" name="Google Shape;139;p4"/>
          <p:cNvSpPr txBox="1"/>
          <p:nvPr/>
        </p:nvSpPr>
        <p:spPr>
          <a:xfrm>
            <a:off x="4793285" y="2352751"/>
            <a:ext cx="2610612" cy="64831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B5563"/>
              </a:buClr>
              <a:buSzPts val="1000"/>
              <a:buFont typeface="Noto Sans JP"/>
              <a:buNone/>
            </a:pPr>
            <a:r>
              <a:rPr b="0" i="0" lang="en-US" sz="1000" u="none" cap="none" strike="noStrike">
                <a:solidFill>
                  <a:srgbClr val="4B5563"/>
                </a:solidFill>
                <a:latin typeface="Noto Sans JP"/>
                <a:ea typeface="Noto Sans JP"/>
                <a:cs typeface="Noto Sans JP"/>
                <a:sym typeface="Noto Sans JP"/>
              </a:rPr>
              <a:t> 山形県産を中心に、</a:t>
            </a:r>
            <a:r>
              <a:rPr b="1" i="0" lang="en-US" sz="1000" u="none" cap="none" strike="noStrike">
                <a:solidFill>
                  <a:srgbClr val="EA580C"/>
                </a:solidFill>
                <a:latin typeface="Noto Sans JP"/>
                <a:ea typeface="Noto Sans JP"/>
                <a:cs typeface="Noto Sans JP"/>
                <a:sym typeface="Noto Sans JP"/>
              </a:rPr>
              <a:t>その時期一番美味しい</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B5563"/>
              </a:buClr>
              <a:buSzPts val="1000"/>
              <a:buFont typeface="Noto Sans JP"/>
              <a:buNone/>
            </a:pPr>
            <a:r>
              <a:rPr b="0" i="0" lang="en-US" sz="1000" u="none" cap="none" strike="noStrike">
                <a:solidFill>
                  <a:srgbClr val="4B5563"/>
                </a:solidFill>
                <a:latin typeface="Noto Sans JP"/>
                <a:ea typeface="Noto Sans JP"/>
                <a:cs typeface="Noto Sans JP"/>
                <a:sym typeface="Noto Sans JP"/>
              </a:rPr>
              <a:t> 果物を厳選。さくらんぼ、りんご、</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B5563"/>
              </a:buClr>
              <a:buSzPts val="1000"/>
              <a:buFont typeface="Noto Sans JP"/>
              <a:buNone/>
            </a:pPr>
            <a:r>
              <a:rPr b="0" i="0" lang="en-US" sz="1000" u="none" cap="none" strike="noStrike">
                <a:solidFill>
                  <a:srgbClr val="4B5563"/>
                </a:solidFill>
                <a:latin typeface="Noto Sans JP"/>
                <a:ea typeface="Noto Sans JP"/>
                <a:cs typeface="Noto Sans JP"/>
                <a:sym typeface="Noto Sans JP"/>
              </a:rPr>
              <a:t> ラ・フランスなど四季を感じる体験を。 </a:t>
            </a:r>
            <a:endParaRPr b="0" i="0" sz="1000" u="none" cap="none" strike="noStrike">
              <a:solidFill>
                <a:schemeClr val="dk1"/>
              </a:solidFill>
              <a:latin typeface="Calibri"/>
              <a:ea typeface="Calibri"/>
              <a:cs typeface="Calibri"/>
              <a:sym typeface="Calibri"/>
            </a:endParaRPr>
          </a:p>
        </p:txBody>
      </p:sp>
      <p:sp>
        <p:nvSpPr>
          <p:cNvPr id="140" name="Google Shape;140;p4"/>
          <p:cNvSpPr/>
          <p:nvPr/>
        </p:nvSpPr>
        <p:spPr>
          <a:xfrm>
            <a:off x="8089697" y="1143000"/>
            <a:ext cx="3534156" cy="2695651"/>
          </a:xfrm>
          <a:prstGeom prst="roundRect">
            <a:avLst>
              <a:gd fmla="val 3836" name="adj"/>
            </a:avLst>
          </a:prstGeom>
          <a:solidFill>
            <a:srgbClr val="FFF7ED"/>
          </a:solidFill>
          <a:ln cap="flat" cmpd="sng" w="12700">
            <a:solidFill>
              <a:srgbClr val="FED7AA"/>
            </a:solidFill>
            <a:prstDash val="solid"/>
            <a:round/>
            <a:headEnd len="sm" w="sm" type="none"/>
            <a:tailEnd len="sm" w="sm" type="none"/>
          </a:ln>
          <a:effectLst>
            <a:outerShdw blurRad="63500" rotWithShape="0" algn="bl" dir="16200000" dist="38100">
              <a:srgbClr val="000000">
                <a:alpha val="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1" name="Google Shape;141;p4"/>
          <p:cNvPicPr preferRelativeResize="0"/>
          <p:nvPr/>
        </p:nvPicPr>
        <p:blipFill rotWithShape="1">
          <a:blip r:embed="rId3">
            <a:alphaModFix/>
          </a:blip>
          <a:srcRect b="0" l="0" r="0" t="0"/>
          <a:stretch/>
        </p:blipFill>
        <p:spPr>
          <a:xfrm>
            <a:off x="9588398" y="1343254"/>
            <a:ext cx="533095" cy="533095"/>
          </a:xfrm>
          <a:prstGeom prst="rect">
            <a:avLst/>
          </a:prstGeom>
          <a:noFill/>
          <a:ln>
            <a:noFill/>
          </a:ln>
        </p:spPr>
      </p:pic>
      <p:pic>
        <p:nvPicPr>
          <p:cNvPr descr="preencoded.png" id="142" name="Google Shape;142;p4"/>
          <p:cNvPicPr preferRelativeResize="0"/>
          <p:nvPr/>
        </p:nvPicPr>
        <p:blipFill rotWithShape="1">
          <a:blip r:embed="rId6">
            <a:alphaModFix/>
          </a:blip>
          <a:srcRect b="0" l="-1169" r="-1169" t="0"/>
          <a:stretch/>
        </p:blipFill>
        <p:spPr>
          <a:xfrm>
            <a:off x="9760306" y="1485900"/>
            <a:ext cx="190195" cy="247802"/>
          </a:xfrm>
          <a:prstGeom prst="rect">
            <a:avLst/>
          </a:prstGeom>
          <a:noFill/>
          <a:ln>
            <a:noFill/>
          </a:ln>
        </p:spPr>
      </p:pic>
      <p:sp>
        <p:nvSpPr>
          <p:cNvPr id="143" name="Google Shape;143;p4"/>
          <p:cNvSpPr txBox="1"/>
          <p:nvPr/>
        </p:nvSpPr>
        <p:spPr>
          <a:xfrm>
            <a:off x="9032443" y="1990649"/>
            <a:ext cx="1645920" cy="286207"/>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3412"/>
              </a:buClr>
              <a:buSzPts val="1500"/>
              <a:buFont typeface="Arial"/>
              <a:buNone/>
            </a:pPr>
            <a:r>
              <a:rPr b="1" i="0" lang="en-US" sz="1500" u="none" cap="none" strike="noStrike">
                <a:solidFill>
                  <a:srgbClr val="9A3412"/>
                </a:solidFill>
                <a:latin typeface="Arial"/>
                <a:ea typeface="Arial"/>
                <a:cs typeface="Arial"/>
                <a:sym typeface="Arial"/>
              </a:rPr>
              <a:t>法人向け一括対応</a:t>
            </a:r>
            <a:endParaRPr b="0" i="0" sz="1500" u="none" cap="none" strike="noStrike">
              <a:solidFill>
                <a:schemeClr val="dk1"/>
              </a:solidFill>
              <a:latin typeface="Calibri"/>
              <a:ea typeface="Calibri"/>
              <a:cs typeface="Calibri"/>
              <a:sym typeface="Calibri"/>
            </a:endParaRPr>
          </a:p>
        </p:txBody>
      </p:sp>
      <p:sp>
        <p:nvSpPr>
          <p:cNvPr id="144" name="Google Shape;144;p4"/>
          <p:cNvSpPr txBox="1"/>
          <p:nvPr/>
        </p:nvSpPr>
        <p:spPr>
          <a:xfrm>
            <a:off x="8619134" y="2352751"/>
            <a:ext cx="2477110" cy="64831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B5563"/>
              </a:buClr>
              <a:buSzPts val="1000"/>
              <a:buFont typeface="Noto Sans JP"/>
              <a:buNone/>
            </a:pPr>
            <a:r>
              <a:rPr b="0" i="0" lang="en-US" sz="1000" u="none" cap="none" strike="noStrike">
                <a:solidFill>
                  <a:srgbClr val="4B5563"/>
                </a:solidFill>
                <a:latin typeface="Noto Sans JP"/>
                <a:ea typeface="Noto Sans JP"/>
                <a:cs typeface="Noto Sans JP"/>
                <a:sym typeface="Noto Sans JP"/>
              </a:rPr>
              <a:t> 10名〜100名規模まで柔軟に対応。</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B5563"/>
              </a:buClr>
              <a:buSzPts val="1000"/>
              <a:buFont typeface="Noto Sans JP"/>
              <a:buNone/>
            </a:pPr>
            <a:r>
              <a:rPr b="0" i="0" lang="en-US" sz="1000" u="none" cap="none" strike="noStrike">
                <a:solidFill>
                  <a:srgbClr val="4B5563"/>
                </a:solidFill>
                <a:latin typeface="Noto Sans JP"/>
                <a:ea typeface="Noto Sans JP"/>
                <a:cs typeface="Noto Sans JP"/>
                <a:sym typeface="Noto Sans JP"/>
              </a:rPr>
              <a:t> 社員様分を</a:t>
            </a:r>
            <a:r>
              <a:rPr b="1" i="0" lang="en-US" sz="1000" u="none" cap="none" strike="noStrike">
                <a:solidFill>
                  <a:srgbClr val="EA580C"/>
                </a:solidFill>
                <a:latin typeface="Noto Sans JP"/>
                <a:ea typeface="Noto Sans JP"/>
                <a:cs typeface="Noto Sans JP"/>
                <a:sym typeface="Noto Sans JP"/>
              </a:rPr>
              <a:t>まとめて手配・配送</a:t>
            </a:r>
            <a:r>
              <a:rPr b="0" i="0" lang="en-US" sz="1000" u="none" cap="none" strike="noStrike">
                <a:solidFill>
                  <a:srgbClr val="4B5563"/>
                </a:solidFill>
                <a:latin typeface="Noto Sans JP"/>
                <a:ea typeface="Noto Sans JP"/>
                <a:cs typeface="Noto Sans JP"/>
                <a:sym typeface="Noto Sans JP"/>
              </a:rPr>
              <a:t>可能で、</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B5563"/>
              </a:buClr>
              <a:buSzPts val="1000"/>
              <a:buFont typeface="Noto Sans JP"/>
              <a:buNone/>
            </a:pPr>
            <a:r>
              <a:rPr b="0" i="0" lang="en-US" sz="1000" u="none" cap="none" strike="noStrike">
                <a:solidFill>
                  <a:srgbClr val="4B5563"/>
                </a:solidFill>
                <a:latin typeface="Noto Sans JP"/>
                <a:ea typeface="Noto Sans JP"/>
                <a:cs typeface="Noto Sans JP"/>
                <a:sym typeface="Noto Sans JP"/>
              </a:rPr>
              <a:t> 個別の発送業務の手間を省きます。 </a:t>
            </a:r>
            <a:endParaRPr b="0" i="0" sz="1000" u="none" cap="none" strike="noStrike">
              <a:solidFill>
                <a:schemeClr val="dk1"/>
              </a:solidFill>
              <a:latin typeface="Calibri"/>
              <a:ea typeface="Calibri"/>
              <a:cs typeface="Calibri"/>
              <a:sym typeface="Calibri"/>
            </a:endParaRPr>
          </a:p>
        </p:txBody>
      </p:sp>
      <p:sp>
        <p:nvSpPr>
          <p:cNvPr id="145" name="Google Shape;145;p4"/>
          <p:cNvSpPr/>
          <p:nvPr/>
        </p:nvSpPr>
        <p:spPr>
          <a:xfrm>
            <a:off x="571500" y="4025189"/>
            <a:ext cx="11048695" cy="2553005"/>
          </a:xfrm>
          <a:prstGeom prst="roundRect">
            <a:avLst>
              <a:gd fmla="val 4277" name="adj"/>
            </a:avLst>
          </a:prstGeom>
          <a:solidFill>
            <a:srgbClr val="F8FAFC"/>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6" name="Google Shape;146;p4"/>
          <p:cNvPicPr preferRelativeResize="0"/>
          <p:nvPr/>
        </p:nvPicPr>
        <p:blipFill rotWithShape="1">
          <a:blip r:embed="rId7">
            <a:alphaModFix/>
          </a:blip>
          <a:srcRect b="0" l="-14" r="-14" t="0"/>
          <a:stretch/>
        </p:blipFill>
        <p:spPr>
          <a:xfrm>
            <a:off x="952805" y="3891686"/>
            <a:ext cx="1371600" cy="276149"/>
          </a:xfrm>
          <a:prstGeom prst="rect">
            <a:avLst/>
          </a:prstGeom>
          <a:noFill/>
          <a:ln>
            <a:noFill/>
          </a:ln>
        </p:spPr>
      </p:pic>
      <p:sp>
        <p:nvSpPr>
          <p:cNvPr id="147" name="Google Shape;147;p4"/>
          <p:cNvSpPr/>
          <p:nvPr/>
        </p:nvSpPr>
        <p:spPr>
          <a:xfrm>
            <a:off x="923544" y="3891686"/>
            <a:ext cx="1429207" cy="2770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Noto Sans JP"/>
              <a:buNone/>
            </a:pPr>
            <a:r>
              <a:rPr b="1" i="0" lang="en-US" sz="1000" u="none" cap="none" strike="noStrike">
                <a:solidFill>
                  <a:srgbClr val="FFFFFF"/>
                </a:solidFill>
                <a:latin typeface="Noto Sans JP"/>
                <a:ea typeface="Noto Sans JP"/>
                <a:cs typeface="Noto Sans JP"/>
                <a:sym typeface="Noto Sans JP"/>
              </a:rPr>
              <a:t>配送・運用フロー</a:t>
            </a:r>
            <a:endParaRPr b="0" i="0" sz="1000" u="none" cap="none" strike="noStrike">
              <a:solidFill>
                <a:schemeClr val="dk1"/>
              </a:solidFill>
              <a:latin typeface="Calibri"/>
              <a:ea typeface="Calibri"/>
              <a:cs typeface="Calibri"/>
              <a:sym typeface="Calibri"/>
            </a:endParaRPr>
          </a:p>
        </p:txBody>
      </p:sp>
      <p:pic>
        <p:nvPicPr>
          <p:cNvPr descr="preencoded.png" id="148" name="Google Shape;148;p4"/>
          <p:cNvPicPr preferRelativeResize="0"/>
          <p:nvPr/>
        </p:nvPicPr>
        <p:blipFill rotWithShape="1">
          <a:blip r:embed="rId8">
            <a:alphaModFix/>
          </a:blip>
          <a:srcRect b="-413" l="0" r="0" t="-413"/>
          <a:stretch/>
        </p:blipFill>
        <p:spPr>
          <a:xfrm>
            <a:off x="2572207" y="5127041"/>
            <a:ext cx="1206094" cy="19202"/>
          </a:xfrm>
          <a:prstGeom prst="rect">
            <a:avLst/>
          </a:prstGeom>
          <a:noFill/>
          <a:ln>
            <a:noFill/>
          </a:ln>
        </p:spPr>
      </p:pic>
      <p:pic>
        <p:nvPicPr>
          <p:cNvPr descr="preencoded.png" id="149" name="Google Shape;149;p4"/>
          <p:cNvPicPr preferRelativeResize="0"/>
          <p:nvPr/>
        </p:nvPicPr>
        <p:blipFill rotWithShape="1">
          <a:blip r:embed="rId8">
            <a:alphaModFix/>
          </a:blip>
          <a:srcRect b="-419" l="0" r="0" t="-419"/>
          <a:stretch/>
        </p:blipFill>
        <p:spPr>
          <a:xfrm>
            <a:off x="5492801" y="5127041"/>
            <a:ext cx="1206094" cy="19202"/>
          </a:xfrm>
          <a:prstGeom prst="rect">
            <a:avLst/>
          </a:prstGeom>
          <a:noFill/>
          <a:ln>
            <a:noFill/>
          </a:ln>
        </p:spPr>
      </p:pic>
      <p:pic>
        <p:nvPicPr>
          <p:cNvPr descr="preencoded.png" id="150" name="Google Shape;150;p4"/>
          <p:cNvPicPr preferRelativeResize="0"/>
          <p:nvPr/>
        </p:nvPicPr>
        <p:blipFill rotWithShape="1">
          <a:blip r:embed="rId8">
            <a:alphaModFix/>
          </a:blip>
          <a:srcRect b="-419" l="0" r="0" t="-419"/>
          <a:stretch/>
        </p:blipFill>
        <p:spPr>
          <a:xfrm>
            <a:off x="8413394" y="5127041"/>
            <a:ext cx="1206094" cy="19202"/>
          </a:xfrm>
          <a:prstGeom prst="rect">
            <a:avLst/>
          </a:prstGeom>
          <a:noFill/>
          <a:ln>
            <a:noFill/>
          </a:ln>
        </p:spPr>
      </p:pic>
      <p:sp>
        <p:nvSpPr>
          <p:cNvPr id="151" name="Google Shape;151;p4"/>
          <p:cNvSpPr/>
          <p:nvPr/>
        </p:nvSpPr>
        <p:spPr>
          <a:xfrm>
            <a:off x="1410005" y="4717390"/>
            <a:ext cx="609905" cy="609905"/>
          </a:xfrm>
          <a:prstGeom prst="roundRect">
            <a:avLst>
              <a:gd fmla="val 56222" name="adj"/>
            </a:avLst>
          </a:prstGeom>
          <a:solidFill>
            <a:srgbClr val="ECFDF5"/>
          </a:solidFill>
          <a:ln cap="flat" cmpd="sng" w="25400">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2" name="Google Shape;152;p4"/>
          <p:cNvPicPr preferRelativeResize="0"/>
          <p:nvPr/>
        </p:nvPicPr>
        <p:blipFill rotWithShape="1">
          <a:blip r:embed="rId9">
            <a:alphaModFix/>
          </a:blip>
          <a:srcRect b="0" l="-606" r="-606" t="0"/>
          <a:stretch/>
        </p:blipFill>
        <p:spPr>
          <a:xfrm>
            <a:off x="1604772" y="4897526"/>
            <a:ext cx="219456" cy="247802"/>
          </a:xfrm>
          <a:prstGeom prst="rect">
            <a:avLst/>
          </a:prstGeom>
          <a:noFill/>
          <a:ln>
            <a:noFill/>
          </a:ln>
        </p:spPr>
      </p:pic>
      <p:sp>
        <p:nvSpPr>
          <p:cNvPr id="153" name="Google Shape;153;p4"/>
          <p:cNvSpPr txBox="1"/>
          <p:nvPr/>
        </p:nvSpPr>
        <p:spPr>
          <a:xfrm>
            <a:off x="1428293" y="5403190"/>
            <a:ext cx="65745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Noto Sans JP"/>
              <a:buNone/>
            </a:pPr>
            <a:r>
              <a:rPr b="1" i="0" lang="en-US" sz="1100" u="none" cap="none" strike="noStrike">
                <a:solidFill>
                  <a:srgbClr val="1F2937"/>
                </a:solidFill>
                <a:latin typeface="Noto Sans JP"/>
                <a:ea typeface="Noto Sans JP"/>
                <a:cs typeface="Noto Sans JP"/>
                <a:sym typeface="Noto Sans JP"/>
              </a:rPr>
              <a:t>月次確定</a:t>
            </a:r>
            <a:endParaRPr b="0" i="0" sz="1100" u="none" cap="none" strike="noStrike">
              <a:solidFill>
                <a:schemeClr val="dk1"/>
              </a:solidFill>
              <a:latin typeface="Calibri"/>
              <a:ea typeface="Calibri"/>
              <a:cs typeface="Calibri"/>
              <a:sym typeface="Calibri"/>
            </a:endParaRPr>
          </a:p>
        </p:txBody>
      </p:sp>
      <p:sp>
        <p:nvSpPr>
          <p:cNvPr id="154" name="Google Shape;154;p4"/>
          <p:cNvSpPr txBox="1"/>
          <p:nvPr/>
        </p:nvSpPr>
        <p:spPr>
          <a:xfrm>
            <a:off x="1285646" y="5655564"/>
            <a:ext cx="866851" cy="32461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お届け日の調整</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数量の最終確認</a:t>
            </a:r>
            <a:endParaRPr b="0" i="0" sz="900" u="none" cap="none" strike="noStrike">
              <a:solidFill>
                <a:schemeClr val="dk1"/>
              </a:solidFill>
              <a:latin typeface="Calibri"/>
              <a:ea typeface="Calibri"/>
              <a:cs typeface="Calibri"/>
              <a:sym typeface="Calibri"/>
            </a:endParaRPr>
          </a:p>
        </p:txBody>
      </p:sp>
      <p:sp>
        <p:nvSpPr>
          <p:cNvPr id="155" name="Google Shape;155;p4"/>
          <p:cNvSpPr/>
          <p:nvPr/>
        </p:nvSpPr>
        <p:spPr>
          <a:xfrm>
            <a:off x="4330598" y="4717390"/>
            <a:ext cx="609905" cy="609905"/>
          </a:xfrm>
          <a:prstGeom prst="roundRect">
            <a:avLst>
              <a:gd fmla="val 56222" name="adj"/>
            </a:avLst>
          </a:prstGeom>
          <a:solidFill>
            <a:srgbClr val="FFFFFF"/>
          </a:solidFill>
          <a:ln cap="flat" cmpd="sng" w="254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6" name="Google Shape;156;p4"/>
          <p:cNvPicPr preferRelativeResize="0"/>
          <p:nvPr/>
        </p:nvPicPr>
        <p:blipFill rotWithShape="1">
          <a:blip r:embed="rId10">
            <a:alphaModFix/>
          </a:blip>
          <a:srcRect b="0" l="0" r="0" t="0"/>
          <a:stretch/>
        </p:blipFill>
        <p:spPr>
          <a:xfrm>
            <a:off x="4511650" y="4897526"/>
            <a:ext cx="247802" cy="247802"/>
          </a:xfrm>
          <a:prstGeom prst="rect">
            <a:avLst/>
          </a:prstGeom>
          <a:noFill/>
          <a:ln>
            <a:noFill/>
          </a:ln>
        </p:spPr>
      </p:pic>
      <p:sp>
        <p:nvSpPr>
          <p:cNvPr id="157" name="Google Shape;157;p4"/>
          <p:cNvSpPr txBox="1"/>
          <p:nvPr/>
        </p:nvSpPr>
        <p:spPr>
          <a:xfrm>
            <a:off x="4278478" y="5403190"/>
            <a:ext cx="8001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Noto Sans JP"/>
              <a:buNone/>
            </a:pPr>
            <a:r>
              <a:rPr b="1" i="0" lang="en-US" sz="1100" u="none" cap="none" strike="noStrike">
                <a:solidFill>
                  <a:srgbClr val="1F2937"/>
                </a:solidFill>
                <a:latin typeface="Noto Sans JP"/>
                <a:ea typeface="Noto Sans JP"/>
                <a:cs typeface="Noto Sans JP"/>
                <a:sym typeface="Noto Sans JP"/>
              </a:rPr>
              <a:t>選定・収穫</a:t>
            </a:r>
            <a:endParaRPr b="0" i="0" sz="1100" u="none" cap="none" strike="noStrike">
              <a:solidFill>
                <a:schemeClr val="dk1"/>
              </a:solidFill>
              <a:latin typeface="Calibri"/>
              <a:ea typeface="Calibri"/>
              <a:cs typeface="Calibri"/>
              <a:sym typeface="Calibri"/>
            </a:endParaRPr>
          </a:p>
        </p:txBody>
      </p:sp>
      <p:sp>
        <p:nvSpPr>
          <p:cNvPr id="158" name="Google Shape;158;p4"/>
          <p:cNvSpPr txBox="1"/>
          <p:nvPr/>
        </p:nvSpPr>
        <p:spPr>
          <a:xfrm>
            <a:off x="4035247" y="5655564"/>
            <a:ext cx="1209751" cy="32461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プロの目で厳選</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朝採り・産地直送準備</a:t>
            </a:r>
            <a:endParaRPr b="0" i="0" sz="900" u="none" cap="none" strike="noStrike">
              <a:solidFill>
                <a:schemeClr val="dk1"/>
              </a:solidFill>
              <a:latin typeface="Calibri"/>
              <a:ea typeface="Calibri"/>
              <a:cs typeface="Calibri"/>
              <a:sym typeface="Calibri"/>
            </a:endParaRPr>
          </a:p>
        </p:txBody>
      </p:sp>
      <p:sp>
        <p:nvSpPr>
          <p:cNvPr id="159" name="Google Shape;159;p4"/>
          <p:cNvSpPr/>
          <p:nvPr/>
        </p:nvSpPr>
        <p:spPr>
          <a:xfrm>
            <a:off x="7252106" y="4717390"/>
            <a:ext cx="609905" cy="609905"/>
          </a:xfrm>
          <a:prstGeom prst="roundRect">
            <a:avLst>
              <a:gd fmla="val 56222" name="adj"/>
            </a:avLst>
          </a:prstGeom>
          <a:solidFill>
            <a:srgbClr val="FFFFFF"/>
          </a:solidFill>
          <a:ln cap="flat" cmpd="sng" w="254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0" name="Google Shape;160;p4"/>
          <p:cNvPicPr preferRelativeResize="0"/>
          <p:nvPr/>
        </p:nvPicPr>
        <p:blipFill rotWithShape="1">
          <a:blip r:embed="rId11">
            <a:alphaModFix/>
          </a:blip>
          <a:srcRect b="0" l="-606" r="-606" t="0"/>
          <a:stretch/>
        </p:blipFill>
        <p:spPr>
          <a:xfrm>
            <a:off x="7446874" y="4897526"/>
            <a:ext cx="219456" cy="247802"/>
          </a:xfrm>
          <a:prstGeom prst="rect">
            <a:avLst/>
          </a:prstGeom>
          <a:noFill/>
          <a:ln>
            <a:noFill/>
          </a:ln>
        </p:spPr>
      </p:pic>
      <p:sp>
        <p:nvSpPr>
          <p:cNvPr id="161" name="Google Shape;161;p4"/>
          <p:cNvSpPr txBox="1"/>
          <p:nvPr/>
        </p:nvSpPr>
        <p:spPr>
          <a:xfrm>
            <a:off x="7199071" y="5403190"/>
            <a:ext cx="8001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Noto Sans JP"/>
              <a:buNone/>
            </a:pPr>
            <a:r>
              <a:rPr b="1" i="0" lang="en-US" sz="1100" u="none" cap="none" strike="noStrike">
                <a:solidFill>
                  <a:srgbClr val="1F2937"/>
                </a:solidFill>
                <a:latin typeface="Noto Sans JP"/>
                <a:ea typeface="Noto Sans JP"/>
                <a:cs typeface="Noto Sans JP"/>
                <a:sym typeface="Noto Sans JP"/>
              </a:rPr>
              <a:t>出荷・配送</a:t>
            </a:r>
            <a:endParaRPr b="0" i="0" sz="1100" u="none" cap="none" strike="noStrike">
              <a:solidFill>
                <a:schemeClr val="dk1"/>
              </a:solidFill>
              <a:latin typeface="Calibri"/>
              <a:ea typeface="Calibri"/>
              <a:cs typeface="Calibri"/>
              <a:sym typeface="Calibri"/>
            </a:endParaRPr>
          </a:p>
        </p:txBody>
      </p:sp>
      <p:sp>
        <p:nvSpPr>
          <p:cNvPr id="162" name="Google Shape;162;p4"/>
          <p:cNvSpPr txBox="1"/>
          <p:nvPr/>
        </p:nvSpPr>
        <p:spPr>
          <a:xfrm>
            <a:off x="6877202" y="5655564"/>
            <a:ext cx="1362456" cy="32461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温度帯管理（常温/冷蔵）</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丁寧な梱包で発送</a:t>
            </a:r>
            <a:endParaRPr b="0" i="0" sz="900" u="none" cap="none" strike="noStrike">
              <a:solidFill>
                <a:schemeClr val="dk1"/>
              </a:solidFill>
              <a:latin typeface="Calibri"/>
              <a:ea typeface="Calibri"/>
              <a:cs typeface="Calibri"/>
              <a:sym typeface="Calibri"/>
            </a:endParaRPr>
          </a:p>
        </p:txBody>
      </p:sp>
      <p:sp>
        <p:nvSpPr>
          <p:cNvPr id="163" name="Google Shape;163;p4"/>
          <p:cNvSpPr/>
          <p:nvPr/>
        </p:nvSpPr>
        <p:spPr>
          <a:xfrm>
            <a:off x="10172700" y="4717390"/>
            <a:ext cx="609905" cy="609905"/>
          </a:xfrm>
          <a:prstGeom prst="roundRect">
            <a:avLst>
              <a:gd fmla="val 56222" name="adj"/>
            </a:avLst>
          </a:prstGeom>
          <a:solidFill>
            <a:srgbClr val="FFF7ED"/>
          </a:solidFill>
          <a:ln cap="flat" cmpd="sng" w="25400">
            <a:solidFill>
              <a:srgbClr val="FDB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4" name="Google Shape;164;p4"/>
          <p:cNvPicPr preferRelativeResize="0"/>
          <p:nvPr/>
        </p:nvPicPr>
        <p:blipFill rotWithShape="1">
          <a:blip r:embed="rId12">
            <a:alphaModFix/>
          </a:blip>
          <a:srcRect b="0" l="0" r="0" t="0"/>
          <a:stretch/>
        </p:blipFill>
        <p:spPr>
          <a:xfrm>
            <a:off x="10353751" y="4897526"/>
            <a:ext cx="247802" cy="247802"/>
          </a:xfrm>
          <a:prstGeom prst="rect">
            <a:avLst/>
          </a:prstGeom>
          <a:noFill/>
          <a:ln>
            <a:noFill/>
          </a:ln>
        </p:spPr>
      </p:pic>
      <p:sp>
        <p:nvSpPr>
          <p:cNvPr id="165" name="Google Shape;165;p4"/>
          <p:cNvSpPr txBox="1"/>
          <p:nvPr/>
        </p:nvSpPr>
        <p:spPr>
          <a:xfrm>
            <a:off x="10120579" y="5403190"/>
            <a:ext cx="8001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Noto Sans JP"/>
              <a:buNone/>
            </a:pPr>
            <a:r>
              <a:rPr b="1" i="0" lang="en-US" sz="1100" u="none" cap="none" strike="noStrike">
                <a:solidFill>
                  <a:srgbClr val="1F2937"/>
                </a:solidFill>
                <a:latin typeface="Noto Sans JP"/>
                <a:ea typeface="Noto Sans JP"/>
                <a:cs typeface="Noto Sans JP"/>
                <a:sym typeface="Noto Sans JP"/>
              </a:rPr>
              <a:t>到着・配布</a:t>
            </a:r>
            <a:endParaRPr b="0" i="0" sz="1100" u="none" cap="none" strike="noStrike">
              <a:solidFill>
                <a:schemeClr val="dk1"/>
              </a:solidFill>
              <a:latin typeface="Calibri"/>
              <a:ea typeface="Calibri"/>
              <a:cs typeface="Calibri"/>
              <a:sym typeface="Calibri"/>
            </a:endParaRPr>
          </a:p>
        </p:txBody>
      </p:sp>
      <p:sp>
        <p:nvSpPr>
          <p:cNvPr id="166" name="Google Shape;166;p4"/>
          <p:cNvSpPr txBox="1"/>
          <p:nvPr/>
        </p:nvSpPr>
        <p:spPr>
          <a:xfrm>
            <a:off x="10048342" y="5655564"/>
            <a:ext cx="866851" cy="32461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貴社へ一括納品</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社員様へ配布</a:t>
            </a:r>
            <a:endParaRPr b="0" i="0" sz="900" u="none" cap="none" strike="noStrike">
              <a:solidFill>
                <a:schemeClr val="dk1"/>
              </a:solidFill>
              <a:latin typeface="Calibri"/>
              <a:ea typeface="Calibri"/>
              <a:cs typeface="Calibri"/>
              <a:sym typeface="Calibri"/>
            </a:endParaRPr>
          </a:p>
        </p:txBody>
      </p:sp>
      <p:pic>
        <p:nvPicPr>
          <p:cNvPr descr="preencoded.png" id="167" name="Google Shape;167;p4"/>
          <p:cNvPicPr preferRelativeResize="0"/>
          <p:nvPr/>
        </p:nvPicPr>
        <p:blipFill rotWithShape="1">
          <a:blip r:embed="rId13">
            <a:alphaModFix/>
          </a:blip>
          <a:srcRect b="0" l="-200" r="-200" t="0"/>
          <a:stretch/>
        </p:blipFill>
        <p:spPr>
          <a:xfrm>
            <a:off x="0" y="6782105"/>
            <a:ext cx="12191695" cy="75895"/>
          </a:xfrm>
          <a:prstGeom prst="rect">
            <a:avLst/>
          </a:prstGeom>
          <a:noFill/>
          <a:ln>
            <a:noFill/>
          </a:ln>
        </p:spPr>
      </p:pic>
      <p:sp>
        <p:nvSpPr>
          <p:cNvPr id="168" name="Google Shape;168;p4"/>
          <p:cNvSpPr/>
          <p:nvPr/>
        </p:nvSpPr>
        <p:spPr>
          <a:xfrm>
            <a:off x="0" y="0"/>
            <a:ext cx="12191695" cy="8577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4"/>
          <p:cNvSpPr/>
          <p:nvPr/>
        </p:nvSpPr>
        <p:spPr>
          <a:xfrm>
            <a:off x="0" y="838505"/>
            <a:ext cx="12191695" cy="19202"/>
          </a:xfrm>
          <a:prstGeom prst="rect">
            <a:avLst/>
          </a:prstGeom>
          <a:solidFill>
            <a:srgbClr val="FFF7ED"/>
          </a:solidFill>
          <a:ln cap="flat" cmpd="sng" w="12700">
            <a:solidFill>
              <a:srgbClr val="FFF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4"/>
          <p:cNvSpPr txBox="1"/>
          <p:nvPr/>
        </p:nvSpPr>
        <p:spPr>
          <a:xfrm>
            <a:off x="571500" y="331013"/>
            <a:ext cx="3536899"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Arial"/>
              <a:buNone/>
            </a:pPr>
            <a:r>
              <a:rPr b="1" i="0" lang="en-US" sz="2700" u="none" cap="none" strike="noStrike">
                <a:solidFill>
                  <a:srgbClr val="111827"/>
                </a:solidFill>
                <a:latin typeface="Arial"/>
                <a:ea typeface="Arial"/>
                <a:cs typeface="Arial"/>
                <a:sym typeface="Arial"/>
              </a:rPr>
              <a:t>サービスの全体像</a:t>
            </a:r>
            <a:endParaRPr b="0" i="0" sz="2700" u="none" cap="none" strike="noStrike">
              <a:solidFill>
                <a:schemeClr val="dk1"/>
              </a:solidFill>
              <a:latin typeface="Calibri"/>
              <a:ea typeface="Calibri"/>
              <a:cs typeface="Calibri"/>
              <a:sym typeface="Calibri"/>
            </a:endParaRPr>
          </a:p>
        </p:txBody>
      </p:sp>
      <p:sp>
        <p:nvSpPr>
          <p:cNvPr id="171" name="Google Shape;171;p4"/>
          <p:cNvSpPr txBox="1"/>
          <p:nvPr/>
        </p:nvSpPr>
        <p:spPr>
          <a:xfrm>
            <a:off x="9568282" y="448056"/>
            <a:ext cx="2221992"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300"/>
              <a:buFont typeface="Noto Sans JP"/>
              <a:buNone/>
            </a:pPr>
            <a:r>
              <a:rPr b="1" i="0" lang="en-US" sz="1300" u="none" cap="none" strike="noStrike">
                <a:solidFill>
                  <a:srgbClr val="9CA3AF"/>
                </a:solidFill>
                <a:latin typeface="Noto Sans JP"/>
                <a:ea typeface="Noto Sans JP"/>
                <a:cs typeface="Noto Sans JP"/>
                <a:sym typeface="Noto Sans JP"/>
              </a:rPr>
              <a:t>株式会社フードサプライズ</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5"/>
          <p:cNvSpPr/>
          <p:nvPr/>
        </p:nvSpPr>
        <p:spPr>
          <a:xfrm>
            <a:off x="0" y="0"/>
            <a:ext cx="12191695" cy="6858000"/>
          </a:xfrm>
          <a:prstGeom prst="rect">
            <a:avLst/>
          </a:prstGeom>
          <a:solidFill>
            <a:srgbClr val="F3F4F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5"/>
          <p:cNvSpPr/>
          <p:nvPr/>
        </p:nvSpPr>
        <p:spPr>
          <a:xfrm>
            <a:off x="0" y="0"/>
            <a:ext cx="12191695" cy="6858000"/>
          </a:xfrm>
          <a:prstGeom prst="rect">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5"/>
          <p:cNvSpPr/>
          <p:nvPr/>
        </p:nvSpPr>
        <p:spPr>
          <a:xfrm>
            <a:off x="0" y="838505"/>
            <a:ext cx="12191695" cy="19202"/>
          </a:xfrm>
          <a:prstGeom prst="rect">
            <a:avLst/>
          </a:prstGeom>
          <a:solidFill>
            <a:srgbClr val="FFF7ED"/>
          </a:solidFill>
          <a:ln cap="flat" cmpd="sng" w="12700">
            <a:solidFill>
              <a:srgbClr val="FFF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5"/>
          <p:cNvSpPr txBox="1"/>
          <p:nvPr/>
        </p:nvSpPr>
        <p:spPr>
          <a:xfrm>
            <a:off x="571500" y="228600"/>
            <a:ext cx="4748479" cy="514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Arial"/>
              <a:buNone/>
            </a:pPr>
            <a:r>
              <a:rPr b="1" i="0" lang="en-US" sz="2700" u="none" cap="none" strike="noStrike">
                <a:solidFill>
                  <a:srgbClr val="111827"/>
                </a:solidFill>
                <a:latin typeface="Arial"/>
                <a:ea typeface="Arial"/>
                <a:cs typeface="Arial"/>
                <a:sym typeface="Arial"/>
              </a:rPr>
              <a:t>継続運用で生まれる価値</a:t>
            </a:r>
            <a:endParaRPr b="0" i="0" sz="2700" u="none" cap="none" strike="noStrike">
              <a:solidFill>
                <a:schemeClr val="dk1"/>
              </a:solidFill>
              <a:latin typeface="Calibri"/>
              <a:ea typeface="Calibri"/>
              <a:cs typeface="Calibri"/>
              <a:sym typeface="Calibri"/>
            </a:endParaRPr>
          </a:p>
        </p:txBody>
      </p:sp>
      <p:sp>
        <p:nvSpPr>
          <p:cNvPr id="181" name="Google Shape;181;p5"/>
          <p:cNvSpPr txBox="1"/>
          <p:nvPr/>
        </p:nvSpPr>
        <p:spPr>
          <a:xfrm>
            <a:off x="9568282" y="485546"/>
            <a:ext cx="2221992"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300"/>
              <a:buFont typeface="Noto Sans JP"/>
              <a:buNone/>
            </a:pPr>
            <a:r>
              <a:rPr b="1" i="0" lang="en-US" sz="1300" u="none" cap="none" strike="noStrike">
                <a:solidFill>
                  <a:srgbClr val="9CA3AF"/>
                </a:solidFill>
                <a:latin typeface="Noto Sans JP"/>
                <a:ea typeface="Noto Sans JP"/>
                <a:cs typeface="Noto Sans JP"/>
                <a:sym typeface="Noto Sans JP"/>
              </a:rPr>
              <a:t>株式会社フードサプライズ</a:t>
            </a:r>
            <a:endParaRPr b="0" i="0" sz="1300" u="none" cap="none" strike="noStrike">
              <a:solidFill>
                <a:schemeClr val="dk1"/>
              </a:solidFill>
              <a:latin typeface="Calibri"/>
              <a:ea typeface="Calibri"/>
              <a:cs typeface="Calibri"/>
              <a:sym typeface="Calibri"/>
            </a:endParaRPr>
          </a:p>
        </p:txBody>
      </p:sp>
      <p:sp>
        <p:nvSpPr>
          <p:cNvPr id="182" name="Google Shape;182;p5"/>
          <p:cNvSpPr/>
          <p:nvPr/>
        </p:nvSpPr>
        <p:spPr>
          <a:xfrm>
            <a:off x="571500" y="1738274"/>
            <a:ext cx="3429000" cy="1324051"/>
          </a:xfrm>
          <a:prstGeom prst="roundRect">
            <a:avLst>
              <a:gd fmla="val 11924" name="adj"/>
            </a:avLst>
          </a:prstGeom>
          <a:solidFill>
            <a:srgbClr val="F9FAFB"/>
          </a:solidFill>
          <a:ln>
            <a:noFill/>
          </a:ln>
          <a:effectLst>
            <a:outerShdw blurRad="63500" rotWithShape="0" algn="bl" dir="16200000" dist="38100">
              <a:srgbClr val="000000">
                <a:alpha val="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5"/>
          <p:cNvSpPr/>
          <p:nvPr/>
        </p:nvSpPr>
        <p:spPr>
          <a:xfrm>
            <a:off x="571500" y="1738274"/>
            <a:ext cx="57607" cy="1324051"/>
          </a:xfrm>
          <a:prstGeom prst="roundRect">
            <a:avLst>
              <a:gd fmla="val 274067" name="adj"/>
            </a:avLst>
          </a:prstGeom>
          <a:solidFill>
            <a:srgbClr val="F97316"/>
          </a:solidFill>
          <a:ln cap="flat" cmpd="sng" w="12700">
            <a:solidFill>
              <a:srgbClr val="F9731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5"/>
          <p:cNvSpPr txBox="1"/>
          <p:nvPr/>
        </p:nvSpPr>
        <p:spPr>
          <a:xfrm>
            <a:off x="991210" y="1928470"/>
            <a:ext cx="3010205"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500"/>
              <a:buFont typeface="Noto Sans JP"/>
              <a:buNone/>
            </a:pPr>
            <a:r>
              <a:rPr b="1" i="0" lang="en-US" sz="1500" u="none" cap="none" strike="noStrike">
                <a:solidFill>
                  <a:srgbClr val="1F2937"/>
                </a:solidFill>
                <a:latin typeface="Noto Sans JP"/>
                <a:ea typeface="Noto Sans JP"/>
                <a:cs typeface="Noto Sans JP"/>
                <a:sym typeface="Noto Sans JP"/>
              </a:rPr>
              <a:t>年間設計が容易</a:t>
            </a:r>
            <a:endParaRPr b="0" i="0" sz="1500" u="none" cap="none" strike="noStrike">
              <a:solidFill>
                <a:schemeClr val="dk1"/>
              </a:solidFill>
              <a:latin typeface="Calibri"/>
              <a:ea typeface="Calibri"/>
              <a:cs typeface="Calibri"/>
              <a:sym typeface="Calibri"/>
            </a:endParaRPr>
          </a:p>
        </p:txBody>
      </p:sp>
      <p:pic>
        <p:nvPicPr>
          <p:cNvPr descr="preencoded.png" id="185" name="Google Shape;185;p5"/>
          <p:cNvPicPr preferRelativeResize="0"/>
          <p:nvPr/>
        </p:nvPicPr>
        <p:blipFill rotWithShape="1">
          <a:blip r:embed="rId3">
            <a:alphaModFix/>
          </a:blip>
          <a:srcRect b="0" l="-1648" r="-1648" t="0"/>
          <a:stretch/>
        </p:blipFill>
        <p:spPr>
          <a:xfrm>
            <a:off x="819302" y="1976018"/>
            <a:ext cx="171907" cy="190195"/>
          </a:xfrm>
          <a:prstGeom prst="rect">
            <a:avLst/>
          </a:prstGeom>
          <a:noFill/>
          <a:ln>
            <a:noFill/>
          </a:ln>
        </p:spPr>
      </p:pic>
      <p:sp>
        <p:nvSpPr>
          <p:cNvPr id="186" name="Google Shape;186;p5"/>
          <p:cNvSpPr txBox="1"/>
          <p:nvPr/>
        </p:nvSpPr>
        <p:spPr>
          <a:xfrm>
            <a:off x="819302" y="2271370"/>
            <a:ext cx="3067812" cy="60076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B5563"/>
              </a:buClr>
              <a:buSzPts val="1000"/>
              <a:buFont typeface="Noto Sans JP"/>
              <a:buNone/>
            </a:pPr>
            <a:r>
              <a:rPr b="0" i="0" lang="en-US" sz="1000" u="none" cap="none" strike="noStrike">
                <a:solidFill>
                  <a:srgbClr val="4B5563"/>
                </a:solidFill>
                <a:latin typeface="Noto Sans JP"/>
                <a:ea typeface="Noto Sans JP"/>
                <a:cs typeface="Noto Sans JP"/>
                <a:sym typeface="Noto Sans JP"/>
              </a:rPr>
              <a:t>一度スケジュールを組めば、毎回の選定や発注の手間が不要です。福利厚生の「運用工数」を大幅に削減できます。</a:t>
            </a:r>
            <a:endParaRPr b="0" i="0" sz="1000" u="none" cap="none" strike="noStrike">
              <a:solidFill>
                <a:schemeClr val="dk1"/>
              </a:solidFill>
              <a:latin typeface="Calibri"/>
              <a:ea typeface="Calibri"/>
              <a:cs typeface="Calibri"/>
              <a:sym typeface="Calibri"/>
            </a:endParaRPr>
          </a:p>
        </p:txBody>
      </p:sp>
      <p:sp>
        <p:nvSpPr>
          <p:cNvPr id="187" name="Google Shape;187;p5"/>
          <p:cNvSpPr/>
          <p:nvPr/>
        </p:nvSpPr>
        <p:spPr>
          <a:xfrm>
            <a:off x="571500" y="3252521"/>
            <a:ext cx="3429000" cy="1324051"/>
          </a:xfrm>
          <a:prstGeom prst="roundRect">
            <a:avLst>
              <a:gd fmla="val 11924" name="adj"/>
            </a:avLst>
          </a:prstGeom>
          <a:solidFill>
            <a:srgbClr val="F9FAFB"/>
          </a:solidFill>
          <a:ln>
            <a:noFill/>
          </a:ln>
          <a:effectLst>
            <a:outerShdw blurRad="63500" rotWithShape="0" algn="bl" dir="16200000" dist="38100">
              <a:srgbClr val="000000">
                <a:alpha val="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5"/>
          <p:cNvSpPr/>
          <p:nvPr/>
        </p:nvSpPr>
        <p:spPr>
          <a:xfrm>
            <a:off x="571500" y="3252521"/>
            <a:ext cx="57607" cy="1324051"/>
          </a:xfrm>
          <a:prstGeom prst="roundRect">
            <a:avLst>
              <a:gd fmla="val 274067" name="adj"/>
            </a:avLst>
          </a:prstGeom>
          <a:solidFill>
            <a:srgbClr val="F97316"/>
          </a:solidFill>
          <a:ln cap="flat" cmpd="sng" w="12700">
            <a:solidFill>
              <a:srgbClr val="F9731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5"/>
          <p:cNvSpPr txBox="1"/>
          <p:nvPr/>
        </p:nvSpPr>
        <p:spPr>
          <a:xfrm>
            <a:off x="1009498" y="3443630"/>
            <a:ext cx="2991917"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500"/>
              <a:buFont typeface="Noto Sans JP"/>
              <a:buNone/>
            </a:pPr>
            <a:r>
              <a:rPr b="1" i="0" lang="en-US" sz="1500" u="none" cap="none" strike="noStrike">
                <a:solidFill>
                  <a:srgbClr val="1F2937"/>
                </a:solidFill>
                <a:latin typeface="Noto Sans JP"/>
                <a:ea typeface="Noto Sans JP"/>
                <a:cs typeface="Noto Sans JP"/>
                <a:sym typeface="Noto Sans JP"/>
              </a:rPr>
              <a:t>定着と楽しみ</a:t>
            </a:r>
            <a:endParaRPr b="0" i="0" sz="1500" u="none" cap="none" strike="noStrike">
              <a:solidFill>
                <a:schemeClr val="dk1"/>
              </a:solidFill>
              <a:latin typeface="Calibri"/>
              <a:ea typeface="Calibri"/>
              <a:cs typeface="Calibri"/>
              <a:sym typeface="Calibri"/>
            </a:endParaRPr>
          </a:p>
        </p:txBody>
      </p:sp>
      <p:pic>
        <p:nvPicPr>
          <p:cNvPr descr="preencoded.png" id="190" name="Google Shape;190;p5"/>
          <p:cNvPicPr preferRelativeResize="0"/>
          <p:nvPr/>
        </p:nvPicPr>
        <p:blipFill rotWithShape="1">
          <a:blip r:embed="rId4">
            <a:alphaModFix/>
          </a:blip>
          <a:srcRect b="0" l="0" r="0" t="0"/>
          <a:stretch/>
        </p:blipFill>
        <p:spPr>
          <a:xfrm>
            <a:off x="819302" y="3491179"/>
            <a:ext cx="190195" cy="190195"/>
          </a:xfrm>
          <a:prstGeom prst="rect">
            <a:avLst/>
          </a:prstGeom>
          <a:noFill/>
          <a:ln>
            <a:noFill/>
          </a:ln>
        </p:spPr>
      </p:pic>
      <p:sp>
        <p:nvSpPr>
          <p:cNvPr id="191" name="Google Shape;191;p5"/>
          <p:cNvSpPr txBox="1"/>
          <p:nvPr/>
        </p:nvSpPr>
        <p:spPr>
          <a:xfrm>
            <a:off x="819302" y="3786530"/>
            <a:ext cx="3067812" cy="60076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B5563"/>
              </a:buClr>
              <a:buSzPts val="1000"/>
              <a:buFont typeface="Noto Sans JP"/>
              <a:buNone/>
            </a:pPr>
            <a:r>
              <a:rPr b="0" i="0" lang="en-US" sz="1000" u="none" cap="none" strike="noStrike">
                <a:solidFill>
                  <a:srgbClr val="4B5563"/>
                </a:solidFill>
                <a:latin typeface="Noto Sans JP"/>
                <a:ea typeface="Noto Sans JP"/>
                <a:cs typeface="Noto Sans JP"/>
                <a:sym typeface="Noto Sans JP"/>
              </a:rPr>
              <a:t>「次は〇〇が届く」という期待感が醸成され、 従業員満足度が蓄積。実際に2〜3年以上 継続される企業様も多数。</a:t>
            </a:r>
            <a:endParaRPr b="0" i="0" sz="1000" u="none" cap="none" strike="noStrike">
              <a:solidFill>
                <a:schemeClr val="dk1"/>
              </a:solidFill>
              <a:latin typeface="Calibri"/>
              <a:ea typeface="Calibri"/>
              <a:cs typeface="Calibri"/>
              <a:sym typeface="Calibri"/>
            </a:endParaRPr>
          </a:p>
        </p:txBody>
      </p:sp>
      <p:sp>
        <p:nvSpPr>
          <p:cNvPr id="192" name="Google Shape;192;p5"/>
          <p:cNvSpPr/>
          <p:nvPr/>
        </p:nvSpPr>
        <p:spPr>
          <a:xfrm>
            <a:off x="571500" y="4767682"/>
            <a:ext cx="3429000" cy="1324051"/>
          </a:xfrm>
          <a:prstGeom prst="roundRect">
            <a:avLst>
              <a:gd fmla="val 11924" name="adj"/>
            </a:avLst>
          </a:prstGeom>
          <a:solidFill>
            <a:srgbClr val="F9FAFB"/>
          </a:solidFill>
          <a:ln>
            <a:noFill/>
          </a:ln>
          <a:effectLst>
            <a:outerShdw blurRad="63500" rotWithShape="0" algn="bl" dir="16200000" dist="38100">
              <a:srgbClr val="000000">
                <a:alpha val="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5"/>
          <p:cNvSpPr/>
          <p:nvPr/>
        </p:nvSpPr>
        <p:spPr>
          <a:xfrm>
            <a:off x="571500" y="4767682"/>
            <a:ext cx="57607" cy="1324051"/>
          </a:xfrm>
          <a:prstGeom prst="roundRect">
            <a:avLst>
              <a:gd fmla="val 274067" name="adj"/>
            </a:avLst>
          </a:prstGeom>
          <a:solidFill>
            <a:srgbClr val="F97316"/>
          </a:solidFill>
          <a:ln cap="flat" cmpd="sng" w="12700">
            <a:solidFill>
              <a:srgbClr val="F9731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5"/>
          <p:cNvSpPr txBox="1"/>
          <p:nvPr/>
        </p:nvSpPr>
        <p:spPr>
          <a:xfrm>
            <a:off x="1009498" y="4957877"/>
            <a:ext cx="2991917"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500"/>
              <a:buFont typeface="Noto Sans JP"/>
              <a:buNone/>
            </a:pPr>
            <a:r>
              <a:rPr b="1" i="0" lang="en-US" sz="1500" u="none" cap="none" strike="noStrike">
                <a:solidFill>
                  <a:srgbClr val="1F2937"/>
                </a:solidFill>
                <a:latin typeface="Noto Sans JP"/>
                <a:ea typeface="Noto Sans JP"/>
                <a:cs typeface="Noto Sans JP"/>
                <a:sym typeface="Noto Sans JP"/>
              </a:rPr>
              <a:t>柔軟な調整</a:t>
            </a:r>
            <a:endParaRPr b="0" i="0" sz="1500" u="none" cap="none" strike="noStrike">
              <a:solidFill>
                <a:schemeClr val="dk1"/>
              </a:solidFill>
              <a:latin typeface="Calibri"/>
              <a:ea typeface="Calibri"/>
              <a:cs typeface="Calibri"/>
              <a:sym typeface="Calibri"/>
            </a:endParaRPr>
          </a:p>
        </p:txBody>
      </p:sp>
      <p:pic>
        <p:nvPicPr>
          <p:cNvPr descr="preencoded.png" id="195" name="Google Shape;195;p5"/>
          <p:cNvPicPr preferRelativeResize="0"/>
          <p:nvPr/>
        </p:nvPicPr>
        <p:blipFill rotWithShape="1">
          <a:blip r:embed="rId5">
            <a:alphaModFix/>
          </a:blip>
          <a:srcRect b="0" l="0" r="0" t="0"/>
          <a:stretch/>
        </p:blipFill>
        <p:spPr>
          <a:xfrm>
            <a:off x="819302" y="5005426"/>
            <a:ext cx="190195" cy="190195"/>
          </a:xfrm>
          <a:prstGeom prst="rect">
            <a:avLst/>
          </a:prstGeom>
          <a:noFill/>
          <a:ln>
            <a:noFill/>
          </a:ln>
        </p:spPr>
      </p:pic>
      <p:sp>
        <p:nvSpPr>
          <p:cNvPr id="196" name="Google Shape;196;p5"/>
          <p:cNvSpPr txBox="1"/>
          <p:nvPr/>
        </p:nvSpPr>
        <p:spPr>
          <a:xfrm>
            <a:off x="819302" y="5300777"/>
            <a:ext cx="3067812" cy="60076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B5563"/>
              </a:buClr>
              <a:buSzPts val="1000"/>
              <a:buFont typeface="Noto Sans JP"/>
              <a:buNone/>
            </a:pPr>
            <a:r>
              <a:rPr b="0" i="0" lang="en-US" sz="1000" u="none" cap="none" strike="noStrike">
                <a:solidFill>
                  <a:srgbClr val="4B5563"/>
                </a:solidFill>
                <a:latin typeface="Noto Sans JP"/>
                <a:ea typeface="Noto Sans JP"/>
                <a:cs typeface="Noto Sans JP"/>
                <a:sym typeface="Noto Sans JP"/>
              </a:rPr>
              <a:t>繁忙期を避けた配送や、予算に応じた回数の増減など、貴社のカレンダーに合わせたカスタマイズが可能です。</a:t>
            </a:r>
            <a:endParaRPr b="0" i="0" sz="1000" u="none" cap="none" strike="noStrike">
              <a:solidFill>
                <a:schemeClr val="dk1"/>
              </a:solidFill>
              <a:latin typeface="Calibri"/>
              <a:ea typeface="Calibri"/>
              <a:cs typeface="Calibri"/>
              <a:sym typeface="Calibri"/>
            </a:endParaRPr>
          </a:p>
        </p:txBody>
      </p:sp>
      <p:sp>
        <p:nvSpPr>
          <p:cNvPr id="197" name="Google Shape;197;p5"/>
          <p:cNvSpPr/>
          <p:nvPr/>
        </p:nvSpPr>
        <p:spPr>
          <a:xfrm>
            <a:off x="4467758" y="1238098"/>
            <a:ext cx="7153351" cy="5352898"/>
          </a:xfrm>
          <a:prstGeom prst="roundRect">
            <a:avLst>
              <a:gd fmla="val 1459" name="adj"/>
            </a:avLst>
          </a:prstGeom>
          <a:solidFill>
            <a:srgbClr val="FFF7ED"/>
          </a:solidFill>
          <a:ln cap="flat" cmpd="sng" w="25400">
            <a:solidFill>
              <a:srgbClr val="FED7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5"/>
          <p:cNvSpPr txBox="1"/>
          <p:nvPr/>
        </p:nvSpPr>
        <p:spPr>
          <a:xfrm>
            <a:off x="4773168" y="1447495"/>
            <a:ext cx="6544361"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3412"/>
              </a:buClr>
              <a:buSzPts val="1800"/>
              <a:buFont typeface="Arial"/>
              <a:buNone/>
            </a:pPr>
            <a:r>
              <a:rPr b="1" i="0" lang="en-US" sz="1800" u="none" cap="none" strike="noStrike">
                <a:solidFill>
                  <a:srgbClr val="9A3412"/>
                </a:solidFill>
                <a:latin typeface="Arial"/>
                <a:ea typeface="Arial"/>
                <a:cs typeface="Arial"/>
                <a:sym typeface="Arial"/>
              </a:rPr>
              <a:t>年間運用イメージ（例）</a:t>
            </a:r>
            <a:endParaRPr b="0" i="0" sz="1800" u="none" cap="none" strike="noStrike">
              <a:solidFill>
                <a:schemeClr val="dk1"/>
              </a:solidFill>
              <a:latin typeface="Calibri"/>
              <a:ea typeface="Calibri"/>
              <a:cs typeface="Calibri"/>
              <a:sym typeface="Calibri"/>
            </a:endParaRPr>
          </a:p>
        </p:txBody>
      </p:sp>
      <p:sp>
        <p:nvSpPr>
          <p:cNvPr id="199" name="Google Shape;199;p5"/>
          <p:cNvSpPr txBox="1"/>
          <p:nvPr/>
        </p:nvSpPr>
        <p:spPr>
          <a:xfrm>
            <a:off x="4773168" y="1828800"/>
            <a:ext cx="6544361" cy="2002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A580C"/>
              </a:buClr>
              <a:buSzPts val="1000"/>
              <a:buFont typeface="Noto Sans JP"/>
              <a:buNone/>
            </a:pPr>
            <a:r>
              <a:rPr b="0" i="0" lang="en-US" sz="1000" u="none" cap="none" strike="noStrike">
                <a:solidFill>
                  <a:srgbClr val="EA580C"/>
                </a:solidFill>
                <a:latin typeface="Noto Sans JP"/>
                <a:ea typeface="Noto Sans JP"/>
                <a:cs typeface="Noto Sans JP"/>
                <a:sym typeface="Noto Sans JP"/>
              </a:rPr>
              <a:t>旬のリレーで、一年を通して感動をお届けします</a:t>
            </a:r>
            <a:endParaRPr b="0" i="0" sz="1000" u="none" cap="none" strike="noStrike">
              <a:solidFill>
                <a:schemeClr val="dk1"/>
              </a:solidFill>
              <a:latin typeface="Calibri"/>
              <a:ea typeface="Calibri"/>
              <a:cs typeface="Calibri"/>
              <a:sym typeface="Calibri"/>
            </a:endParaRPr>
          </a:p>
        </p:txBody>
      </p:sp>
      <p:sp>
        <p:nvSpPr>
          <p:cNvPr id="200" name="Google Shape;200;p5"/>
          <p:cNvSpPr/>
          <p:nvPr/>
        </p:nvSpPr>
        <p:spPr>
          <a:xfrm>
            <a:off x="7714793" y="6019495"/>
            <a:ext cx="3504895" cy="409651"/>
          </a:xfrm>
          <a:prstGeom prst="roundRect">
            <a:avLst>
              <a:gd fmla="val 223214" name="adj"/>
            </a:avLst>
          </a:prstGeom>
          <a:solidFill>
            <a:srgbClr val="FFFFFF"/>
          </a:solidFill>
          <a:ln cap="flat" cmpd="sng" w="12700">
            <a:solidFill>
              <a:srgbClr val="E5E7EB"/>
            </a:solidFill>
            <a:prstDash val="solid"/>
            <a:round/>
            <a:headEnd len="sm" w="sm" type="none"/>
            <a:tailEnd len="sm" w="sm" type="none"/>
          </a:ln>
          <a:effectLst>
            <a:outerShdw blurRad="101600" rotWithShape="0" algn="bl" dir="16200000" dist="38100">
              <a:srgbClr val="000000">
                <a:alpha val="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1" name="Google Shape;201;p5"/>
          <p:cNvPicPr preferRelativeResize="0"/>
          <p:nvPr/>
        </p:nvPicPr>
        <p:blipFill rotWithShape="1">
          <a:blip r:embed="rId6">
            <a:alphaModFix/>
          </a:blip>
          <a:srcRect b="0" l="0" r="0" t="0"/>
          <a:stretch/>
        </p:blipFill>
        <p:spPr>
          <a:xfrm>
            <a:off x="7915046" y="6129223"/>
            <a:ext cx="190195" cy="190195"/>
          </a:xfrm>
          <a:prstGeom prst="rect">
            <a:avLst/>
          </a:prstGeom>
          <a:noFill/>
          <a:ln>
            <a:noFill/>
          </a:ln>
        </p:spPr>
      </p:pic>
      <p:sp>
        <p:nvSpPr>
          <p:cNvPr id="202" name="Google Shape;202;p5"/>
          <p:cNvSpPr txBox="1"/>
          <p:nvPr/>
        </p:nvSpPr>
        <p:spPr>
          <a:xfrm>
            <a:off x="8219542" y="6019495"/>
            <a:ext cx="2876702"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1000"/>
              <a:buFont typeface="Noto Sans JP"/>
              <a:buNone/>
            </a:pPr>
            <a:r>
              <a:rPr b="1" i="0" lang="en-US" sz="1000" u="none" cap="none" strike="noStrike">
                <a:solidFill>
                  <a:srgbClr val="059669"/>
                </a:solidFill>
                <a:latin typeface="Noto Sans JP"/>
                <a:ea typeface="Noto Sans JP"/>
                <a:cs typeface="Noto Sans JP"/>
                <a:sym typeface="Noto Sans JP"/>
              </a:rPr>
              <a:t>翌年以降は自動更新も可能（運用負担ゼロへ）</a:t>
            </a:r>
            <a:endParaRPr b="0" i="0" sz="1000" u="none" cap="none" strike="noStrike">
              <a:solidFill>
                <a:schemeClr val="dk1"/>
              </a:solidFill>
              <a:latin typeface="Calibri"/>
              <a:ea typeface="Calibri"/>
              <a:cs typeface="Calibri"/>
              <a:sym typeface="Calibri"/>
            </a:endParaRPr>
          </a:p>
        </p:txBody>
      </p:sp>
      <p:pic>
        <p:nvPicPr>
          <p:cNvPr descr="preencoded.png" id="203" name="Google Shape;203;p5"/>
          <p:cNvPicPr preferRelativeResize="0"/>
          <p:nvPr/>
        </p:nvPicPr>
        <p:blipFill rotWithShape="1">
          <a:blip r:embed="rId7">
            <a:alphaModFix/>
          </a:blip>
          <a:srcRect b="0" l="-200" r="-200" t="0"/>
          <a:stretch/>
        </p:blipFill>
        <p:spPr>
          <a:xfrm>
            <a:off x="0" y="6782105"/>
            <a:ext cx="12191695" cy="75895"/>
          </a:xfrm>
          <a:prstGeom prst="rect">
            <a:avLst/>
          </a:prstGeom>
          <a:noFill/>
          <a:ln>
            <a:noFill/>
          </a:ln>
        </p:spPr>
      </p:pic>
      <p:pic>
        <p:nvPicPr>
          <p:cNvPr descr="preencoded.png" id="204" name="Google Shape;204;p5"/>
          <p:cNvPicPr preferRelativeResize="0"/>
          <p:nvPr/>
        </p:nvPicPr>
        <p:blipFill rotWithShape="1">
          <a:blip r:embed="rId8">
            <a:alphaModFix/>
          </a:blip>
          <a:srcRect b="-401" l="0" r="0" t="-401"/>
          <a:stretch/>
        </p:blipFill>
        <p:spPr>
          <a:xfrm>
            <a:off x="5058461" y="4138574"/>
            <a:ext cx="5971032" cy="38405"/>
          </a:xfrm>
          <a:prstGeom prst="rect">
            <a:avLst/>
          </a:prstGeom>
          <a:noFill/>
          <a:ln>
            <a:noFill/>
          </a:ln>
        </p:spPr>
      </p:pic>
      <p:pic>
        <p:nvPicPr>
          <p:cNvPr descr="preencoded.png" id="205" name="Google Shape;205;p5"/>
          <p:cNvPicPr preferRelativeResize="0"/>
          <p:nvPr/>
        </p:nvPicPr>
        <p:blipFill rotWithShape="1">
          <a:blip r:embed="rId9">
            <a:alphaModFix/>
          </a:blip>
          <a:srcRect b="0" l="0" r="0" t="0"/>
          <a:stretch/>
        </p:blipFill>
        <p:spPr>
          <a:xfrm>
            <a:off x="5249570" y="3510382"/>
            <a:ext cx="571500" cy="571500"/>
          </a:xfrm>
          <a:prstGeom prst="rect">
            <a:avLst/>
          </a:prstGeom>
          <a:noFill/>
          <a:ln>
            <a:noFill/>
          </a:ln>
        </p:spPr>
      </p:pic>
      <p:pic>
        <p:nvPicPr>
          <p:cNvPr descr="preencoded.png" id="206" name="Google Shape;206;p5"/>
          <p:cNvPicPr preferRelativeResize="0"/>
          <p:nvPr/>
        </p:nvPicPr>
        <p:blipFill rotWithShape="1">
          <a:blip r:embed="rId10">
            <a:alphaModFix/>
          </a:blip>
          <a:srcRect b="0" l="0" r="0" t="0"/>
          <a:stretch/>
        </p:blipFill>
        <p:spPr>
          <a:xfrm>
            <a:off x="5420563" y="3681374"/>
            <a:ext cx="228600" cy="228600"/>
          </a:xfrm>
          <a:prstGeom prst="rect">
            <a:avLst/>
          </a:prstGeom>
          <a:noFill/>
          <a:ln>
            <a:noFill/>
          </a:ln>
        </p:spPr>
      </p:pic>
      <p:sp>
        <p:nvSpPr>
          <p:cNvPr id="207" name="Google Shape;207;p5"/>
          <p:cNvSpPr txBox="1"/>
          <p:nvPr/>
        </p:nvSpPr>
        <p:spPr>
          <a:xfrm>
            <a:off x="5413248" y="4196182"/>
            <a:ext cx="32461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3412"/>
              </a:buClr>
              <a:buSzPts val="1200"/>
              <a:buFont typeface="Noto Sans JP"/>
              <a:buNone/>
            </a:pPr>
            <a:r>
              <a:rPr b="1" i="0" lang="en-US" sz="1200" u="none" cap="none" strike="noStrike">
                <a:solidFill>
                  <a:srgbClr val="9A3412"/>
                </a:solidFill>
                <a:latin typeface="Noto Sans JP"/>
                <a:ea typeface="Noto Sans JP"/>
                <a:cs typeface="Noto Sans JP"/>
                <a:sym typeface="Noto Sans JP"/>
              </a:rPr>
              <a:t>6月</a:t>
            </a:r>
            <a:endParaRPr b="0" i="0" sz="1200" u="none" cap="none" strike="noStrike">
              <a:solidFill>
                <a:schemeClr val="dk1"/>
              </a:solidFill>
              <a:latin typeface="Calibri"/>
              <a:ea typeface="Calibri"/>
              <a:cs typeface="Calibri"/>
              <a:sym typeface="Calibri"/>
            </a:endParaRPr>
          </a:p>
        </p:txBody>
      </p:sp>
      <p:sp>
        <p:nvSpPr>
          <p:cNvPr id="208" name="Google Shape;208;p5"/>
          <p:cNvSpPr txBox="1"/>
          <p:nvPr/>
        </p:nvSpPr>
        <p:spPr>
          <a:xfrm>
            <a:off x="5220310" y="4462272"/>
            <a:ext cx="638251" cy="342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B5563"/>
              </a:buClr>
              <a:buSzPts val="900"/>
              <a:buFont typeface="Noto Sans JP"/>
              <a:buNone/>
            </a:pPr>
            <a:r>
              <a:rPr b="0" i="0" lang="en-US" sz="900" u="none" cap="none" strike="noStrike">
                <a:solidFill>
                  <a:srgbClr val="4B5563"/>
                </a:solidFill>
                <a:latin typeface="Noto Sans JP"/>
                <a:ea typeface="Noto Sans JP"/>
                <a:cs typeface="Noto Sans JP"/>
                <a:sym typeface="Noto Sans JP"/>
              </a:rPr>
              <a:t>さくらんぼ</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B5563"/>
              </a:buClr>
              <a:buSzPts val="900"/>
              <a:buFont typeface="Noto Sans JP"/>
              <a:buNone/>
            </a:pPr>
            <a:r>
              <a:rPr b="0" i="0" lang="en-US" sz="900" u="none" cap="none" strike="noStrike">
                <a:solidFill>
                  <a:srgbClr val="4B5563"/>
                </a:solidFill>
                <a:latin typeface="Noto Sans JP"/>
                <a:ea typeface="Noto Sans JP"/>
                <a:cs typeface="Noto Sans JP"/>
                <a:sym typeface="Noto Sans JP"/>
              </a:rPr>
              <a:t>（佐藤錦）</a:t>
            </a:r>
            <a:endParaRPr b="0" i="0" sz="900" u="none" cap="none" strike="noStrike">
              <a:solidFill>
                <a:schemeClr val="dk1"/>
              </a:solidFill>
              <a:latin typeface="Calibri"/>
              <a:ea typeface="Calibri"/>
              <a:cs typeface="Calibri"/>
              <a:sym typeface="Calibri"/>
            </a:endParaRPr>
          </a:p>
        </p:txBody>
      </p:sp>
      <p:pic>
        <p:nvPicPr>
          <p:cNvPr descr="preencoded.png" id="209" name="Google Shape;209;p5"/>
          <p:cNvPicPr preferRelativeResize="0"/>
          <p:nvPr/>
        </p:nvPicPr>
        <p:blipFill rotWithShape="1">
          <a:blip r:embed="rId9">
            <a:alphaModFix/>
          </a:blip>
          <a:srcRect b="0" l="0" r="0" t="0"/>
          <a:stretch/>
        </p:blipFill>
        <p:spPr>
          <a:xfrm>
            <a:off x="6504127" y="3510382"/>
            <a:ext cx="571500" cy="571500"/>
          </a:xfrm>
          <a:prstGeom prst="rect">
            <a:avLst/>
          </a:prstGeom>
          <a:noFill/>
          <a:ln>
            <a:noFill/>
          </a:ln>
        </p:spPr>
      </p:pic>
      <p:pic>
        <p:nvPicPr>
          <p:cNvPr descr="preencoded.png" id="210" name="Google Shape;210;p5"/>
          <p:cNvPicPr preferRelativeResize="0"/>
          <p:nvPr/>
        </p:nvPicPr>
        <p:blipFill rotWithShape="1">
          <a:blip r:embed="rId11">
            <a:alphaModFix/>
          </a:blip>
          <a:srcRect b="0" l="-57" r="-57" t="0"/>
          <a:stretch/>
        </p:blipFill>
        <p:spPr>
          <a:xfrm>
            <a:off x="6689750" y="3681374"/>
            <a:ext cx="200254" cy="228600"/>
          </a:xfrm>
          <a:prstGeom prst="rect">
            <a:avLst/>
          </a:prstGeom>
          <a:noFill/>
          <a:ln>
            <a:noFill/>
          </a:ln>
        </p:spPr>
      </p:pic>
      <p:sp>
        <p:nvSpPr>
          <p:cNvPr id="211" name="Google Shape;211;p5"/>
          <p:cNvSpPr txBox="1"/>
          <p:nvPr/>
        </p:nvSpPr>
        <p:spPr>
          <a:xfrm>
            <a:off x="6667805" y="4196182"/>
            <a:ext cx="32461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3412"/>
              </a:buClr>
              <a:buSzPts val="1200"/>
              <a:buFont typeface="Noto Sans JP"/>
              <a:buNone/>
            </a:pPr>
            <a:r>
              <a:rPr b="1" i="0" lang="en-US" sz="1200" u="none" cap="none" strike="noStrike">
                <a:solidFill>
                  <a:srgbClr val="9A3412"/>
                </a:solidFill>
                <a:latin typeface="Noto Sans JP"/>
                <a:ea typeface="Noto Sans JP"/>
                <a:cs typeface="Noto Sans JP"/>
                <a:sym typeface="Noto Sans JP"/>
              </a:rPr>
              <a:t>8月</a:t>
            </a:r>
            <a:endParaRPr b="0" i="0" sz="1200" u="none" cap="none" strike="noStrike">
              <a:solidFill>
                <a:schemeClr val="dk1"/>
              </a:solidFill>
              <a:latin typeface="Calibri"/>
              <a:ea typeface="Calibri"/>
              <a:cs typeface="Calibri"/>
              <a:sym typeface="Calibri"/>
            </a:endParaRPr>
          </a:p>
        </p:txBody>
      </p:sp>
      <p:sp>
        <p:nvSpPr>
          <p:cNvPr id="212" name="Google Shape;212;p5"/>
          <p:cNvSpPr txBox="1"/>
          <p:nvPr/>
        </p:nvSpPr>
        <p:spPr>
          <a:xfrm>
            <a:off x="6474866" y="4462272"/>
            <a:ext cx="638251" cy="342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B5563"/>
              </a:buClr>
              <a:buSzPts val="900"/>
              <a:buFont typeface="Noto Sans JP"/>
              <a:buNone/>
            </a:pPr>
            <a:r>
              <a:rPr b="0" i="0" lang="en-US" sz="900" u="none" cap="none" strike="noStrike">
                <a:solidFill>
                  <a:srgbClr val="4B5563"/>
                </a:solidFill>
                <a:latin typeface="Noto Sans JP"/>
                <a:ea typeface="Noto Sans JP"/>
                <a:cs typeface="Noto Sans JP"/>
                <a:sym typeface="Noto Sans JP"/>
              </a:rPr>
              <a:t>メロン・桃</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B5563"/>
              </a:buClr>
              <a:buSzPts val="900"/>
              <a:buFont typeface="Noto Sans JP"/>
              <a:buNone/>
            </a:pPr>
            <a:r>
              <a:rPr b="0" i="0" lang="en-US" sz="900" u="none" cap="none" strike="noStrike">
                <a:solidFill>
                  <a:srgbClr val="4B5563"/>
                </a:solidFill>
                <a:latin typeface="Noto Sans JP"/>
                <a:ea typeface="Noto Sans JP"/>
                <a:cs typeface="Noto Sans JP"/>
                <a:sym typeface="Noto Sans JP"/>
              </a:rPr>
              <a:t>など</a:t>
            </a:r>
            <a:endParaRPr b="0" i="0" sz="900" u="none" cap="none" strike="noStrike">
              <a:solidFill>
                <a:schemeClr val="dk1"/>
              </a:solidFill>
              <a:latin typeface="Calibri"/>
              <a:ea typeface="Calibri"/>
              <a:cs typeface="Calibri"/>
              <a:sym typeface="Calibri"/>
            </a:endParaRPr>
          </a:p>
        </p:txBody>
      </p:sp>
      <p:pic>
        <p:nvPicPr>
          <p:cNvPr descr="preencoded.png" id="213" name="Google Shape;213;p5"/>
          <p:cNvPicPr preferRelativeResize="0"/>
          <p:nvPr/>
        </p:nvPicPr>
        <p:blipFill rotWithShape="1">
          <a:blip r:embed="rId9">
            <a:alphaModFix/>
          </a:blip>
          <a:srcRect b="0" l="0" r="0" t="0"/>
          <a:stretch/>
        </p:blipFill>
        <p:spPr>
          <a:xfrm>
            <a:off x="7758684" y="3510382"/>
            <a:ext cx="571500" cy="571500"/>
          </a:xfrm>
          <a:prstGeom prst="rect">
            <a:avLst/>
          </a:prstGeom>
          <a:noFill/>
          <a:ln>
            <a:noFill/>
          </a:ln>
        </p:spPr>
      </p:pic>
      <p:pic>
        <p:nvPicPr>
          <p:cNvPr descr="preencoded.png" id="214" name="Google Shape;214;p5"/>
          <p:cNvPicPr preferRelativeResize="0"/>
          <p:nvPr/>
        </p:nvPicPr>
        <p:blipFill rotWithShape="1">
          <a:blip r:embed="rId12">
            <a:alphaModFix/>
          </a:blip>
          <a:srcRect b="0" l="0" r="0" t="0"/>
          <a:stretch/>
        </p:blipFill>
        <p:spPr>
          <a:xfrm>
            <a:off x="7929677" y="3681374"/>
            <a:ext cx="228600" cy="228600"/>
          </a:xfrm>
          <a:prstGeom prst="rect">
            <a:avLst/>
          </a:prstGeom>
          <a:noFill/>
          <a:ln>
            <a:noFill/>
          </a:ln>
        </p:spPr>
      </p:pic>
      <p:sp>
        <p:nvSpPr>
          <p:cNvPr id="215" name="Google Shape;215;p5"/>
          <p:cNvSpPr txBox="1"/>
          <p:nvPr/>
        </p:nvSpPr>
        <p:spPr>
          <a:xfrm>
            <a:off x="7878470" y="4196182"/>
            <a:ext cx="409651"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3412"/>
              </a:buClr>
              <a:buSzPts val="1200"/>
              <a:buFont typeface="Noto Sans JP"/>
              <a:buNone/>
            </a:pPr>
            <a:r>
              <a:rPr b="1" i="0" lang="en-US" sz="1200" u="none" cap="none" strike="noStrike">
                <a:solidFill>
                  <a:srgbClr val="9A3412"/>
                </a:solidFill>
                <a:latin typeface="Noto Sans JP"/>
                <a:ea typeface="Noto Sans JP"/>
                <a:cs typeface="Noto Sans JP"/>
                <a:sym typeface="Noto Sans JP"/>
              </a:rPr>
              <a:t>10月</a:t>
            </a:r>
            <a:endParaRPr b="0" i="0" sz="1200" u="none" cap="none" strike="noStrike">
              <a:solidFill>
                <a:schemeClr val="dk1"/>
              </a:solidFill>
              <a:latin typeface="Calibri"/>
              <a:ea typeface="Calibri"/>
              <a:cs typeface="Calibri"/>
              <a:sym typeface="Calibri"/>
            </a:endParaRPr>
          </a:p>
        </p:txBody>
      </p:sp>
      <p:sp>
        <p:nvSpPr>
          <p:cNvPr id="216" name="Google Shape;216;p5"/>
          <p:cNvSpPr txBox="1"/>
          <p:nvPr/>
        </p:nvSpPr>
        <p:spPr>
          <a:xfrm>
            <a:off x="7729423" y="4462272"/>
            <a:ext cx="638251" cy="342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B5563"/>
              </a:buClr>
              <a:buSzPts val="900"/>
              <a:buFont typeface="Noto Sans JP"/>
              <a:buNone/>
            </a:pPr>
            <a:r>
              <a:rPr b="0" i="0" lang="en-US" sz="900" u="none" cap="none" strike="noStrike">
                <a:solidFill>
                  <a:srgbClr val="4B5563"/>
                </a:solidFill>
                <a:latin typeface="Noto Sans JP"/>
                <a:ea typeface="Noto Sans JP"/>
                <a:cs typeface="Noto Sans JP"/>
                <a:sym typeface="Noto Sans JP"/>
              </a:rPr>
              <a:t>柿</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B5563"/>
              </a:buClr>
              <a:buSzPts val="900"/>
              <a:buFont typeface="Noto Sans JP"/>
              <a:buNone/>
            </a:pPr>
            <a:r>
              <a:rPr b="0" i="0" lang="en-US" sz="900" u="none" cap="none" strike="noStrike">
                <a:solidFill>
                  <a:srgbClr val="4B5563"/>
                </a:solidFill>
                <a:latin typeface="Noto Sans JP"/>
                <a:ea typeface="Noto Sans JP"/>
                <a:cs typeface="Noto Sans JP"/>
                <a:sym typeface="Noto Sans JP"/>
              </a:rPr>
              <a:t>（庄内柿）</a:t>
            </a:r>
            <a:endParaRPr b="0" i="0" sz="900" u="none" cap="none" strike="noStrike">
              <a:solidFill>
                <a:schemeClr val="dk1"/>
              </a:solidFill>
              <a:latin typeface="Calibri"/>
              <a:ea typeface="Calibri"/>
              <a:cs typeface="Calibri"/>
              <a:sym typeface="Calibri"/>
            </a:endParaRPr>
          </a:p>
        </p:txBody>
      </p:sp>
      <p:pic>
        <p:nvPicPr>
          <p:cNvPr descr="preencoded.png" id="217" name="Google Shape;217;p5"/>
          <p:cNvPicPr preferRelativeResize="0"/>
          <p:nvPr/>
        </p:nvPicPr>
        <p:blipFill rotWithShape="1">
          <a:blip r:embed="rId9">
            <a:alphaModFix/>
          </a:blip>
          <a:srcRect b="0" l="0" r="0" t="0"/>
          <a:stretch/>
        </p:blipFill>
        <p:spPr>
          <a:xfrm>
            <a:off x="9013241" y="3510382"/>
            <a:ext cx="571500" cy="571500"/>
          </a:xfrm>
          <a:prstGeom prst="rect">
            <a:avLst/>
          </a:prstGeom>
          <a:noFill/>
          <a:ln>
            <a:noFill/>
          </a:ln>
        </p:spPr>
      </p:pic>
      <p:pic>
        <p:nvPicPr>
          <p:cNvPr descr="preencoded.png" id="218" name="Google Shape;218;p5"/>
          <p:cNvPicPr preferRelativeResize="0"/>
          <p:nvPr/>
        </p:nvPicPr>
        <p:blipFill rotWithShape="1">
          <a:blip r:embed="rId13">
            <a:alphaModFix/>
          </a:blip>
          <a:srcRect b="0" l="0" r="0" t="0"/>
          <a:stretch/>
        </p:blipFill>
        <p:spPr>
          <a:xfrm>
            <a:off x="9184234" y="3681374"/>
            <a:ext cx="228600" cy="228600"/>
          </a:xfrm>
          <a:prstGeom prst="rect">
            <a:avLst/>
          </a:prstGeom>
          <a:noFill/>
          <a:ln>
            <a:noFill/>
          </a:ln>
        </p:spPr>
      </p:pic>
      <p:sp>
        <p:nvSpPr>
          <p:cNvPr id="219" name="Google Shape;219;p5"/>
          <p:cNvSpPr txBox="1"/>
          <p:nvPr/>
        </p:nvSpPr>
        <p:spPr>
          <a:xfrm>
            <a:off x="9133027" y="4196182"/>
            <a:ext cx="409651"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3412"/>
              </a:buClr>
              <a:buSzPts val="1200"/>
              <a:buFont typeface="Noto Sans JP"/>
              <a:buNone/>
            </a:pPr>
            <a:r>
              <a:rPr b="1" i="0" lang="en-US" sz="1200" u="none" cap="none" strike="noStrike">
                <a:solidFill>
                  <a:srgbClr val="9A3412"/>
                </a:solidFill>
                <a:latin typeface="Noto Sans JP"/>
                <a:ea typeface="Noto Sans JP"/>
                <a:cs typeface="Noto Sans JP"/>
                <a:sym typeface="Noto Sans JP"/>
              </a:rPr>
              <a:t>11月</a:t>
            </a:r>
            <a:endParaRPr b="0" i="0" sz="1200" u="none" cap="none" strike="noStrike">
              <a:solidFill>
                <a:schemeClr val="dk1"/>
              </a:solidFill>
              <a:latin typeface="Calibri"/>
              <a:ea typeface="Calibri"/>
              <a:cs typeface="Calibri"/>
              <a:sym typeface="Calibri"/>
            </a:endParaRPr>
          </a:p>
        </p:txBody>
      </p:sp>
      <p:sp>
        <p:nvSpPr>
          <p:cNvPr id="220" name="Google Shape;220;p5"/>
          <p:cNvSpPr txBox="1"/>
          <p:nvPr/>
        </p:nvSpPr>
        <p:spPr>
          <a:xfrm>
            <a:off x="8928202" y="4462272"/>
            <a:ext cx="743407" cy="342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B5563"/>
              </a:buClr>
              <a:buSzPts val="900"/>
              <a:buFont typeface="Noto Sans JP"/>
              <a:buNone/>
            </a:pPr>
            <a:r>
              <a:rPr b="0" i="0" lang="en-US" sz="900" u="none" cap="none" strike="noStrike">
                <a:solidFill>
                  <a:srgbClr val="4B5563"/>
                </a:solidFill>
                <a:latin typeface="Noto Sans JP"/>
                <a:ea typeface="Noto Sans JP"/>
                <a:cs typeface="Noto Sans JP"/>
                <a:sym typeface="Noto Sans JP"/>
              </a:rPr>
              <a:t>ラ・フランス</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B5563"/>
              </a:buClr>
              <a:buSzPts val="900"/>
              <a:buFont typeface="Noto Sans JP"/>
              <a:buNone/>
            </a:pPr>
            <a:r>
              <a:rPr b="0" i="0" lang="en-US" sz="900" u="none" cap="none" strike="noStrike">
                <a:solidFill>
                  <a:srgbClr val="4B5563"/>
                </a:solidFill>
                <a:latin typeface="Noto Sans JP"/>
                <a:ea typeface="Noto Sans JP"/>
                <a:cs typeface="Noto Sans JP"/>
                <a:sym typeface="Noto Sans JP"/>
              </a:rPr>
              <a:t>りんご</a:t>
            </a:r>
            <a:endParaRPr b="0" i="0" sz="900" u="none" cap="none" strike="noStrike">
              <a:solidFill>
                <a:schemeClr val="dk1"/>
              </a:solidFill>
              <a:latin typeface="Calibri"/>
              <a:ea typeface="Calibri"/>
              <a:cs typeface="Calibri"/>
              <a:sym typeface="Calibri"/>
            </a:endParaRPr>
          </a:p>
        </p:txBody>
      </p:sp>
      <p:pic>
        <p:nvPicPr>
          <p:cNvPr descr="preencoded.png" id="221" name="Google Shape;221;p5"/>
          <p:cNvPicPr preferRelativeResize="0"/>
          <p:nvPr/>
        </p:nvPicPr>
        <p:blipFill rotWithShape="1">
          <a:blip r:embed="rId9">
            <a:alphaModFix/>
          </a:blip>
          <a:srcRect b="0" l="0" r="0" t="0"/>
          <a:stretch/>
        </p:blipFill>
        <p:spPr>
          <a:xfrm>
            <a:off x="10267798" y="3510382"/>
            <a:ext cx="571500" cy="571500"/>
          </a:xfrm>
          <a:prstGeom prst="rect">
            <a:avLst/>
          </a:prstGeom>
          <a:noFill/>
          <a:ln>
            <a:noFill/>
          </a:ln>
        </p:spPr>
      </p:pic>
      <p:pic>
        <p:nvPicPr>
          <p:cNvPr descr="preencoded.png" id="222" name="Google Shape;222;p5"/>
          <p:cNvPicPr preferRelativeResize="0"/>
          <p:nvPr/>
        </p:nvPicPr>
        <p:blipFill rotWithShape="1">
          <a:blip r:embed="rId14">
            <a:alphaModFix/>
          </a:blip>
          <a:srcRect b="0" l="-57" r="-57" t="0"/>
          <a:stretch/>
        </p:blipFill>
        <p:spPr>
          <a:xfrm>
            <a:off x="10453421" y="3681374"/>
            <a:ext cx="200254" cy="228600"/>
          </a:xfrm>
          <a:prstGeom prst="rect">
            <a:avLst/>
          </a:prstGeom>
          <a:noFill/>
          <a:ln>
            <a:noFill/>
          </a:ln>
        </p:spPr>
      </p:pic>
      <p:sp>
        <p:nvSpPr>
          <p:cNvPr id="223" name="Google Shape;223;p5"/>
          <p:cNvSpPr txBox="1"/>
          <p:nvPr/>
        </p:nvSpPr>
        <p:spPr>
          <a:xfrm>
            <a:off x="10387584" y="4196182"/>
            <a:ext cx="409651"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3412"/>
              </a:buClr>
              <a:buSzPts val="1200"/>
              <a:buFont typeface="Noto Sans JP"/>
              <a:buNone/>
            </a:pPr>
            <a:r>
              <a:rPr b="1" i="0" lang="en-US" sz="1200" u="none" cap="none" strike="noStrike">
                <a:solidFill>
                  <a:srgbClr val="9A3412"/>
                </a:solidFill>
                <a:latin typeface="Noto Sans JP"/>
                <a:ea typeface="Noto Sans JP"/>
                <a:cs typeface="Noto Sans JP"/>
                <a:sym typeface="Noto Sans JP"/>
              </a:rPr>
              <a:t>12月</a:t>
            </a:r>
            <a:endParaRPr b="0" i="0" sz="1200" u="none" cap="none" strike="noStrike">
              <a:solidFill>
                <a:schemeClr val="dk1"/>
              </a:solidFill>
              <a:latin typeface="Calibri"/>
              <a:ea typeface="Calibri"/>
              <a:cs typeface="Calibri"/>
              <a:sym typeface="Calibri"/>
            </a:endParaRPr>
          </a:p>
        </p:txBody>
      </p:sp>
      <p:sp>
        <p:nvSpPr>
          <p:cNvPr id="224" name="Google Shape;224;p5"/>
          <p:cNvSpPr txBox="1"/>
          <p:nvPr/>
        </p:nvSpPr>
        <p:spPr>
          <a:xfrm>
            <a:off x="10239451" y="4462272"/>
            <a:ext cx="638251" cy="342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B5563"/>
              </a:buClr>
              <a:buSzPts val="900"/>
              <a:buFont typeface="Noto Sans JP"/>
              <a:buNone/>
            </a:pPr>
            <a:r>
              <a:rPr b="0" i="0" lang="en-US" sz="900" u="none" cap="none" strike="noStrike">
                <a:solidFill>
                  <a:srgbClr val="4B5563"/>
                </a:solidFill>
                <a:latin typeface="Noto Sans JP"/>
                <a:ea typeface="Noto Sans JP"/>
                <a:cs typeface="Noto Sans JP"/>
                <a:sym typeface="Noto Sans JP"/>
              </a:rPr>
              <a:t>サンふじ</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B5563"/>
              </a:buClr>
              <a:buSzPts val="900"/>
              <a:buFont typeface="Noto Sans JP"/>
              <a:buNone/>
            </a:pPr>
            <a:r>
              <a:rPr b="0" i="0" lang="en-US" sz="900" u="none" cap="none" strike="noStrike">
                <a:solidFill>
                  <a:srgbClr val="4B5563"/>
                </a:solidFill>
                <a:latin typeface="Noto Sans JP"/>
                <a:ea typeface="Noto Sans JP"/>
                <a:cs typeface="Noto Sans JP"/>
                <a:sym typeface="Noto Sans JP"/>
              </a:rPr>
              <a:t>（贈答用）</a:t>
            </a:r>
            <a:endParaRPr b="0" i="0" sz="900" u="none" cap="none" strike="noStrike">
              <a:solidFill>
                <a:schemeClr val="dk1"/>
              </a:solidFill>
              <a:latin typeface="Calibri"/>
              <a:ea typeface="Calibri"/>
              <a:cs typeface="Calibri"/>
              <a:sym typeface="Calibri"/>
            </a:endParaRPr>
          </a:p>
        </p:txBody>
      </p:sp>
      <p:sp>
        <p:nvSpPr>
          <p:cNvPr id="225" name="Google Shape;225;p5"/>
          <p:cNvSpPr/>
          <p:nvPr/>
        </p:nvSpPr>
        <p:spPr>
          <a:xfrm>
            <a:off x="6960413" y="2218334"/>
            <a:ext cx="1990649" cy="286207"/>
          </a:xfrm>
          <a:prstGeom prst="roundRect">
            <a:avLst>
              <a:gd fmla="val 170394" name="adj"/>
            </a:avLst>
          </a:prstGeom>
          <a:solidFill>
            <a:srgbClr val="10B981"/>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txBox="1"/>
          <p:nvPr/>
        </p:nvSpPr>
        <p:spPr>
          <a:xfrm>
            <a:off x="7093915" y="2275942"/>
            <a:ext cx="1862633"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Noto Sans JP"/>
              <a:buNone/>
            </a:pPr>
            <a:r>
              <a:rPr b="1" i="0" lang="en-US" sz="900" u="none" cap="none" strike="noStrike">
                <a:solidFill>
                  <a:srgbClr val="FFFFFF"/>
                </a:solidFill>
                <a:latin typeface="Noto Sans JP"/>
                <a:ea typeface="Noto Sans JP"/>
                <a:cs typeface="Noto Sans JP"/>
                <a:sym typeface="Noto Sans JP"/>
              </a:rPr>
              <a:t>配送月・回数は自由に調整可能！</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6"/>
          <p:cNvSpPr/>
          <p:nvPr/>
        </p:nvSpPr>
        <p:spPr>
          <a:xfrm>
            <a:off x="0" y="0"/>
            <a:ext cx="12191695" cy="6858000"/>
          </a:xfrm>
          <a:prstGeom prst="rect">
            <a:avLst/>
          </a:prstGeom>
          <a:solidFill>
            <a:srgbClr val="F3F4F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6"/>
          <p:cNvSpPr/>
          <p:nvPr/>
        </p:nvSpPr>
        <p:spPr>
          <a:xfrm>
            <a:off x="0" y="0"/>
            <a:ext cx="12191695" cy="6858000"/>
          </a:xfrm>
          <a:prstGeom prst="rect">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6"/>
          <p:cNvSpPr/>
          <p:nvPr/>
        </p:nvSpPr>
        <p:spPr>
          <a:xfrm>
            <a:off x="0" y="838505"/>
            <a:ext cx="12191695" cy="19202"/>
          </a:xfrm>
          <a:prstGeom prst="rect">
            <a:avLst/>
          </a:prstGeom>
          <a:solidFill>
            <a:srgbClr val="FFF7ED"/>
          </a:solidFill>
          <a:ln cap="flat" cmpd="sng" w="12700">
            <a:solidFill>
              <a:srgbClr val="FFF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6"/>
          <p:cNvSpPr txBox="1"/>
          <p:nvPr/>
        </p:nvSpPr>
        <p:spPr>
          <a:xfrm>
            <a:off x="571500" y="228600"/>
            <a:ext cx="3749040" cy="514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Arial"/>
              <a:buNone/>
            </a:pPr>
            <a:r>
              <a:rPr b="1" i="0" lang="en-US" sz="2700" u="none" cap="none" strike="noStrike">
                <a:solidFill>
                  <a:srgbClr val="111827"/>
                </a:solidFill>
                <a:latin typeface="Arial"/>
                <a:ea typeface="Arial"/>
                <a:cs typeface="Arial"/>
                <a:sym typeface="Arial"/>
              </a:rPr>
              <a:t>選ばれる3つの理由</a:t>
            </a:r>
            <a:endParaRPr b="0" i="0" sz="2700" u="none" cap="none" strike="noStrike">
              <a:solidFill>
                <a:schemeClr val="dk1"/>
              </a:solidFill>
              <a:latin typeface="Calibri"/>
              <a:ea typeface="Calibri"/>
              <a:cs typeface="Calibri"/>
              <a:sym typeface="Calibri"/>
            </a:endParaRPr>
          </a:p>
        </p:txBody>
      </p:sp>
      <p:sp>
        <p:nvSpPr>
          <p:cNvPr id="236" name="Google Shape;236;p6"/>
          <p:cNvSpPr txBox="1"/>
          <p:nvPr/>
        </p:nvSpPr>
        <p:spPr>
          <a:xfrm>
            <a:off x="9568282" y="485546"/>
            <a:ext cx="2221992"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300"/>
              <a:buFont typeface="Noto Sans JP"/>
              <a:buNone/>
            </a:pPr>
            <a:r>
              <a:rPr b="1" i="0" lang="en-US" sz="1300" u="none" cap="none" strike="noStrike">
                <a:solidFill>
                  <a:srgbClr val="9CA3AF"/>
                </a:solidFill>
                <a:latin typeface="Noto Sans JP"/>
                <a:ea typeface="Noto Sans JP"/>
                <a:cs typeface="Noto Sans JP"/>
                <a:sym typeface="Noto Sans JP"/>
              </a:rPr>
              <a:t>株式会社フードサプライズ</a:t>
            </a:r>
            <a:endParaRPr b="0" i="0" sz="1300" u="none" cap="none" strike="noStrike">
              <a:solidFill>
                <a:schemeClr val="dk1"/>
              </a:solidFill>
              <a:latin typeface="Calibri"/>
              <a:ea typeface="Calibri"/>
              <a:cs typeface="Calibri"/>
              <a:sym typeface="Calibri"/>
            </a:endParaRPr>
          </a:p>
        </p:txBody>
      </p:sp>
      <p:sp>
        <p:nvSpPr>
          <p:cNvPr id="237" name="Google Shape;237;p6"/>
          <p:cNvSpPr txBox="1"/>
          <p:nvPr/>
        </p:nvSpPr>
        <p:spPr>
          <a:xfrm>
            <a:off x="476402" y="1238098"/>
            <a:ext cx="11239805" cy="400507"/>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A580C"/>
              </a:buClr>
              <a:buSzPts val="2100"/>
              <a:buFont typeface="Arial"/>
              <a:buNone/>
            </a:pPr>
            <a:r>
              <a:rPr b="1" i="0" lang="en-US" sz="2100" u="none" cap="none" strike="noStrike">
                <a:solidFill>
                  <a:srgbClr val="EA580C"/>
                </a:solidFill>
                <a:latin typeface="Arial"/>
                <a:ea typeface="Arial"/>
                <a:cs typeface="Arial"/>
                <a:sym typeface="Arial"/>
              </a:rPr>
              <a:t>貴社に「確かなメリット」をご提供します</a:t>
            </a:r>
            <a:endParaRPr b="0" i="0" sz="2100" u="none" cap="none" strike="noStrike">
              <a:solidFill>
                <a:schemeClr val="dk1"/>
              </a:solidFill>
              <a:latin typeface="Calibri"/>
              <a:ea typeface="Calibri"/>
              <a:cs typeface="Calibri"/>
              <a:sym typeface="Calibri"/>
            </a:endParaRPr>
          </a:p>
        </p:txBody>
      </p:sp>
      <p:sp>
        <p:nvSpPr>
          <p:cNvPr id="238" name="Google Shape;238;p6"/>
          <p:cNvSpPr txBox="1"/>
          <p:nvPr/>
        </p:nvSpPr>
        <p:spPr>
          <a:xfrm>
            <a:off x="476402" y="1752905"/>
            <a:ext cx="11239805"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1200"/>
              <a:buFont typeface="Noto Sans JP"/>
              <a:buNone/>
            </a:pPr>
            <a:r>
              <a:rPr b="0" i="0" lang="en-US" sz="1200" u="none" cap="none" strike="noStrike">
                <a:solidFill>
                  <a:srgbClr val="4B5563"/>
                </a:solidFill>
                <a:latin typeface="Noto Sans JP"/>
                <a:ea typeface="Noto Sans JP"/>
                <a:cs typeface="Noto Sans JP"/>
                <a:sym typeface="Noto Sans JP"/>
              </a:rPr>
              <a:t>単なる物品購入にとどまらない、導入効果を最大化する3つのポイント</a:t>
            </a:r>
            <a:endParaRPr b="0" i="0" sz="1200" u="none" cap="none" strike="noStrike">
              <a:solidFill>
                <a:schemeClr val="dk1"/>
              </a:solidFill>
              <a:latin typeface="Calibri"/>
              <a:ea typeface="Calibri"/>
              <a:cs typeface="Calibri"/>
              <a:sym typeface="Calibri"/>
            </a:endParaRPr>
          </a:p>
        </p:txBody>
      </p:sp>
      <p:pic>
        <p:nvPicPr>
          <p:cNvPr descr="preencoded.png" id="239" name="Google Shape;239;p6"/>
          <p:cNvPicPr preferRelativeResize="0"/>
          <p:nvPr/>
        </p:nvPicPr>
        <p:blipFill rotWithShape="1">
          <a:blip r:embed="rId3">
            <a:alphaModFix/>
          </a:blip>
          <a:srcRect b="0" l="0" r="0" t="0"/>
          <a:stretch/>
        </p:blipFill>
        <p:spPr>
          <a:xfrm>
            <a:off x="571500" y="2361895"/>
            <a:ext cx="3492094" cy="4376318"/>
          </a:xfrm>
          <a:prstGeom prst="rect">
            <a:avLst/>
          </a:prstGeom>
          <a:noFill/>
          <a:ln>
            <a:noFill/>
          </a:ln>
        </p:spPr>
      </p:pic>
      <p:sp>
        <p:nvSpPr>
          <p:cNvPr id="240" name="Google Shape;240;p6"/>
          <p:cNvSpPr/>
          <p:nvPr/>
        </p:nvSpPr>
        <p:spPr>
          <a:xfrm>
            <a:off x="580644" y="2371954"/>
            <a:ext cx="3476549" cy="1333195"/>
          </a:xfrm>
          <a:prstGeom prst="roundRect">
            <a:avLst>
              <a:gd fmla="val 15677" name="adj"/>
            </a:avLst>
          </a:prstGeom>
          <a:solidFill>
            <a:srgbClr val="ECFDF5"/>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6"/>
          <p:cNvSpPr/>
          <p:nvPr/>
        </p:nvSpPr>
        <p:spPr>
          <a:xfrm>
            <a:off x="771754" y="2562149"/>
            <a:ext cx="304495" cy="304495"/>
          </a:xfrm>
          <a:prstGeom prst="ellipse">
            <a:avLst/>
          </a:prstGeom>
          <a:solidFill>
            <a:srgbClr val="10B981"/>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6"/>
          <p:cNvSpPr/>
          <p:nvPr/>
        </p:nvSpPr>
        <p:spPr>
          <a:xfrm>
            <a:off x="733349" y="2562149"/>
            <a:ext cx="381305" cy="305410"/>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Noto Sans JP"/>
              <a:buNone/>
            </a:pPr>
            <a:r>
              <a:rPr b="1" i="0" lang="en-US" sz="1300" u="none" cap="none" strike="noStrike">
                <a:solidFill>
                  <a:srgbClr val="FFFFFF"/>
                </a:solidFill>
                <a:latin typeface="Noto Sans JP"/>
                <a:ea typeface="Noto Sans JP"/>
                <a:cs typeface="Noto Sans JP"/>
                <a:sym typeface="Noto Sans JP"/>
              </a:rPr>
              <a:t>1</a:t>
            </a:r>
            <a:endParaRPr b="0" i="0" sz="1300" u="none" cap="none" strike="noStrike">
              <a:solidFill>
                <a:schemeClr val="dk1"/>
              </a:solidFill>
              <a:latin typeface="Calibri"/>
              <a:ea typeface="Calibri"/>
              <a:cs typeface="Calibri"/>
              <a:sym typeface="Calibri"/>
            </a:endParaRPr>
          </a:p>
        </p:txBody>
      </p:sp>
      <p:pic>
        <p:nvPicPr>
          <p:cNvPr descr="preencoded.png" id="243" name="Google Shape;243;p6"/>
          <p:cNvPicPr preferRelativeResize="0"/>
          <p:nvPr/>
        </p:nvPicPr>
        <p:blipFill rotWithShape="1">
          <a:blip r:embed="rId4">
            <a:alphaModFix/>
          </a:blip>
          <a:srcRect b="-25" l="0" r="0" t="-25"/>
          <a:stretch/>
        </p:blipFill>
        <p:spPr>
          <a:xfrm>
            <a:off x="2089404" y="2771546"/>
            <a:ext cx="457200" cy="609905"/>
          </a:xfrm>
          <a:prstGeom prst="rect">
            <a:avLst/>
          </a:prstGeom>
          <a:noFill/>
          <a:ln>
            <a:noFill/>
          </a:ln>
        </p:spPr>
      </p:pic>
      <p:sp>
        <p:nvSpPr>
          <p:cNvPr id="244" name="Google Shape;244;p6"/>
          <p:cNvSpPr/>
          <p:nvPr/>
        </p:nvSpPr>
        <p:spPr>
          <a:xfrm>
            <a:off x="809244" y="4420210"/>
            <a:ext cx="3019349" cy="19202"/>
          </a:xfrm>
          <a:prstGeom prst="rect">
            <a:avLst/>
          </a:prstGeom>
          <a:solidFill>
            <a:srgbClr val="F3F4F6"/>
          </a:solidFill>
          <a:ln cap="flat" cmpd="sng" w="12700">
            <a:solidFill>
              <a:srgbClr val="F3F4F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6"/>
          <p:cNvSpPr txBox="1"/>
          <p:nvPr/>
        </p:nvSpPr>
        <p:spPr>
          <a:xfrm>
            <a:off x="769925" y="3991356"/>
            <a:ext cx="3098902" cy="314554"/>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Clr>
                <a:srgbClr val="1F2937"/>
              </a:buClr>
              <a:buSzPts val="1600"/>
              <a:buFont typeface="Arial"/>
              <a:buNone/>
            </a:pPr>
            <a:r>
              <a:rPr b="1" i="0" lang="en-US" sz="1600" u="none" cap="none" strike="noStrike">
                <a:solidFill>
                  <a:srgbClr val="1F2937"/>
                </a:solidFill>
                <a:latin typeface="Arial"/>
                <a:ea typeface="Arial"/>
                <a:cs typeface="Arial"/>
                <a:sym typeface="Arial"/>
              </a:rPr>
              <a:t>税務メリットの可能性</a:t>
            </a:r>
            <a:endParaRPr b="0" i="0" sz="1600" u="none" cap="none" strike="noStrike">
              <a:solidFill>
                <a:schemeClr val="dk1"/>
              </a:solidFill>
              <a:latin typeface="Calibri"/>
              <a:ea typeface="Calibri"/>
              <a:cs typeface="Calibri"/>
              <a:sym typeface="Calibri"/>
            </a:endParaRPr>
          </a:p>
        </p:txBody>
      </p:sp>
      <p:sp>
        <p:nvSpPr>
          <p:cNvPr id="246" name="Google Shape;246;p6"/>
          <p:cNvSpPr txBox="1"/>
          <p:nvPr/>
        </p:nvSpPr>
        <p:spPr>
          <a:xfrm>
            <a:off x="809244" y="4591202"/>
            <a:ext cx="3096158" cy="128656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B5563"/>
              </a:buClr>
              <a:buSzPts val="1100"/>
              <a:buFont typeface="Noto Sans JP"/>
              <a:buNone/>
            </a:pPr>
            <a:r>
              <a:rPr b="0" i="0" lang="en-US" sz="1100" u="none" cap="none" strike="noStrike">
                <a:solidFill>
                  <a:srgbClr val="4B5563"/>
                </a:solidFill>
                <a:latin typeface="Noto Sans JP"/>
                <a:ea typeface="Noto Sans JP"/>
                <a:cs typeface="Noto Sans JP"/>
                <a:sym typeface="Noto Sans JP"/>
              </a:rPr>
              <a:t>現金手当ではなく現物支給という形を 取ることで、税務上の扱いが変わるケースが ございます。福利厚生費として計上しやすい 等の理由から導入される企業様も 増えております。</a:t>
            </a:r>
            <a:endParaRPr b="0" i="0" sz="1100" u="none" cap="none" strike="noStrike">
              <a:solidFill>
                <a:schemeClr val="dk1"/>
              </a:solidFill>
              <a:latin typeface="Calibri"/>
              <a:ea typeface="Calibri"/>
              <a:cs typeface="Calibri"/>
              <a:sym typeface="Calibri"/>
            </a:endParaRPr>
          </a:p>
        </p:txBody>
      </p:sp>
      <p:sp>
        <p:nvSpPr>
          <p:cNvPr id="247" name="Google Shape;247;p6"/>
          <p:cNvSpPr/>
          <p:nvPr/>
        </p:nvSpPr>
        <p:spPr>
          <a:xfrm>
            <a:off x="809244" y="6029554"/>
            <a:ext cx="3019349" cy="418795"/>
          </a:xfrm>
          <a:prstGeom prst="roundRect">
            <a:avLst>
              <a:gd fmla="val 79397" name="adj"/>
            </a:avLst>
          </a:prstGeom>
          <a:solidFill>
            <a:srgbClr val="ECFDF5"/>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8" name="Google Shape;248;p6"/>
          <p:cNvPicPr preferRelativeResize="0"/>
          <p:nvPr/>
        </p:nvPicPr>
        <p:blipFill rotWithShape="1">
          <a:blip r:embed="rId5">
            <a:alphaModFix/>
          </a:blip>
          <a:srcRect b="0" l="0" r="0" t="0"/>
          <a:stretch/>
        </p:blipFill>
        <p:spPr>
          <a:xfrm>
            <a:off x="923544" y="6160313"/>
            <a:ext cx="152705" cy="152705"/>
          </a:xfrm>
          <a:prstGeom prst="rect">
            <a:avLst/>
          </a:prstGeom>
          <a:noFill/>
          <a:ln>
            <a:noFill/>
          </a:ln>
        </p:spPr>
      </p:pic>
      <p:sp>
        <p:nvSpPr>
          <p:cNvPr id="249" name="Google Shape;249;p6"/>
          <p:cNvSpPr txBox="1"/>
          <p:nvPr/>
        </p:nvSpPr>
        <p:spPr>
          <a:xfrm>
            <a:off x="1115568" y="6029554"/>
            <a:ext cx="1942186" cy="4197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47857"/>
              </a:buClr>
              <a:buSzPts val="900"/>
              <a:buFont typeface="Noto Sans JP"/>
              <a:buNone/>
            </a:pPr>
            <a:r>
              <a:rPr b="1" i="0" lang="en-US" sz="900" u="none" cap="none" strike="noStrike">
                <a:solidFill>
                  <a:srgbClr val="047857"/>
                </a:solidFill>
                <a:latin typeface="Noto Sans JP"/>
                <a:ea typeface="Noto Sans JP"/>
                <a:cs typeface="Noto Sans JP"/>
                <a:sym typeface="Noto Sans JP"/>
              </a:rPr>
              <a:t>※顧問税理士様へご確認ください</a:t>
            </a:r>
            <a:endParaRPr b="0" i="0" sz="900" u="none" cap="none" strike="noStrike">
              <a:solidFill>
                <a:schemeClr val="dk1"/>
              </a:solidFill>
              <a:latin typeface="Calibri"/>
              <a:ea typeface="Calibri"/>
              <a:cs typeface="Calibri"/>
              <a:sym typeface="Calibri"/>
            </a:endParaRPr>
          </a:p>
        </p:txBody>
      </p:sp>
      <p:pic>
        <p:nvPicPr>
          <p:cNvPr descr="preencoded.png" id="250" name="Google Shape;250;p6"/>
          <p:cNvPicPr preferRelativeResize="0"/>
          <p:nvPr/>
        </p:nvPicPr>
        <p:blipFill rotWithShape="1">
          <a:blip r:embed="rId6">
            <a:alphaModFix/>
          </a:blip>
          <a:srcRect b="-2" l="0" r="0" t="-2"/>
          <a:stretch/>
        </p:blipFill>
        <p:spPr>
          <a:xfrm>
            <a:off x="4349801" y="2361895"/>
            <a:ext cx="3492094" cy="4376318"/>
          </a:xfrm>
          <a:prstGeom prst="rect">
            <a:avLst/>
          </a:prstGeom>
          <a:noFill/>
          <a:ln>
            <a:noFill/>
          </a:ln>
        </p:spPr>
      </p:pic>
      <p:sp>
        <p:nvSpPr>
          <p:cNvPr id="251" name="Google Shape;251;p6"/>
          <p:cNvSpPr/>
          <p:nvPr/>
        </p:nvSpPr>
        <p:spPr>
          <a:xfrm>
            <a:off x="4358945" y="2371954"/>
            <a:ext cx="3476549" cy="1333195"/>
          </a:xfrm>
          <a:prstGeom prst="roundRect">
            <a:avLst>
              <a:gd fmla="val 15677" name="adj"/>
            </a:avLst>
          </a:prstGeom>
          <a:solidFill>
            <a:srgbClr val="FFF7ED"/>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6"/>
          <p:cNvSpPr/>
          <p:nvPr/>
        </p:nvSpPr>
        <p:spPr>
          <a:xfrm>
            <a:off x="4550054" y="2562149"/>
            <a:ext cx="304495" cy="304495"/>
          </a:xfrm>
          <a:prstGeom prst="ellipse">
            <a:avLst/>
          </a:prstGeom>
          <a:solidFill>
            <a:srgbClr val="F9731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6"/>
          <p:cNvSpPr/>
          <p:nvPr/>
        </p:nvSpPr>
        <p:spPr>
          <a:xfrm>
            <a:off x="4511650" y="2562149"/>
            <a:ext cx="381305" cy="305410"/>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Noto Sans JP"/>
              <a:buNone/>
            </a:pPr>
            <a:r>
              <a:rPr b="1" i="0" lang="en-US" sz="1300" u="none" cap="none" strike="noStrike">
                <a:solidFill>
                  <a:srgbClr val="FFFFFF"/>
                </a:solidFill>
                <a:latin typeface="Noto Sans JP"/>
                <a:ea typeface="Noto Sans JP"/>
                <a:cs typeface="Noto Sans JP"/>
                <a:sym typeface="Noto Sans JP"/>
              </a:rPr>
              <a:t>2</a:t>
            </a:r>
            <a:endParaRPr b="0" i="0" sz="1300" u="none" cap="none" strike="noStrike">
              <a:solidFill>
                <a:schemeClr val="dk1"/>
              </a:solidFill>
              <a:latin typeface="Calibri"/>
              <a:ea typeface="Calibri"/>
              <a:cs typeface="Calibri"/>
              <a:sym typeface="Calibri"/>
            </a:endParaRPr>
          </a:p>
        </p:txBody>
      </p:sp>
      <p:pic>
        <p:nvPicPr>
          <p:cNvPr descr="preencoded.png" id="254" name="Google Shape;254;p6"/>
          <p:cNvPicPr preferRelativeResize="0"/>
          <p:nvPr/>
        </p:nvPicPr>
        <p:blipFill rotWithShape="1">
          <a:blip r:embed="rId7">
            <a:alphaModFix/>
          </a:blip>
          <a:srcRect b="-25" l="0" r="0" t="-25"/>
          <a:stretch/>
        </p:blipFill>
        <p:spPr>
          <a:xfrm>
            <a:off x="5753405" y="2771546"/>
            <a:ext cx="685800" cy="609905"/>
          </a:xfrm>
          <a:prstGeom prst="rect">
            <a:avLst/>
          </a:prstGeom>
          <a:noFill/>
          <a:ln>
            <a:noFill/>
          </a:ln>
        </p:spPr>
      </p:pic>
      <p:sp>
        <p:nvSpPr>
          <p:cNvPr id="255" name="Google Shape;255;p6"/>
          <p:cNvSpPr/>
          <p:nvPr/>
        </p:nvSpPr>
        <p:spPr>
          <a:xfrm>
            <a:off x="4587545" y="4420210"/>
            <a:ext cx="3019349" cy="19202"/>
          </a:xfrm>
          <a:prstGeom prst="rect">
            <a:avLst/>
          </a:prstGeom>
          <a:solidFill>
            <a:srgbClr val="F3F4F6"/>
          </a:solidFill>
          <a:ln cap="flat" cmpd="sng" w="12700">
            <a:solidFill>
              <a:srgbClr val="F3F4F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6"/>
          <p:cNvSpPr txBox="1"/>
          <p:nvPr/>
        </p:nvSpPr>
        <p:spPr>
          <a:xfrm>
            <a:off x="4548226" y="3991356"/>
            <a:ext cx="3098902" cy="314554"/>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Clr>
                <a:srgbClr val="1F2937"/>
              </a:buClr>
              <a:buSzPts val="1600"/>
              <a:buFont typeface="Arial"/>
              <a:buNone/>
            </a:pPr>
            <a:r>
              <a:rPr b="1" i="0" lang="en-US" sz="1600" u="none" cap="none" strike="noStrike">
                <a:solidFill>
                  <a:srgbClr val="1F2937"/>
                </a:solidFill>
                <a:latin typeface="Arial"/>
                <a:ea typeface="Arial"/>
                <a:cs typeface="Arial"/>
                <a:sym typeface="Arial"/>
              </a:rPr>
              <a:t>ご家族満足度の向上</a:t>
            </a:r>
            <a:endParaRPr b="0" i="0" sz="1600" u="none" cap="none" strike="noStrike">
              <a:solidFill>
                <a:schemeClr val="dk1"/>
              </a:solidFill>
              <a:latin typeface="Calibri"/>
              <a:ea typeface="Calibri"/>
              <a:cs typeface="Calibri"/>
              <a:sym typeface="Calibri"/>
            </a:endParaRPr>
          </a:p>
        </p:txBody>
      </p:sp>
      <p:sp>
        <p:nvSpPr>
          <p:cNvPr id="257" name="Google Shape;257;p6"/>
          <p:cNvSpPr txBox="1"/>
          <p:nvPr/>
        </p:nvSpPr>
        <p:spPr>
          <a:xfrm>
            <a:off x="4587545" y="4591202"/>
            <a:ext cx="3096158" cy="128656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B5563"/>
              </a:buClr>
              <a:buSzPts val="1100"/>
              <a:buFont typeface="Noto Sans JP"/>
              <a:buNone/>
            </a:pPr>
            <a:r>
              <a:rPr b="0" i="0" lang="en-US" sz="1100" u="none" cap="none" strike="noStrike">
                <a:solidFill>
                  <a:srgbClr val="4B5563"/>
                </a:solidFill>
                <a:latin typeface="Noto Sans JP"/>
                <a:ea typeface="Noto Sans JP"/>
                <a:cs typeface="Noto Sans JP"/>
                <a:sym typeface="Noto Sans JP"/>
              </a:rPr>
              <a:t>「会社から果物が届いた」とご家庭内で 話題になりやすく、社員様ご本人だけでなく ご家族にも喜ばれます。結果として、 企業イメージの向上や帰属意識の醸成に つながったというお声を頂戴しています。</a:t>
            </a:r>
            <a:endParaRPr b="0" i="0" sz="1100" u="none" cap="none" strike="noStrike">
              <a:solidFill>
                <a:schemeClr val="dk1"/>
              </a:solidFill>
              <a:latin typeface="Calibri"/>
              <a:ea typeface="Calibri"/>
              <a:cs typeface="Calibri"/>
              <a:sym typeface="Calibri"/>
            </a:endParaRPr>
          </a:p>
        </p:txBody>
      </p:sp>
      <p:sp>
        <p:nvSpPr>
          <p:cNvPr id="258" name="Google Shape;258;p6"/>
          <p:cNvSpPr/>
          <p:nvPr/>
        </p:nvSpPr>
        <p:spPr>
          <a:xfrm>
            <a:off x="4587545" y="6029554"/>
            <a:ext cx="3019349" cy="418795"/>
          </a:xfrm>
          <a:prstGeom prst="roundRect">
            <a:avLst>
              <a:gd fmla="val 79397" name="adj"/>
            </a:avLst>
          </a:prstGeom>
          <a:solidFill>
            <a:srgbClr val="FFF7ED"/>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9" name="Google Shape;259;p6"/>
          <p:cNvPicPr preferRelativeResize="0"/>
          <p:nvPr/>
        </p:nvPicPr>
        <p:blipFill rotWithShape="1">
          <a:blip r:embed="rId8">
            <a:alphaModFix/>
          </a:blip>
          <a:srcRect b="0" l="0" r="0" t="0"/>
          <a:stretch/>
        </p:blipFill>
        <p:spPr>
          <a:xfrm>
            <a:off x="4701845" y="6160313"/>
            <a:ext cx="152705" cy="152705"/>
          </a:xfrm>
          <a:prstGeom prst="rect">
            <a:avLst/>
          </a:prstGeom>
          <a:noFill/>
          <a:ln>
            <a:noFill/>
          </a:ln>
        </p:spPr>
      </p:pic>
      <p:sp>
        <p:nvSpPr>
          <p:cNvPr id="260" name="Google Shape;260;p6"/>
          <p:cNvSpPr txBox="1"/>
          <p:nvPr/>
        </p:nvSpPr>
        <p:spPr>
          <a:xfrm>
            <a:off x="4902098" y="6029554"/>
            <a:ext cx="1305763" cy="4197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2410C"/>
              </a:buClr>
              <a:buSzPts val="900"/>
              <a:buFont typeface="Noto Sans JP"/>
              <a:buNone/>
            </a:pPr>
            <a:r>
              <a:rPr b="1" i="0" lang="en-US" sz="900" u="none" cap="none" strike="noStrike">
                <a:solidFill>
                  <a:srgbClr val="C2410C"/>
                </a:solidFill>
                <a:latin typeface="Noto Sans JP"/>
                <a:ea typeface="Noto Sans JP"/>
                <a:cs typeface="Noto Sans JP"/>
                <a:sym typeface="Noto Sans JP"/>
              </a:rPr>
              <a:t>家族公認の福利厚生へ</a:t>
            </a:r>
            <a:endParaRPr b="0" i="0" sz="900" u="none" cap="none" strike="noStrike">
              <a:solidFill>
                <a:schemeClr val="dk1"/>
              </a:solidFill>
              <a:latin typeface="Calibri"/>
              <a:ea typeface="Calibri"/>
              <a:cs typeface="Calibri"/>
              <a:sym typeface="Calibri"/>
            </a:endParaRPr>
          </a:p>
        </p:txBody>
      </p:sp>
      <p:pic>
        <p:nvPicPr>
          <p:cNvPr descr="preencoded.png" id="261" name="Google Shape;261;p6"/>
          <p:cNvPicPr preferRelativeResize="0"/>
          <p:nvPr/>
        </p:nvPicPr>
        <p:blipFill rotWithShape="1">
          <a:blip r:embed="rId3">
            <a:alphaModFix/>
          </a:blip>
          <a:srcRect b="0" l="0" r="0" t="0"/>
          <a:stretch/>
        </p:blipFill>
        <p:spPr>
          <a:xfrm>
            <a:off x="8128102" y="2361895"/>
            <a:ext cx="3492094" cy="4376318"/>
          </a:xfrm>
          <a:prstGeom prst="rect">
            <a:avLst/>
          </a:prstGeom>
          <a:noFill/>
          <a:ln>
            <a:noFill/>
          </a:ln>
        </p:spPr>
      </p:pic>
      <p:sp>
        <p:nvSpPr>
          <p:cNvPr id="262" name="Google Shape;262;p6"/>
          <p:cNvSpPr/>
          <p:nvPr/>
        </p:nvSpPr>
        <p:spPr>
          <a:xfrm>
            <a:off x="8137246" y="2371954"/>
            <a:ext cx="3476549" cy="1333195"/>
          </a:xfrm>
          <a:prstGeom prst="roundRect">
            <a:avLst>
              <a:gd fmla="val 15677" name="adj"/>
            </a:avLst>
          </a:prstGeom>
          <a:solidFill>
            <a:srgbClr val="EFF6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6"/>
          <p:cNvSpPr/>
          <p:nvPr/>
        </p:nvSpPr>
        <p:spPr>
          <a:xfrm>
            <a:off x="8328355" y="2562149"/>
            <a:ext cx="304495" cy="304495"/>
          </a:xfrm>
          <a:prstGeom prst="ellipse">
            <a:avLst/>
          </a:prstGeom>
          <a:solidFill>
            <a:srgbClr val="3B82F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6"/>
          <p:cNvSpPr/>
          <p:nvPr/>
        </p:nvSpPr>
        <p:spPr>
          <a:xfrm>
            <a:off x="8289950" y="2562149"/>
            <a:ext cx="381305" cy="305410"/>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Noto Sans JP"/>
              <a:buNone/>
            </a:pPr>
            <a:r>
              <a:rPr b="1" i="0" lang="en-US" sz="1300" u="none" cap="none" strike="noStrike">
                <a:solidFill>
                  <a:srgbClr val="FFFFFF"/>
                </a:solidFill>
                <a:latin typeface="Noto Sans JP"/>
                <a:ea typeface="Noto Sans JP"/>
                <a:cs typeface="Noto Sans JP"/>
                <a:sym typeface="Noto Sans JP"/>
              </a:rPr>
              <a:t>3</a:t>
            </a:r>
            <a:endParaRPr b="0" i="0" sz="1300" u="none" cap="none" strike="noStrike">
              <a:solidFill>
                <a:schemeClr val="dk1"/>
              </a:solidFill>
              <a:latin typeface="Calibri"/>
              <a:ea typeface="Calibri"/>
              <a:cs typeface="Calibri"/>
              <a:sym typeface="Calibri"/>
            </a:endParaRPr>
          </a:p>
        </p:txBody>
      </p:sp>
      <p:pic>
        <p:nvPicPr>
          <p:cNvPr descr="preencoded.png" id="265" name="Google Shape;265;p6"/>
          <p:cNvPicPr preferRelativeResize="0"/>
          <p:nvPr/>
        </p:nvPicPr>
        <p:blipFill rotWithShape="1">
          <a:blip r:embed="rId9">
            <a:alphaModFix/>
          </a:blip>
          <a:srcRect b="0" l="0" r="0" t="0"/>
          <a:stretch/>
        </p:blipFill>
        <p:spPr>
          <a:xfrm>
            <a:off x="9569196" y="2771546"/>
            <a:ext cx="609905" cy="609905"/>
          </a:xfrm>
          <a:prstGeom prst="rect">
            <a:avLst/>
          </a:prstGeom>
          <a:noFill/>
          <a:ln>
            <a:noFill/>
          </a:ln>
        </p:spPr>
      </p:pic>
      <p:sp>
        <p:nvSpPr>
          <p:cNvPr id="266" name="Google Shape;266;p6"/>
          <p:cNvSpPr/>
          <p:nvPr/>
        </p:nvSpPr>
        <p:spPr>
          <a:xfrm>
            <a:off x="8365846" y="4420210"/>
            <a:ext cx="3019349" cy="19202"/>
          </a:xfrm>
          <a:prstGeom prst="rect">
            <a:avLst/>
          </a:prstGeom>
          <a:solidFill>
            <a:srgbClr val="F3F4F6"/>
          </a:solidFill>
          <a:ln cap="flat" cmpd="sng" w="12700">
            <a:solidFill>
              <a:srgbClr val="F3F4F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6"/>
          <p:cNvSpPr txBox="1"/>
          <p:nvPr/>
        </p:nvSpPr>
        <p:spPr>
          <a:xfrm>
            <a:off x="8326526" y="3991356"/>
            <a:ext cx="3098902" cy="314554"/>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Clr>
                <a:srgbClr val="1F2937"/>
              </a:buClr>
              <a:buSzPts val="1600"/>
              <a:buFont typeface="Arial"/>
              <a:buNone/>
            </a:pPr>
            <a:r>
              <a:rPr b="1" i="0" lang="en-US" sz="1600" u="none" cap="none" strike="noStrike">
                <a:solidFill>
                  <a:srgbClr val="1F2937"/>
                </a:solidFill>
                <a:latin typeface="Arial"/>
                <a:ea typeface="Arial"/>
                <a:cs typeface="Arial"/>
                <a:sym typeface="Arial"/>
              </a:rPr>
              <a:t>安定供給の体制</a:t>
            </a:r>
            <a:endParaRPr b="0" i="0" sz="1600" u="none" cap="none" strike="noStrike">
              <a:solidFill>
                <a:schemeClr val="dk1"/>
              </a:solidFill>
              <a:latin typeface="Calibri"/>
              <a:ea typeface="Calibri"/>
              <a:cs typeface="Calibri"/>
              <a:sym typeface="Calibri"/>
            </a:endParaRPr>
          </a:p>
        </p:txBody>
      </p:sp>
      <p:sp>
        <p:nvSpPr>
          <p:cNvPr id="268" name="Google Shape;268;p6"/>
          <p:cNvSpPr txBox="1"/>
          <p:nvPr/>
        </p:nvSpPr>
        <p:spPr>
          <a:xfrm>
            <a:off x="8365846" y="4591202"/>
            <a:ext cx="3096158" cy="128656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B5563"/>
              </a:buClr>
              <a:buSzPts val="1100"/>
              <a:buFont typeface="Noto Sans JP"/>
              <a:buNone/>
            </a:pPr>
            <a:r>
              <a:rPr b="0" i="0" lang="en-US" sz="1100" u="none" cap="none" strike="noStrike">
                <a:solidFill>
                  <a:srgbClr val="4B5563"/>
                </a:solidFill>
                <a:latin typeface="Noto Sans JP"/>
                <a:ea typeface="Noto Sans JP"/>
                <a:cs typeface="Noto Sans JP"/>
                <a:sym typeface="Noto Sans JP"/>
              </a:rPr>
              <a:t>長年の産地ネットワークにより、不作時でも 在庫を確保できる強みがあります。過去の 米不足時にも、他社で欠品が相次ぐ中、 弊社は法人需要へ安定供給を行った実績が ございます。</a:t>
            </a:r>
            <a:endParaRPr b="0" i="0" sz="1100" u="none" cap="none" strike="noStrike">
              <a:solidFill>
                <a:schemeClr val="dk1"/>
              </a:solidFill>
              <a:latin typeface="Calibri"/>
              <a:ea typeface="Calibri"/>
              <a:cs typeface="Calibri"/>
              <a:sym typeface="Calibri"/>
            </a:endParaRPr>
          </a:p>
        </p:txBody>
      </p:sp>
      <p:sp>
        <p:nvSpPr>
          <p:cNvPr id="269" name="Google Shape;269;p6"/>
          <p:cNvSpPr/>
          <p:nvPr/>
        </p:nvSpPr>
        <p:spPr>
          <a:xfrm>
            <a:off x="8365846" y="6029554"/>
            <a:ext cx="3019349" cy="418795"/>
          </a:xfrm>
          <a:prstGeom prst="roundRect">
            <a:avLst>
              <a:gd fmla="val 79397" name="adj"/>
            </a:avLst>
          </a:prstGeom>
          <a:solidFill>
            <a:srgbClr val="EFF6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0" name="Google Shape;270;p6"/>
          <p:cNvPicPr preferRelativeResize="0"/>
          <p:nvPr/>
        </p:nvPicPr>
        <p:blipFill rotWithShape="1">
          <a:blip r:embed="rId10">
            <a:alphaModFix/>
          </a:blip>
          <a:srcRect b="0" l="0" r="0" t="0"/>
          <a:stretch/>
        </p:blipFill>
        <p:spPr>
          <a:xfrm>
            <a:off x="8480146" y="6160313"/>
            <a:ext cx="152705" cy="152705"/>
          </a:xfrm>
          <a:prstGeom prst="rect">
            <a:avLst/>
          </a:prstGeom>
          <a:noFill/>
          <a:ln>
            <a:noFill/>
          </a:ln>
        </p:spPr>
      </p:pic>
      <p:sp>
        <p:nvSpPr>
          <p:cNvPr id="271" name="Google Shape;271;p6"/>
          <p:cNvSpPr txBox="1"/>
          <p:nvPr/>
        </p:nvSpPr>
        <p:spPr>
          <a:xfrm>
            <a:off x="8679485" y="6029554"/>
            <a:ext cx="1555394" cy="4197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4ED8"/>
              </a:buClr>
              <a:buSzPts val="900"/>
              <a:buFont typeface="Noto Sans JP"/>
              <a:buNone/>
            </a:pPr>
            <a:r>
              <a:rPr b="1" i="0" lang="en-US" sz="900" u="none" cap="none" strike="noStrike">
                <a:solidFill>
                  <a:srgbClr val="1D4ED8"/>
                </a:solidFill>
                <a:latin typeface="Noto Sans JP"/>
                <a:ea typeface="Noto Sans JP"/>
                <a:cs typeface="Noto Sans JP"/>
                <a:sym typeface="Noto Sans JP"/>
              </a:rPr>
              <a:t>万が一の時も安心の供給力</a:t>
            </a:r>
            <a:endParaRPr b="0" i="0" sz="900" u="none" cap="none" strike="noStrike">
              <a:solidFill>
                <a:schemeClr val="dk1"/>
              </a:solidFill>
              <a:latin typeface="Calibri"/>
              <a:ea typeface="Calibri"/>
              <a:cs typeface="Calibri"/>
              <a:sym typeface="Calibri"/>
            </a:endParaRPr>
          </a:p>
        </p:txBody>
      </p:sp>
      <p:pic>
        <p:nvPicPr>
          <p:cNvPr descr="preencoded.png" id="272" name="Google Shape;272;p6"/>
          <p:cNvPicPr preferRelativeResize="0"/>
          <p:nvPr/>
        </p:nvPicPr>
        <p:blipFill rotWithShape="1">
          <a:blip r:embed="rId11">
            <a:alphaModFix/>
          </a:blip>
          <a:srcRect b="0" l="-200" r="-200" t="0"/>
          <a:stretch/>
        </p:blipFill>
        <p:spPr>
          <a:xfrm>
            <a:off x="0" y="6782105"/>
            <a:ext cx="12191695" cy="7589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7"/>
          <p:cNvSpPr/>
          <p:nvPr/>
        </p:nvSpPr>
        <p:spPr>
          <a:xfrm>
            <a:off x="0" y="0"/>
            <a:ext cx="12191695" cy="6858000"/>
          </a:xfrm>
          <a:prstGeom prst="rect">
            <a:avLst/>
          </a:prstGeom>
          <a:solidFill>
            <a:srgbClr val="F3F4F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7"/>
          <p:cNvSpPr/>
          <p:nvPr/>
        </p:nvSpPr>
        <p:spPr>
          <a:xfrm>
            <a:off x="0" y="0"/>
            <a:ext cx="12191695" cy="6858000"/>
          </a:xfrm>
          <a:prstGeom prst="rect">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7"/>
          <p:cNvSpPr txBox="1"/>
          <p:nvPr/>
        </p:nvSpPr>
        <p:spPr>
          <a:xfrm>
            <a:off x="571500" y="1047902"/>
            <a:ext cx="5524805"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580C"/>
              </a:buClr>
              <a:buSzPts val="1800"/>
              <a:buFont typeface="Arial"/>
              <a:buNone/>
            </a:pPr>
            <a:r>
              <a:rPr b="1" i="0" lang="en-US" sz="1800" u="none" cap="none" strike="noStrike">
                <a:solidFill>
                  <a:srgbClr val="EA580C"/>
                </a:solidFill>
                <a:latin typeface="Arial"/>
                <a:ea typeface="Arial"/>
                <a:cs typeface="Arial"/>
                <a:sym typeface="Arial"/>
              </a:rPr>
              <a:t>基本の2コース</a:t>
            </a:r>
            <a:endParaRPr b="0" i="0" sz="1800" u="none" cap="none" strike="noStrike">
              <a:solidFill>
                <a:schemeClr val="dk1"/>
              </a:solidFill>
              <a:latin typeface="Calibri"/>
              <a:ea typeface="Calibri"/>
              <a:cs typeface="Calibri"/>
              <a:sym typeface="Calibri"/>
            </a:endParaRPr>
          </a:p>
        </p:txBody>
      </p:sp>
      <p:sp>
        <p:nvSpPr>
          <p:cNvPr id="281" name="Google Shape;281;p7"/>
          <p:cNvSpPr/>
          <p:nvPr/>
        </p:nvSpPr>
        <p:spPr>
          <a:xfrm>
            <a:off x="571500" y="1047902"/>
            <a:ext cx="57607" cy="228600"/>
          </a:xfrm>
          <a:prstGeom prst="roundRect">
            <a:avLst>
              <a:gd fmla="val 1058205" name="adj"/>
            </a:avLst>
          </a:prstGeom>
          <a:solidFill>
            <a:srgbClr val="EA580C"/>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7"/>
          <p:cNvSpPr/>
          <p:nvPr/>
        </p:nvSpPr>
        <p:spPr>
          <a:xfrm>
            <a:off x="571500" y="1505102"/>
            <a:ext cx="5333695" cy="1762049"/>
          </a:xfrm>
          <a:prstGeom prst="roundRect">
            <a:avLst>
              <a:gd fmla="val 8976" name="adj"/>
            </a:avLst>
          </a:prstGeom>
          <a:solidFill>
            <a:srgbClr val="FFF7ED"/>
          </a:solidFill>
          <a:ln cap="flat" cmpd="sng" w="25400">
            <a:solidFill>
              <a:srgbClr val="FDBA74"/>
            </a:solidFill>
            <a:prstDash val="solid"/>
            <a:round/>
            <a:headEnd len="sm" w="sm" type="none"/>
            <a:tailEnd len="sm" w="sm" type="none"/>
          </a:ln>
          <a:effectLst>
            <a:outerShdw blurRad="63500" rotWithShape="0" algn="bl" dir="16200000" dist="38100">
              <a:srgbClr val="000000">
                <a:alpha val="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7"/>
          <p:cNvSpPr/>
          <p:nvPr/>
        </p:nvSpPr>
        <p:spPr>
          <a:xfrm>
            <a:off x="571500" y="3381451"/>
            <a:ext cx="5333695" cy="1762049"/>
          </a:xfrm>
          <a:prstGeom prst="roundRect">
            <a:avLst>
              <a:gd fmla="val 8976" name="adj"/>
            </a:avLst>
          </a:prstGeom>
          <a:solidFill>
            <a:srgbClr val="FFFFFF"/>
          </a:solidFill>
          <a:ln cap="flat" cmpd="sng" w="25400">
            <a:solidFill>
              <a:srgbClr val="E5E7EB"/>
            </a:solidFill>
            <a:prstDash val="solid"/>
            <a:round/>
            <a:headEnd len="sm" w="sm" type="none"/>
            <a:tailEnd len="sm" w="sm" type="none"/>
          </a:ln>
          <a:effectLst>
            <a:outerShdw blurRad="63500" rotWithShape="0" algn="bl" dir="16200000" dist="38100">
              <a:srgbClr val="000000">
                <a:alpha val="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7"/>
          <p:cNvSpPr/>
          <p:nvPr/>
        </p:nvSpPr>
        <p:spPr>
          <a:xfrm>
            <a:off x="571500" y="5333695"/>
            <a:ext cx="5333695" cy="790956"/>
          </a:xfrm>
          <a:prstGeom prst="roundRect">
            <a:avLst>
              <a:gd fmla="val 33429" name="adj"/>
            </a:avLst>
          </a:prstGeom>
          <a:solidFill>
            <a:srgbClr val="ECFDF5"/>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5" name="Google Shape;285;p7"/>
          <p:cNvPicPr preferRelativeResize="0"/>
          <p:nvPr/>
        </p:nvPicPr>
        <p:blipFill rotWithShape="1">
          <a:blip r:embed="rId3">
            <a:alphaModFix/>
          </a:blip>
          <a:srcRect b="0" l="0" r="0" t="0"/>
          <a:stretch/>
        </p:blipFill>
        <p:spPr>
          <a:xfrm>
            <a:off x="733349" y="5622646"/>
            <a:ext cx="209398" cy="209398"/>
          </a:xfrm>
          <a:prstGeom prst="rect">
            <a:avLst/>
          </a:prstGeom>
          <a:noFill/>
          <a:ln>
            <a:noFill/>
          </a:ln>
        </p:spPr>
      </p:pic>
      <p:sp>
        <p:nvSpPr>
          <p:cNvPr id="286" name="Google Shape;286;p7"/>
          <p:cNvSpPr txBox="1"/>
          <p:nvPr/>
        </p:nvSpPr>
        <p:spPr>
          <a:xfrm>
            <a:off x="1076249" y="5458054"/>
            <a:ext cx="172821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F46"/>
              </a:buClr>
              <a:buSzPts val="1000"/>
              <a:buFont typeface="Noto Sans JP"/>
              <a:buNone/>
            </a:pPr>
            <a:r>
              <a:rPr b="1" i="0" lang="en-US" sz="1000" u="none" cap="none" strike="noStrike">
                <a:solidFill>
                  <a:srgbClr val="065F46"/>
                </a:solidFill>
                <a:latin typeface="Noto Sans JP"/>
                <a:ea typeface="Noto Sans JP"/>
                <a:cs typeface="Noto Sans JP"/>
                <a:sym typeface="Noto Sans JP"/>
              </a:rPr>
              <a:t>組み合わせ運用も可能です</a:t>
            </a:r>
            <a:endParaRPr b="0" i="0" sz="1000" u="none" cap="none" strike="noStrike">
              <a:solidFill>
                <a:schemeClr val="dk1"/>
              </a:solidFill>
              <a:latin typeface="Calibri"/>
              <a:ea typeface="Calibri"/>
              <a:cs typeface="Calibri"/>
              <a:sym typeface="Calibri"/>
            </a:endParaRPr>
          </a:p>
        </p:txBody>
      </p:sp>
      <p:sp>
        <p:nvSpPr>
          <p:cNvPr id="287" name="Google Shape;287;p7"/>
          <p:cNvSpPr txBox="1"/>
          <p:nvPr/>
        </p:nvSpPr>
        <p:spPr>
          <a:xfrm>
            <a:off x="1076249" y="5676595"/>
            <a:ext cx="4743907" cy="3246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47857"/>
              </a:buClr>
              <a:buSzPts val="900"/>
              <a:buFont typeface="Noto Sans JP"/>
              <a:buNone/>
            </a:pPr>
            <a:r>
              <a:rPr b="0" i="0" lang="en-US" sz="900" u="none" cap="none" strike="noStrike">
                <a:solidFill>
                  <a:srgbClr val="047857"/>
                </a:solidFill>
                <a:latin typeface="Noto Sans JP"/>
                <a:ea typeface="Noto Sans JP"/>
                <a:cs typeface="Noto Sans JP"/>
                <a:sym typeface="Noto Sans JP"/>
              </a:rPr>
              <a:t>月によってAとBを切り替えたり、平均4,500円前後に調整するなど、 ご予算に合わせた年間設計が可能です。</a:t>
            </a:r>
            <a:endParaRPr b="0" i="0" sz="900" u="none" cap="none" strike="noStrike">
              <a:solidFill>
                <a:schemeClr val="dk1"/>
              </a:solidFill>
              <a:latin typeface="Calibri"/>
              <a:ea typeface="Calibri"/>
              <a:cs typeface="Calibri"/>
              <a:sym typeface="Calibri"/>
            </a:endParaRPr>
          </a:p>
        </p:txBody>
      </p:sp>
      <p:sp>
        <p:nvSpPr>
          <p:cNvPr id="288" name="Google Shape;288;p7"/>
          <p:cNvSpPr txBox="1"/>
          <p:nvPr/>
        </p:nvSpPr>
        <p:spPr>
          <a:xfrm>
            <a:off x="6286500" y="1047902"/>
            <a:ext cx="5524805"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580C"/>
              </a:buClr>
              <a:buSzPts val="1800"/>
              <a:buFont typeface="Arial"/>
              <a:buNone/>
            </a:pPr>
            <a:r>
              <a:rPr b="1" i="0" lang="en-US" sz="1800" u="none" cap="none" strike="noStrike">
                <a:solidFill>
                  <a:srgbClr val="EA580C"/>
                </a:solidFill>
                <a:latin typeface="Arial"/>
                <a:ea typeface="Arial"/>
                <a:cs typeface="Arial"/>
                <a:sym typeface="Arial"/>
              </a:rPr>
              <a:t>柔軟な運用オプション</a:t>
            </a:r>
            <a:endParaRPr b="0" i="0" sz="1800" u="none" cap="none" strike="noStrike">
              <a:solidFill>
                <a:schemeClr val="dk1"/>
              </a:solidFill>
              <a:latin typeface="Calibri"/>
              <a:ea typeface="Calibri"/>
              <a:cs typeface="Calibri"/>
              <a:sym typeface="Calibri"/>
            </a:endParaRPr>
          </a:p>
        </p:txBody>
      </p:sp>
      <p:sp>
        <p:nvSpPr>
          <p:cNvPr id="289" name="Google Shape;289;p7"/>
          <p:cNvSpPr/>
          <p:nvPr/>
        </p:nvSpPr>
        <p:spPr>
          <a:xfrm>
            <a:off x="6286500" y="1047902"/>
            <a:ext cx="57607" cy="228600"/>
          </a:xfrm>
          <a:prstGeom prst="roundRect">
            <a:avLst>
              <a:gd fmla="val 1058205" name="adj"/>
            </a:avLst>
          </a:prstGeom>
          <a:solidFill>
            <a:srgbClr val="EA580C"/>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7"/>
          <p:cNvSpPr/>
          <p:nvPr/>
        </p:nvSpPr>
        <p:spPr>
          <a:xfrm>
            <a:off x="6286500" y="1505102"/>
            <a:ext cx="5333695" cy="2971800"/>
          </a:xfrm>
          <a:prstGeom prst="roundRect">
            <a:avLst>
              <a:gd fmla="val 3156" name="adj"/>
            </a:avLst>
          </a:prstGeom>
          <a:solidFill>
            <a:srgbClr val="F8FAFC"/>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7"/>
          <p:cNvSpPr/>
          <p:nvPr/>
        </p:nvSpPr>
        <p:spPr>
          <a:xfrm>
            <a:off x="6486754" y="2176272"/>
            <a:ext cx="381305" cy="381305"/>
          </a:xfrm>
          <a:prstGeom prst="roundRect">
            <a:avLst>
              <a:gd fmla="val 119904" name="adj"/>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2" name="Google Shape;292;p7"/>
          <p:cNvPicPr preferRelativeResize="0"/>
          <p:nvPr/>
        </p:nvPicPr>
        <p:blipFill rotWithShape="1">
          <a:blip r:embed="rId4">
            <a:alphaModFix/>
          </a:blip>
          <a:srcRect b="0" l="-1064" r="-1064" t="0"/>
          <a:stretch/>
        </p:blipFill>
        <p:spPr>
          <a:xfrm>
            <a:off x="6567221" y="2281428"/>
            <a:ext cx="219456" cy="171907"/>
          </a:xfrm>
          <a:prstGeom prst="rect">
            <a:avLst/>
          </a:prstGeom>
          <a:noFill/>
          <a:ln>
            <a:noFill/>
          </a:ln>
        </p:spPr>
      </p:pic>
      <p:sp>
        <p:nvSpPr>
          <p:cNvPr id="293" name="Google Shape;293;p7"/>
          <p:cNvSpPr txBox="1"/>
          <p:nvPr/>
        </p:nvSpPr>
        <p:spPr>
          <a:xfrm>
            <a:off x="7019849" y="2176272"/>
            <a:ext cx="1327709"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Noto Sans JP"/>
              <a:buNone/>
            </a:pPr>
            <a:r>
              <a:rPr b="1" i="0" lang="en-US" sz="1200" u="none" cap="none" strike="noStrike">
                <a:solidFill>
                  <a:srgbClr val="374151"/>
                </a:solidFill>
                <a:latin typeface="Noto Sans JP"/>
                <a:ea typeface="Noto Sans JP"/>
                <a:cs typeface="Noto Sans JP"/>
                <a:sym typeface="Noto Sans JP"/>
              </a:rPr>
              <a:t>定期便で一括配送</a:t>
            </a:r>
            <a:endParaRPr b="0" i="0" sz="1200" u="none" cap="none" strike="noStrike">
              <a:solidFill>
                <a:schemeClr val="dk1"/>
              </a:solidFill>
              <a:latin typeface="Calibri"/>
              <a:ea typeface="Calibri"/>
              <a:cs typeface="Calibri"/>
              <a:sym typeface="Calibri"/>
            </a:endParaRPr>
          </a:p>
        </p:txBody>
      </p:sp>
      <p:sp>
        <p:nvSpPr>
          <p:cNvPr id="294" name="Google Shape;294;p7"/>
          <p:cNvSpPr txBox="1"/>
          <p:nvPr/>
        </p:nvSpPr>
        <p:spPr>
          <a:xfrm>
            <a:off x="7019849" y="2443277"/>
            <a:ext cx="2531059"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人数分をまとめて手配・配送いたします。</a:t>
            </a:r>
            <a:endParaRPr b="0" i="0" sz="900" u="none" cap="none" strike="noStrike">
              <a:solidFill>
                <a:schemeClr val="dk1"/>
              </a:solidFill>
              <a:latin typeface="Calibri"/>
              <a:ea typeface="Calibri"/>
              <a:cs typeface="Calibri"/>
              <a:sym typeface="Calibri"/>
            </a:endParaRPr>
          </a:p>
        </p:txBody>
      </p:sp>
      <p:sp>
        <p:nvSpPr>
          <p:cNvPr id="295" name="Google Shape;295;p7"/>
          <p:cNvSpPr/>
          <p:nvPr/>
        </p:nvSpPr>
        <p:spPr>
          <a:xfrm>
            <a:off x="6486754" y="2768803"/>
            <a:ext cx="381305" cy="381305"/>
          </a:xfrm>
          <a:prstGeom prst="roundRect">
            <a:avLst>
              <a:gd fmla="val 119904" name="adj"/>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6" name="Google Shape;296;p7"/>
          <p:cNvPicPr preferRelativeResize="0"/>
          <p:nvPr/>
        </p:nvPicPr>
        <p:blipFill rotWithShape="1">
          <a:blip r:embed="rId5">
            <a:alphaModFix/>
          </a:blip>
          <a:srcRect b="0" l="0" r="0" t="0"/>
          <a:stretch/>
        </p:blipFill>
        <p:spPr>
          <a:xfrm>
            <a:off x="6590995" y="2873959"/>
            <a:ext cx="171907" cy="171907"/>
          </a:xfrm>
          <a:prstGeom prst="rect">
            <a:avLst/>
          </a:prstGeom>
          <a:noFill/>
          <a:ln>
            <a:noFill/>
          </a:ln>
        </p:spPr>
      </p:pic>
      <p:sp>
        <p:nvSpPr>
          <p:cNvPr id="297" name="Google Shape;297;p7"/>
          <p:cNvSpPr txBox="1"/>
          <p:nvPr/>
        </p:nvSpPr>
        <p:spPr>
          <a:xfrm>
            <a:off x="7019849" y="2768803"/>
            <a:ext cx="197510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Noto Sans JP"/>
              <a:buNone/>
            </a:pPr>
            <a:r>
              <a:rPr b="1" i="0" lang="en-US" sz="1200" u="none" cap="none" strike="noStrike">
                <a:solidFill>
                  <a:srgbClr val="374151"/>
                </a:solidFill>
                <a:latin typeface="Noto Sans JP"/>
                <a:ea typeface="Noto Sans JP"/>
                <a:cs typeface="Noto Sans JP"/>
                <a:sym typeface="Noto Sans JP"/>
              </a:rPr>
              <a:t>内容・仕様のカスタマイズ</a:t>
            </a:r>
            <a:endParaRPr b="0" i="0" sz="1200" u="none" cap="none" strike="noStrike">
              <a:solidFill>
                <a:schemeClr val="dk1"/>
              </a:solidFill>
              <a:latin typeface="Calibri"/>
              <a:ea typeface="Calibri"/>
              <a:cs typeface="Calibri"/>
              <a:sym typeface="Calibri"/>
            </a:endParaRPr>
          </a:p>
        </p:txBody>
      </p:sp>
      <p:sp>
        <p:nvSpPr>
          <p:cNvPr id="298" name="Google Shape;298;p7"/>
          <p:cNvSpPr txBox="1"/>
          <p:nvPr/>
        </p:nvSpPr>
        <p:spPr>
          <a:xfrm>
            <a:off x="7019849" y="3035808"/>
            <a:ext cx="3152851"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内容量、品種、配送温度帯など個別に調整可能です。</a:t>
            </a:r>
            <a:endParaRPr b="0" i="0" sz="900" u="none" cap="none" strike="noStrike">
              <a:solidFill>
                <a:schemeClr val="dk1"/>
              </a:solidFill>
              <a:latin typeface="Calibri"/>
              <a:ea typeface="Calibri"/>
              <a:cs typeface="Calibri"/>
              <a:sym typeface="Calibri"/>
            </a:endParaRPr>
          </a:p>
        </p:txBody>
      </p:sp>
      <p:sp>
        <p:nvSpPr>
          <p:cNvPr id="299" name="Google Shape;299;p7"/>
          <p:cNvSpPr/>
          <p:nvPr/>
        </p:nvSpPr>
        <p:spPr>
          <a:xfrm>
            <a:off x="6486754" y="3361334"/>
            <a:ext cx="381305" cy="381305"/>
          </a:xfrm>
          <a:prstGeom prst="roundRect">
            <a:avLst>
              <a:gd fmla="val 119904" name="adj"/>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0" name="Google Shape;300;p7"/>
          <p:cNvPicPr preferRelativeResize="0"/>
          <p:nvPr/>
        </p:nvPicPr>
        <p:blipFill rotWithShape="1">
          <a:blip r:embed="rId6">
            <a:alphaModFix/>
          </a:blip>
          <a:srcRect b="0" l="-760" r="-760" t="0"/>
          <a:stretch/>
        </p:blipFill>
        <p:spPr>
          <a:xfrm>
            <a:off x="6601054" y="3466490"/>
            <a:ext cx="152705" cy="171907"/>
          </a:xfrm>
          <a:prstGeom prst="rect">
            <a:avLst/>
          </a:prstGeom>
          <a:noFill/>
          <a:ln>
            <a:noFill/>
          </a:ln>
        </p:spPr>
      </p:pic>
      <p:sp>
        <p:nvSpPr>
          <p:cNvPr id="301" name="Google Shape;301;p7"/>
          <p:cNvSpPr txBox="1"/>
          <p:nvPr/>
        </p:nvSpPr>
        <p:spPr>
          <a:xfrm>
            <a:off x="7019849" y="3361334"/>
            <a:ext cx="130667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Noto Sans JP"/>
              <a:buNone/>
            </a:pPr>
            <a:r>
              <a:rPr b="1" i="0" lang="en-US" sz="1200" u="none" cap="none" strike="noStrike">
                <a:solidFill>
                  <a:srgbClr val="374151"/>
                </a:solidFill>
                <a:latin typeface="Noto Sans JP"/>
                <a:ea typeface="Noto Sans JP"/>
                <a:cs typeface="Noto Sans JP"/>
                <a:sym typeface="Noto Sans JP"/>
              </a:rPr>
              <a:t>スケジュール調整</a:t>
            </a:r>
            <a:endParaRPr b="0" i="0" sz="1200" u="none" cap="none" strike="noStrike">
              <a:solidFill>
                <a:schemeClr val="dk1"/>
              </a:solidFill>
              <a:latin typeface="Calibri"/>
              <a:ea typeface="Calibri"/>
              <a:cs typeface="Calibri"/>
              <a:sym typeface="Calibri"/>
            </a:endParaRPr>
          </a:p>
        </p:txBody>
      </p:sp>
      <p:sp>
        <p:nvSpPr>
          <p:cNvPr id="302" name="Google Shape;302;p7"/>
          <p:cNvSpPr txBox="1"/>
          <p:nvPr/>
        </p:nvSpPr>
        <p:spPr>
          <a:xfrm>
            <a:off x="7019849" y="3628339"/>
            <a:ext cx="3029407"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ご希望に合わせて配送タイミングを調整できます。</a:t>
            </a:r>
            <a:endParaRPr b="0" i="0" sz="900" u="none" cap="none" strike="noStrike">
              <a:solidFill>
                <a:schemeClr val="dk1"/>
              </a:solidFill>
              <a:latin typeface="Calibri"/>
              <a:ea typeface="Calibri"/>
              <a:cs typeface="Calibri"/>
              <a:sym typeface="Calibri"/>
            </a:endParaRPr>
          </a:p>
        </p:txBody>
      </p:sp>
      <p:sp>
        <p:nvSpPr>
          <p:cNvPr id="303" name="Google Shape;303;p7"/>
          <p:cNvSpPr txBox="1"/>
          <p:nvPr/>
        </p:nvSpPr>
        <p:spPr>
          <a:xfrm>
            <a:off x="6286500" y="4625035"/>
            <a:ext cx="5524805"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580C"/>
              </a:buClr>
              <a:buSzPts val="1800"/>
              <a:buFont typeface="Arial"/>
              <a:buNone/>
            </a:pPr>
            <a:r>
              <a:rPr b="1" i="0" lang="en-US" sz="1800" u="none" cap="none" strike="noStrike">
                <a:solidFill>
                  <a:srgbClr val="EA580C"/>
                </a:solidFill>
                <a:latin typeface="Arial"/>
                <a:ea typeface="Arial"/>
                <a:cs typeface="Arial"/>
                <a:sym typeface="Arial"/>
              </a:rPr>
              <a:t>その他の取扱商品</a:t>
            </a:r>
            <a:endParaRPr b="0" i="0" sz="1800" u="none" cap="none" strike="noStrike">
              <a:solidFill>
                <a:schemeClr val="dk1"/>
              </a:solidFill>
              <a:latin typeface="Calibri"/>
              <a:ea typeface="Calibri"/>
              <a:cs typeface="Calibri"/>
              <a:sym typeface="Calibri"/>
            </a:endParaRPr>
          </a:p>
        </p:txBody>
      </p:sp>
      <p:sp>
        <p:nvSpPr>
          <p:cNvPr id="304" name="Google Shape;304;p7"/>
          <p:cNvSpPr/>
          <p:nvPr/>
        </p:nvSpPr>
        <p:spPr>
          <a:xfrm>
            <a:off x="6286500" y="4625035"/>
            <a:ext cx="57607" cy="228600"/>
          </a:xfrm>
          <a:prstGeom prst="roundRect">
            <a:avLst>
              <a:gd fmla="val 1058205" name="adj"/>
            </a:avLst>
          </a:prstGeom>
          <a:solidFill>
            <a:srgbClr val="EA580C"/>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7"/>
          <p:cNvSpPr txBox="1"/>
          <p:nvPr/>
        </p:nvSpPr>
        <p:spPr>
          <a:xfrm>
            <a:off x="6286500" y="5025542"/>
            <a:ext cx="55248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福利厚生以外にも、販促やギフトとしてご提案可能です。</a:t>
            </a:r>
            <a:endParaRPr b="0" i="0" sz="900" u="none" cap="none" strike="noStrike">
              <a:solidFill>
                <a:schemeClr val="dk1"/>
              </a:solidFill>
              <a:latin typeface="Calibri"/>
              <a:ea typeface="Calibri"/>
              <a:cs typeface="Calibri"/>
              <a:sym typeface="Calibri"/>
            </a:endParaRPr>
          </a:p>
        </p:txBody>
      </p:sp>
      <p:sp>
        <p:nvSpPr>
          <p:cNvPr id="306" name="Google Shape;306;p7"/>
          <p:cNvSpPr/>
          <p:nvPr/>
        </p:nvSpPr>
        <p:spPr>
          <a:xfrm>
            <a:off x="6286500" y="5306263"/>
            <a:ext cx="1705356" cy="1266444"/>
          </a:xfrm>
          <a:prstGeom prst="roundRect">
            <a:avLst>
              <a:gd fmla="val 13029"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7" name="Google Shape;307;p7"/>
          <p:cNvPicPr preferRelativeResize="0"/>
          <p:nvPr/>
        </p:nvPicPr>
        <p:blipFill rotWithShape="1">
          <a:blip r:embed="rId7">
            <a:alphaModFix/>
          </a:blip>
          <a:srcRect b="0" l="0" r="0" t="0"/>
          <a:stretch/>
        </p:blipFill>
        <p:spPr>
          <a:xfrm>
            <a:off x="7013448" y="5468112"/>
            <a:ext cx="247802" cy="247802"/>
          </a:xfrm>
          <a:prstGeom prst="rect">
            <a:avLst/>
          </a:prstGeom>
          <a:noFill/>
          <a:ln>
            <a:noFill/>
          </a:ln>
        </p:spPr>
      </p:pic>
      <p:sp>
        <p:nvSpPr>
          <p:cNvPr id="308" name="Google Shape;308;p7"/>
          <p:cNvSpPr txBox="1"/>
          <p:nvPr/>
        </p:nvSpPr>
        <p:spPr>
          <a:xfrm>
            <a:off x="6737299" y="5811012"/>
            <a:ext cx="810158" cy="35295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374151"/>
              </a:buClr>
              <a:buSzPts val="900"/>
              <a:buFont typeface="Noto Sans JP"/>
              <a:buNone/>
            </a:pPr>
            <a:r>
              <a:rPr b="1" i="0" lang="en-US" sz="900" u="none" cap="none" strike="noStrike">
                <a:solidFill>
                  <a:srgbClr val="374151"/>
                </a:solidFill>
                <a:latin typeface="Noto Sans JP"/>
                <a:ea typeface="Noto Sans JP"/>
                <a:cs typeface="Noto Sans JP"/>
                <a:sym typeface="Noto Sans JP"/>
              </a:rPr>
              <a:t>山形県産米</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374151"/>
              </a:buClr>
              <a:buSzPts val="900"/>
              <a:buFont typeface="Noto Sans JP"/>
              <a:buNone/>
            </a:pPr>
            <a:r>
              <a:rPr b="1" i="0" lang="en-US" sz="900" u="none" cap="none" strike="noStrike">
                <a:solidFill>
                  <a:srgbClr val="374151"/>
                </a:solidFill>
                <a:latin typeface="Noto Sans JP"/>
                <a:ea typeface="Noto Sans JP"/>
                <a:cs typeface="Noto Sans JP"/>
                <a:sym typeface="Noto Sans JP"/>
              </a:rPr>
              <a:t>（つや姫等）</a:t>
            </a:r>
            <a:endParaRPr b="0" i="0" sz="900" u="none" cap="none" strike="noStrike">
              <a:solidFill>
                <a:schemeClr val="dk1"/>
              </a:solidFill>
              <a:latin typeface="Calibri"/>
              <a:ea typeface="Calibri"/>
              <a:cs typeface="Calibri"/>
              <a:sym typeface="Calibri"/>
            </a:endParaRPr>
          </a:p>
        </p:txBody>
      </p:sp>
      <p:sp>
        <p:nvSpPr>
          <p:cNvPr id="309" name="Google Shape;309;p7"/>
          <p:cNvSpPr/>
          <p:nvPr/>
        </p:nvSpPr>
        <p:spPr>
          <a:xfrm>
            <a:off x="6799478" y="6215177"/>
            <a:ext cx="676656" cy="200254"/>
          </a:xfrm>
          <a:prstGeom prst="roundRect">
            <a:avLst>
              <a:gd fmla="val 434876" name="adj"/>
            </a:avLst>
          </a:prstGeom>
          <a:solidFill>
            <a:srgbClr val="F3F4F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7"/>
          <p:cNvSpPr txBox="1"/>
          <p:nvPr/>
        </p:nvSpPr>
        <p:spPr>
          <a:xfrm>
            <a:off x="6761074" y="6215177"/>
            <a:ext cx="752551" cy="200254"/>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25400" lIns="76200" spcFirstLastPara="1" rIns="76200" wrap="square" tIns="25400">
            <a:noAutofit/>
          </a:bodyPr>
          <a:lstStyle/>
          <a:p>
            <a:pPr indent="0" lvl="0" marL="0" marR="0" rtl="0" algn="ctr">
              <a:spcBef>
                <a:spcPts val="0"/>
              </a:spcBef>
              <a:spcAft>
                <a:spcPts val="0"/>
              </a:spcAft>
              <a:buClr>
                <a:srgbClr val="6B7280"/>
              </a:buClr>
              <a:buSzPts val="800"/>
              <a:buFont typeface="Noto Sans JP"/>
              <a:buNone/>
            </a:pPr>
            <a:r>
              <a:rPr b="0" i="0" lang="en-US" sz="800" u="none" cap="none" strike="noStrike">
                <a:solidFill>
                  <a:srgbClr val="6B7280"/>
                </a:solidFill>
                <a:latin typeface="Noto Sans JP"/>
                <a:ea typeface="Noto Sans JP"/>
                <a:cs typeface="Noto Sans JP"/>
                <a:sym typeface="Noto Sans JP"/>
              </a:rPr>
              <a:t>成約特典に</a:t>
            </a:r>
            <a:endParaRPr b="0" i="0" sz="800" u="none" cap="none" strike="noStrike">
              <a:solidFill>
                <a:schemeClr val="dk1"/>
              </a:solidFill>
              <a:latin typeface="Calibri"/>
              <a:ea typeface="Calibri"/>
              <a:cs typeface="Calibri"/>
              <a:sym typeface="Calibri"/>
            </a:endParaRPr>
          </a:p>
        </p:txBody>
      </p:sp>
      <p:sp>
        <p:nvSpPr>
          <p:cNvPr id="311" name="Google Shape;311;p7"/>
          <p:cNvSpPr/>
          <p:nvPr/>
        </p:nvSpPr>
        <p:spPr>
          <a:xfrm>
            <a:off x="8102498" y="5306263"/>
            <a:ext cx="1705356" cy="1266444"/>
          </a:xfrm>
          <a:prstGeom prst="roundRect">
            <a:avLst>
              <a:gd fmla="val 13029"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2" name="Google Shape;312;p7"/>
          <p:cNvPicPr preferRelativeResize="0"/>
          <p:nvPr/>
        </p:nvPicPr>
        <p:blipFill rotWithShape="1">
          <a:blip r:embed="rId8">
            <a:alphaModFix/>
          </a:blip>
          <a:srcRect b="0" l="0" r="0" t="0"/>
          <a:stretch/>
        </p:blipFill>
        <p:spPr>
          <a:xfrm>
            <a:off x="8829446" y="5468112"/>
            <a:ext cx="247802" cy="247802"/>
          </a:xfrm>
          <a:prstGeom prst="rect">
            <a:avLst/>
          </a:prstGeom>
          <a:noFill/>
          <a:ln>
            <a:noFill/>
          </a:ln>
        </p:spPr>
      </p:pic>
      <p:sp>
        <p:nvSpPr>
          <p:cNvPr id="313" name="Google Shape;313;p7"/>
          <p:cNvSpPr txBox="1"/>
          <p:nvPr/>
        </p:nvSpPr>
        <p:spPr>
          <a:xfrm>
            <a:off x="8554212" y="5811012"/>
            <a:ext cx="800100" cy="35295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374151"/>
              </a:buClr>
              <a:buSzPts val="900"/>
              <a:buFont typeface="Noto Sans JP"/>
              <a:buNone/>
            </a:pPr>
            <a:r>
              <a:rPr b="1" i="0" lang="en-US" sz="900" u="none" cap="none" strike="noStrike">
                <a:solidFill>
                  <a:srgbClr val="374151"/>
                </a:solidFill>
                <a:latin typeface="Noto Sans JP"/>
                <a:ea typeface="Noto Sans JP"/>
                <a:cs typeface="Noto Sans JP"/>
                <a:sym typeface="Noto Sans JP"/>
              </a:rPr>
              <a:t>ラ・フランス</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374151"/>
              </a:buClr>
              <a:buSzPts val="900"/>
              <a:buFont typeface="Noto Sans JP"/>
              <a:buNone/>
            </a:pPr>
            <a:r>
              <a:rPr b="1" i="0" lang="en-US" sz="900" u="none" cap="none" strike="noStrike">
                <a:solidFill>
                  <a:srgbClr val="374151"/>
                </a:solidFill>
                <a:latin typeface="Noto Sans JP"/>
                <a:ea typeface="Noto Sans JP"/>
                <a:cs typeface="Noto Sans JP"/>
                <a:sym typeface="Noto Sans JP"/>
              </a:rPr>
              <a:t>単体ギフト</a:t>
            </a:r>
            <a:endParaRPr b="0" i="0" sz="900" u="none" cap="none" strike="noStrike">
              <a:solidFill>
                <a:schemeClr val="dk1"/>
              </a:solidFill>
              <a:latin typeface="Calibri"/>
              <a:ea typeface="Calibri"/>
              <a:cs typeface="Calibri"/>
              <a:sym typeface="Calibri"/>
            </a:endParaRPr>
          </a:p>
        </p:txBody>
      </p:sp>
      <p:sp>
        <p:nvSpPr>
          <p:cNvPr id="314" name="Google Shape;314;p7"/>
          <p:cNvSpPr/>
          <p:nvPr/>
        </p:nvSpPr>
        <p:spPr>
          <a:xfrm>
            <a:off x="8615477" y="6215177"/>
            <a:ext cx="676656" cy="200254"/>
          </a:xfrm>
          <a:prstGeom prst="roundRect">
            <a:avLst>
              <a:gd fmla="val 434876" name="adj"/>
            </a:avLst>
          </a:prstGeom>
          <a:solidFill>
            <a:srgbClr val="F3F4F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7"/>
          <p:cNvSpPr txBox="1"/>
          <p:nvPr/>
        </p:nvSpPr>
        <p:spPr>
          <a:xfrm>
            <a:off x="8577072" y="6215177"/>
            <a:ext cx="752551" cy="200254"/>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25400" lIns="76200" spcFirstLastPara="1" rIns="76200" wrap="square" tIns="25400">
            <a:noAutofit/>
          </a:bodyPr>
          <a:lstStyle/>
          <a:p>
            <a:pPr indent="0" lvl="0" marL="0" marR="0" rtl="0" algn="ctr">
              <a:spcBef>
                <a:spcPts val="0"/>
              </a:spcBef>
              <a:spcAft>
                <a:spcPts val="0"/>
              </a:spcAft>
              <a:buClr>
                <a:srgbClr val="6B7280"/>
              </a:buClr>
              <a:buSzPts val="800"/>
              <a:buFont typeface="Noto Sans JP"/>
              <a:buNone/>
            </a:pPr>
            <a:r>
              <a:rPr b="0" i="0" lang="en-US" sz="800" u="none" cap="none" strike="noStrike">
                <a:solidFill>
                  <a:srgbClr val="6B7280"/>
                </a:solidFill>
                <a:latin typeface="Noto Sans JP"/>
                <a:ea typeface="Noto Sans JP"/>
                <a:cs typeface="Noto Sans JP"/>
                <a:sym typeface="Noto Sans JP"/>
              </a:rPr>
              <a:t>来場記念に</a:t>
            </a:r>
            <a:endParaRPr b="0" i="0" sz="800" u="none" cap="none" strike="noStrike">
              <a:solidFill>
                <a:schemeClr val="dk1"/>
              </a:solidFill>
              <a:latin typeface="Calibri"/>
              <a:ea typeface="Calibri"/>
              <a:cs typeface="Calibri"/>
              <a:sym typeface="Calibri"/>
            </a:endParaRPr>
          </a:p>
        </p:txBody>
      </p:sp>
      <p:sp>
        <p:nvSpPr>
          <p:cNvPr id="316" name="Google Shape;316;p7"/>
          <p:cNvSpPr/>
          <p:nvPr/>
        </p:nvSpPr>
        <p:spPr>
          <a:xfrm>
            <a:off x="9918497" y="5306263"/>
            <a:ext cx="1705356" cy="1266444"/>
          </a:xfrm>
          <a:prstGeom prst="roundRect">
            <a:avLst>
              <a:gd fmla="val 13029"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7" name="Google Shape;317;p7"/>
          <p:cNvPicPr preferRelativeResize="0"/>
          <p:nvPr/>
        </p:nvPicPr>
        <p:blipFill rotWithShape="1">
          <a:blip r:embed="rId9">
            <a:alphaModFix/>
          </a:blip>
          <a:srcRect b="0" l="-606" r="-606" t="0"/>
          <a:stretch/>
        </p:blipFill>
        <p:spPr>
          <a:xfrm>
            <a:off x="10660075" y="5468112"/>
            <a:ext cx="219456" cy="247802"/>
          </a:xfrm>
          <a:prstGeom prst="rect">
            <a:avLst/>
          </a:prstGeom>
          <a:noFill/>
          <a:ln>
            <a:noFill/>
          </a:ln>
        </p:spPr>
      </p:pic>
      <p:sp>
        <p:nvSpPr>
          <p:cNvPr id="318" name="Google Shape;318;p7"/>
          <p:cNvSpPr txBox="1"/>
          <p:nvPr/>
        </p:nvSpPr>
        <p:spPr>
          <a:xfrm>
            <a:off x="10493654" y="5811012"/>
            <a:ext cx="562356" cy="35295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374151"/>
              </a:buClr>
              <a:buSzPts val="900"/>
              <a:buFont typeface="Noto Sans JP"/>
              <a:buNone/>
            </a:pPr>
            <a:r>
              <a:rPr b="1" i="0" lang="en-US" sz="900" u="none" cap="none" strike="noStrike">
                <a:solidFill>
                  <a:srgbClr val="374151"/>
                </a:solidFill>
                <a:latin typeface="Noto Sans JP"/>
                <a:ea typeface="Noto Sans JP"/>
                <a:cs typeface="Noto Sans JP"/>
                <a:sym typeface="Noto Sans JP"/>
              </a:rPr>
              <a:t>山形そば</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374151"/>
              </a:buClr>
              <a:buSzPts val="900"/>
              <a:buFont typeface="Noto Sans JP"/>
              <a:buNone/>
            </a:pPr>
            <a:r>
              <a:rPr b="1" i="0" lang="en-US" sz="900" u="none" cap="none" strike="noStrike">
                <a:solidFill>
                  <a:srgbClr val="374151"/>
                </a:solidFill>
                <a:latin typeface="Noto Sans JP"/>
                <a:ea typeface="Noto Sans JP"/>
                <a:cs typeface="Noto Sans JP"/>
                <a:sym typeface="Noto Sans JP"/>
              </a:rPr>
              <a:t>セット</a:t>
            </a:r>
            <a:endParaRPr b="0" i="0" sz="900" u="none" cap="none" strike="noStrike">
              <a:solidFill>
                <a:schemeClr val="dk1"/>
              </a:solidFill>
              <a:latin typeface="Calibri"/>
              <a:ea typeface="Calibri"/>
              <a:cs typeface="Calibri"/>
              <a:sym typeface="Calibri"/>
            </a:endParaRPr>
          </a:p>
        </p:txBody>
      </p:sp>
      <p:sp>
        <p:nvSpPr>
          <p:cNvPr id="319" name="Google Shape;319;p7"/>
          <p:cNvSpPr/>
          <p:nvPr/>
        </p:nvSpPr>
        <p:spPr>
          <a:xfrm>
            <a:off x="10379354" y="6215177"/>
            <a:ext cx="780898" cy="200254"/>
          </a:xfrm>
          <a:prstGeom prst="roundRect">
            <a:avLst>
              <a:gd fmla="val 434876" name="adj"/>
            </a:avLst>
          </a:prstGeom>
          <a:solidFill>
            <a:srgbClr val="F3F4F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7"/>
          <p:cNvSpPr txBox="1"/>
          <p:nvPr/>
        </p:nvSpPr>
        <p:spPr>
          <a:xfrm>
            <a:off x="10340950" y="6215177"/>
            <a:ext cx="857707" cy="200254"/>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25400" lIns="76200" spcFirstLastPara="1" rIns="76200" wrap="square" tIns="25400">
            <a:noAutofit/>
          </a:bodyPr>
          <a:lstStyle/>
          <a:p>
            <a:pPr indent="0" lvl="0" marL="0" marR="0" rtl="0" algn="ctr">
              <a:spcBef>
                <a:spcPts val="0"/>
              </a:spcBef>
              <a:spcAft>
                <a:spcPts val="0"/>
              </a:spcAft>
              <a:buClr>
                <a:srgbClr val="6B7280"/>
              </a:buClr>
              <a:buSzPts val="800"/>
              <a:buFont typeface="Noto Sans JP"/>
              <a:buNone/>
            </a:pPr>
            <a:r>
              <a:rPr b="0" i="0" lang="en-US" sz="800" u="none" cap="none" strike="noStrike">
                <a:solidFill>
                  <a:srgbClr val="6B7280"/>
                </a:solidFill>
                <a:latin typeface="Noto Sans JP"/>
                <a:ea typeface="Noto Sans JP"/>
                <a:cs typeface="Noto Sans JP"/>
                <a:sym typeface="Noto Sans JP"/>
              </a:rPr>
              <a:t>季節の挨拶に</a:t>
            </a:r>
            <a:endParaRPr b="0" i="0" sz="800" u="none" cap="none" strike="noStrike">
              <a:solidFill>
                <a:schemeClr val="dk1"/>
              </a:solidFill>
              <a:latin typeface="Calibri"/>
              <a:ea typeface="Calibri"/>
              <a:cs typeface="Calibri"/>
              <a:sym typeface="Calibri"/>
            </a:endParaRPr>
          </a:p>
        </p:txBody>
      </p:sp>
      <p:pic>
        <p:nvPicPr>
          <p:cNvPr descr="preencoded.png" id="321" name="Google Shape;321;p7"/>
          <p:cNvPicPr preferRelativeResize="0"/>
          <p:nvPr/>
        </p:nvPicPr>
        <p:blipFill rotWithShape="1">
          <a:blip r:embed="rId10">
            <a:alphaModFix amt="15000"/>
          </a:blip>
          <a:srcRect b="0" l="-175" r="-175" t="0"/>
          <a:stretch/>
        </p:blipFill>
        <p:spPr>
          <a:xfrm>
            <a:off x="4943246" y="2486254"/>
            <a:ext cx="752551" cy="666598"/>
          </a:xfrm>
          <a:prstGeom prst="rect">
            <a:avLst/>
          </a:prstGeom>
          <a:noFill/>
          <a:ln>
            <a:noFill/>
          </a:ln>
        </p:spPr>
      </p:pic>
      <p:pic>
        <p:nvPicPr>
          <p:cNvPr descr="preencoded.png" id="322" name="Google Shape;322;p7"/>
          <p:cNvPicPr preferRelativeResize="0"/>
          <p:nvPr/>
        </p:nvPicPr>
        <p:blipFill rotWithShape="1">
          <a:blip r:embed="rId11">
            <a:alphaModFix amt="15000"/>
          </a:blip>
          <a:srcRect b="0" l="0" r="0" t="0"/>
          <a:stretch/>
        </p:blipFill>
        <p:spPr>
          <a:xfrm>
            <a:off x="5029200" y="4362602"/>
            <a:ext cx="666598" cy="666598"/>
          </a:xfrm>
          <a:prstGeom prst="rect">
            <a:avLst/>
          </a:prstGeom>
          <a:noFill/>
          <a:ln>
            <a:noFill/>
          </a:ln>
        </p:spPr>
      </p:pic>
      <p:sp>
        <p:nvSpPr>
          <p:cNvPr id="323" name="Google Shape;323;p7"/>
          <p:cNvSpPr/>
          <p:nvPr/>
        </p:nvSpPr>
        <p:spPr>
          <a:xfrm>
            <a:off x="780898" y="1560881"/>
            <a:ext cx="761695" cy="276149"/>
          </a:xfrm>
          <a:prstGeom prst="roundRect">
            <a:avLst>
              <a:gd fmla="val 331126" name="adj"/>
            </a:avLst>
          </a:prstGeom>
          <a:solidFill>
            <a:srgbClr val="FFFFFF">
              <a:alpha val="60000"/>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7"/>
          <p:cNvSpPr/>
          <p:nvPr/>
        </p:nvSpPr>
        <p:spPr>
          <a:xfrm>
            <a:off x="752551" y="1560881"/>
            <a:ext cx="819302" cy="277063"/>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38100" lIns="114300" spcFirstLastPara="1" rIns="114300" wrap="square" tIns="38100">
            <a:noAutofit/>
          </a:bodyPr>
          <a:lstStyle/>
          <a:p>
            <a:pPr indent="0" lvl="0" marL="0" marR="0" rtl="0" algn="ctr">
              <a:spcBef>
                <a:spcPts val="0"/>
              </a:spcBef>
              <a:spcAft>
                <a:spcPts val="0"/>
              </a:spcAft>
              <a:buClr>
                <a:srgbClr val="9A3412"/>
              </a:buClr>
              <a:buSzPts val="1000"/>
              <a:buFont typeface="Noto Sans JP"/>
              <a:buNone/>
            </a:pPr>
            <a:r>
              <a:rPr b="1" i="0" lang="en-US" sz="1000" u="none" cap="none" strike="noStrike">
                <a:solidFill>
                  <a:srgbClr val="9A3412"/>
                </a:solidFill>
                <a:latin typeface="Noto Sans JP"/>
                <a:ea typeface="Noto Sans JP"/>
                <a:cs typeface="Noto Sans JP"/>
                <a:sym typeface="Noto Sans JP"/>
              </a:rPr>
              <a:t>おすすめ</a:t>
            </a:r>
            <a:endParaRPr b="0" i="0" sz="1000" u="none" cap="none" strike="noStrike">
              <a:solidFill>
                <a:schemeClr val="dk1"/>
              </a:solidFill>
              <a:latin typeface="Calibri"/>
              <a:ea typeface="Calibri"/>
              <a:cs typeface="Calibri"/>
              <a:sym typeface="Calibri"/>
            </a:endParaRPr>
          </a:p>
        </p:txBody>
      </p:sp>
      <p:sp>
        <p:nvSpPr>
          <p:cNvPr id="325" name="Google Shape;325;p7"/>
          <p:cNvSpPr txBox="1"/>
          <p:nvPr/>
        </p:nvSpPr>
        <p:spPr>
          <a:xfrm>
            <a:off x="780898" y="1951330"/>
            <a:ext cx="510601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Aコース</a:t>
            </a:r>
            <a:endParaRPr b="0" i="0" sz="2400" u="none" cap="none" strike="noStrike">
              <a:solidFill>
                <a:schemeClr val="dk1"/>
              </a:solidFill>
              <a:latin typeface="Calibri"/>
              <a:ea typeface="Calibri"/>
              <a:cs typeface="Calibri"/>
              <a:sym typeface="Calibri"/>
            </a:endParaRPr>
          </a:p>
        </p:txBody>
      </p:sp>
      <p:sp>
        <p:nvSpPr>
          <p:cNvPr id="326" name="Google Shape;326;p7"/>
          <p:cNvSpPr txBox="1"/>
          <p:nvPr/>
        </p:nvSpPr>
        <p:spPr>
          <a:xfrm>
            <a:off x="780898" y="2325319"/>
            <a:ext cx="5029200"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580C"/>
              </a:buClr>
              <a:buSzPts val="1900"/>
              <a:buFont typeface="Noto Sans JP"/>
              <a:buNone/>
            </a:pPr>
            <a:r>
              <a:rPr b="1" i="0" lang="en-US" sz="1900" u="none" cap="none" strike="noStrike">
                <a:solidFill>
                  <a:srgbClr val="EA580C"/>
                </a:solidFill>
                <a:latin typeface="Noto Sans JP"/>
                <a:ea typeface="Noto Sans JP"/>
                <a:cs typeface="Noto Sans JP"/>
                <a:sym typeface="Noto Sans JP"/>
              </a:rPr>
              <a:t>6,000円</a:t>
            </a:r>
            <a:r>
              <a:rPr b="1" i="0" lang="en-US" sz="1100" u="none" cap="none" strike="noStrike">
                <a:solidFill>
                  <a:srgbClr val="6B7280"/>
                </a:solidFill>
                <a:latin typeface="Noto Sans JP"/>
                <a:ea typeface="Noto Sans JP"/>
                <a:cs typeface="Noto Sans JP"/>
                <a:sym typeface="Noto Sans JP"/>
              </a:rPr>
              <a:t>（月額）</a:t>
            </a:r>
            <a:endParaRPr b="0" i="0" sz="1900" u="none" cap="none" strike="noStrike">
              <a:solidFill>
                <a:schemeClr val="dk1"/>
              </a:solidFill>
              <a:latin typeface="Calibri"/>
              <a:ea typeface="Calibri"/>
              <a:cs typeface="Calibri"/>
              <a:sym typeface="Calibri"/>
            </a:endParaRPr>
          </a:p>
        </p:txBody>
      </p:sp>
      <p:sp>
        <p:nvSpPr>
          <p:cNvPr id="327" name="Google Shape;327;p7"/>
          <p:cNvSpPr txBox="1"/>
          <p:nvPr/>
        </p:nvSpPr>
        <p:spPr>
          <a:xfrm>
            <a:off x="780898" y="2810866"/>
            <a:ext cx="4991710" cy="40050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C2D12"/>
              </a:buClr>
              <a:buSzPts val="1000"/>
              <a:buFont typeface="Noto Sans JP"/>
              <a:buNone/>
            </a:pPr>
            <a:r>
              <a:rPr b="0" i="0" lang="en-US" sz="1000" u="none" cap="none" strike="noStrike">
                <a:solidFill>
                  <a:srgbClr val="7C2D12"/>
                </a:solidFill>
                <a:latin typeface="Noto Sans JP"/>
                <a:ea typeface="Noto Sans JP"/>
                <a:cs typeface="Noto Sans JP"/>
                <a:sym typeface="Noto Sans JP"/>
              </a:rPr>
              <a:t>旬の特選果物をたっぷりと。</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C2D12"/>
              </a:buClr>
              <a:buSzPts val="1000"/>
              <a:buFont typeface="Noto Sans JP"/>
              <a:buNone/>
            </a:pPr>
            <a:r>
              <a:rPr b="0" i="0" lang="en-US" sz="1000" u="none" cap="none" strike="noStrike">
                <a:solidFill>
                  <a:srgbClr val="7C2D12"/>
                </a:solidFill>
                <a:latin typeface="Noto Sans JP"/>
                <a:ea typeface="Noto Sans JP"/>
                <a:cs typeface="Noto Sans JP"/>
                <a:sym typeface="Noto Sans JP"/>
              </a:rPr>
              <a:t>ボリューム重視のプレミアムプラン。</a:t>
            </a:r>
            <a:endParaRPr b="0" i="0" sz="1000" u="none" cap="none" strike="noStrike">
              <a:solidFill>
                <a:schemeClr val="dk1"/>
              </a:solidFill>
              <a:latin typeface="Calibri"/>
              <a:ea typeface="Calibri"/>
              <a:cs typeface="Calibri"/>
              <a:sym typeface="Calibri"/>
            </a:endParaRPr>
          </a:p>
        </p:txBody>
      </p:sp>
      <p:sp>
        <p:nvSpPr>
          <p:cNvPr id="328" name="Google Shape;328;p7"/>
          <p:cNvSpPr/>
          <p:nvPr/>
        </p:nvSpPr>
        <p:spPr>
          <a:xfrm>
            <a:off x="780898" y="3537814"/>
            <a:ext cx="1028700" cy="276149"/>
          </a:xfrm>
          <a:prstGeom prst="roundRect">
            <a:avLst>
              <a:gd fmla="val 331126" name="adj"/>
            </a:avLst>
          </a:prstGeom>
          <a:solidFill>
            <a:srgbClr val="F3F4F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7"/>
          <p:cNvSpPr/>
          <p:nvPr/>
        </p:nvSpPr>
        <p:spPr>
          <a:xfrm>
            <a:off x="752551" y="3537814"/>
            <a:ext cx="1086307" cy="277063"/>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38100" lIns="114300" spcFirstLastPara="1" rIns="114300" wrap="square" tIns="38100">
            <a:noAutofit/>
          </a:bodyPr>
          <a:lstStyle/>
          <a:p>
            <a:pPr indent="0" lvl="0" marL="0" marR="0" rtl="0" algn="ctr">
              <a:spcBef>
                <a:spcPts val="0"/>
              </a:spcBef>
              <a:spcAft>
                <a:spcPts val="0"/>
              </a:spcAft>
              <a:buClr>
                <a:srgbClr val="4B5563"/>
              </a:buClr>
              <a:buSzPts val="1000"/>
              <a:buFont typeface="Noto Sans JP"/>
              <a:buNone/>
            </a:pPr>
            <a:r>
              <a:rPr b="1" i="0" lang="en-US" sz="1000" u="none" cap="none" strike="noStrike">
                <a:solidFill>
                  <a:srgbClr val="4B5563"/>
                </a:solidFill>
                <a:latin typeface="Noto Sans JP"/>
                <a:ea typeface="Noto Sans JP"/>
                <a:cs typeface="Noto Sans JP"/>
                <a:sym typeface="Noto Sans JP"/>
              </a:rPr>
              <a:t>スタンダード</a:t>
            </a:r>
            <a:endParaRPr b="0" i="0" sz="1000" u="none" cap="none" strike="noStrike">
              <a:solidFill>
                <a:schemeClr val="dk1"/>
              </a:solidFill>
              <a:latin typeface="Calibri"/>
              <a:ea typeface="Calibri"/>
              <a:cs typeface="Calibri"/>
              <a:sym typeface="Calibri"/>
            </a:endParaRPr>
          </a:p>
        </p:txBody>
      </p:sp>
      <p:sp>
        <p:nvSpPr>
          <p:cNvPr id="330" name="Google Shape;330;p7"/>
          <p:cNvSpPr txBox="1"/>
          <p:nvPr/>
        </p:nvSpPr>
        <p:spPr>
          <a:xfrm>
            <a:off x="780898" y="3928262"/>
            <a:ext cx="510601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Bコース</a:t>
            </a:r>
            <a:endParaRPr b="0" i="0" sz="2400" u="none" cap="none" strike="noStrike">
              <a:solidFill>
                <a:schemeClr val="dk1"/>
              </a:solidFill>
              <a:latin typeface="Calibri"/>
              <a:ea typeface="Calibri"/>
              <a:cs typeface="Calibri"/>
              <a:sym typeface="Calibri"/>
            </a:endParaRPr>
          </a:p>
        </p:txBody>
      </p:sp>
      <p:sp>
        <p:nvSpPr>
          <p:cNvPr id="331" name="Google Shape;331;p7"/>
          <p:cNvSpPr txBox="1"/>
          <p:nvPr/>
        </p:nvSpPr>
        <p:spPr>
          <a:xfrm>
            <a:off x="780898" y="4301338"/>
            <a:ext cx="5029200"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580C"/>
              </a:buClr>
              <a:buSzPts val="1900"/>
              <a:buFont typeface="Noto Sans JP"/>
              <a:buNone/>
            </a:pPr>
            <a:r>
              <a:rPr b="1" i="0" lang="en-US" sz="1900" u="none" cap="none" strike="noStrike">
                <a:solidFill>
                  <a:srgbClr val="EA580C"/>
                </a:solidFill>
                <a:latin typeface="Noto Sans JP"/>
                <a:ea typeface="Noto Sans JP"/>
                <a:cs typeface="Noto Sans JP"/>
                <a:sym typeface="Noto Sans JP"/>
              </a:rPr>
              <a:t>3,000円</a:t>
            </a:r>
            <a:r>
              <a:rPr b="1" i="0" lang="en-US" sz="1100" u="none" cap="none" strike="noStrike">
                <a:solidFill>
                  <a:srgbClr val="6B7280"/>
                </a:solidFill>
                <a:latin typeface="Noto Sans JP"/>
                <a:ea typeface="Noto Sans JP"/>
                <a:cs typeface="Noto Sans JP"/>
                <a:sym typeface="Noto Sans JP"/>
              </a:rPr>
              <a:t>（月額）</a:t>
            </a:r>
            <a:endParaRPr b="0" i="0" sz="1900" u="none" cap="none" strike="noStrike">
              <a:solidFill>
                <a:schemeClr val="dk1"/>
              </a:solidFill>
              <a:latin typeface="Calibri"/>
              <a:ea typeface="Calibri"/>
              <a:cs typeface="Calibri"/>
              <a:sym typeface="Calibri"/>
            </a:endParaRPr>
          </a:p>
        </p:txBody>
      </p:sp>
      <p:sp>
        <p:nvSpPr>
          <p:cNvPr id="332" name="Google Shape;332;p7"/>
          <p:cNvSpPr txBox="1"/>
          <p:nvPr/>
        </p:nvSpPr>
        <p:spPr>
          <a:xfrm>
            <a:off x="780898" y="4787798"/>
            <a:ext cx="5106010"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000"/>
              <a:buFont typeface="Noto Sans JP"/>
              <a:buNone/>
            </a:pPr>
            <a:r>
              <a:rPr b="0" i="0" lang="en-US" sz="1000" u="none" cap="none" strike="noStrike">
                <a:solidFill>
                  <a:srgbClr val="4B5563"/>
                </a:solidFill>
                <a:latin typeface="Noto Sans JP"/>
                <a:ea typeface="Noto Sans JP"/>
                <a:cs typeface="Noto Sans JP"/>
                <a:sym typeface="Noto Sans JP"/>
              </a:rPr>
              <a:t>季節の味覚を手軽に導入できるプラン。</a:t>
            </a:r>
            <a:endParaRPr b="0" i="0" sz="1000" u="none" cap="none" strike="noStrike">
              <a:solidFill>
                <a:schemeClr val="dk1"/>
              </a:solidFill>
              <a:latin typeface="Calibri"/>
              <a:ea typeface="Calibri"/>
              <a:cs typeface="Calibri"/>
              <a:sym typeface="Calibri"/>
            </a:endParaRPr>
          </a:p>
        </p:txBody>
      </p:sp>
      <p:sp>
        <p:nvSpPr>
          <p:cNvPr id="333" name="Google Shape;333;p7"/>
          <p:cNvSpPr/>
          <p:nvPr/>
        </p:nvSpPr>
        <p:spPr>
          <a:xfrm>
            <a:off x="0" y="0"/>
            <a:ext cx="12191695" cy="8577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7"/>
          <p:cNvSpPr/>
          <p:nvPr/>
        </p:nvSpPr>
        <p:spPr>
          <a:xfrm>
            <a:off x="0" y="838505"/>
            <a:ext cx="12191695" cy="19202"/>
          </a:xfrm>
          <a:prstGeom prst="rect">
            <a:avLst/>
          </a:prstGeom>
          <a:solidFill>
            <a:srgbClr val="FFF7ED"/>
          </a:solidFill>
          <a:ln cap="flat" cmpd="sng" w="12700">
            <a:solidFill>
              <a:srgbClr val="FFF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7"/>
          <p:cNvSpPr txBox="1"/>
          <p:nvPr/>
        </p:nvSpPr>
        <p:spPr>
          <a:xfrm>
            <a:off x="571500" y="331013"/>
            <a:ext cx="5152644"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Arial"/>
              <a:buNone/>
            </a:pPr>
            <a:r>
              <a:rPr b="1" i="0" lang="en-US" sz="2700" u="none" cap="none" strike="noStrike">
                <a:solidFill>
                  <a:srgbClr val="111827"/>
                </a:solidFill>
                <a:latin typeface="Arial"/>
                <a:ea typeface="Arial"/>
                <a:cs typeface="Arial"/>
                <a:sym typeface="Arial"/>
              </a:rPr>
              <a:t>提供コースと運用イメージ</a:t>
            </a:r>
            <a:endParaRPr b="0" i="0" sz="2700" u="none" cap="none" strike="noStrike">
              <a:solidFill>
                <a:schemeClr val="dk1"/>
              </a:solidFill>
              <a:latin typeface="Calibri"/>
              <a:ea typeface="Calibri"/>
              <a:cs typeface="Calibri"/>
              <a:sym typeface="Calibri"/>
            </a:endParaRPr>
          </a:p>
        </p:txBody>
      </p:sp>
      <p:sp>
        <p:nvSpPr>
          <p:cNvPr id="336" name="Google Shape;336;p7"/>
          <p:cNvSpPr txBox="1"/>
          <p:nvPr/>
        </p:nvSpPr>
        <p:spPr>
          <a:xfrm>
            <a:off x="9568282" y="437998"/>
            <a:ext cx="2221992"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300"/>
              <a:buFont typeface="Noto Sans JP"/>
              <a:buNone/>
            </a:pPr>
            <a:r>
              <a:rPr b="1" i="0" lang="en-US" sz="1300" u="none" cap="none" strike="noStrike">
                <a:solidFill>
                  <a:srgbClr val="9CA3AF"/>
                </a:solidFill>
                <a:latin typeface="Noto Sans JP"/>
                <a:ea typeface="Noto Sans JP"/>
                <a:cs typeface="Noto Sans JP"/>
                <a:sym typeface="Noto Sans JP"/>
              </a:rPr>
              <a:t>株式会社フードサプライズ</a:t>
            </a:r>
            <a:endParaRPr b="0" i="0" sz="1300" u="none" cap="none" strike="noStrike">
              <a:solidFill>
                <a:schemeClr val="dk1"/>
              </a:solidFill>
              <a:latin typeface="Calibri"/>
              <a:ea typeface="Calibri"/>
              <a:cs typeface="Calibri"/>
              <a:sym typeface="Calibri"/>
            </a:endParaRPr>
          </a:p>
        </p:txBody>
      </p:sp>
      <p:pic>
        <p:nvPicPr>
          <p:cNvPr descr="preencoded.png" id="337" name="Google Shape;337;p7"/>
          <p:cNvPicPr preferRelativeResize="0"/>
          <p:nvPr/>
        </p:nvPicPr>
        <p:blipFill rotWithShape="1">
          <a:blip r:embed="rId12">
            <a:alphaModFix/>
          </a:blip>
          <a:srcRect b="0" l="-200" r="-200" t="0"/>
          <a:stretch/>
        </p:blipFill>
        <p:spPr>
          <a:xfrm>
            <a:off x="0" y="6782105"/>
            <a:ext cx="12191695" cy="7589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
          <p:cNvSpPr/>
          <p:nvPr/>
        </p:nvSpPr>
        <p:spPr>
          <a:xfrm>
            <a:off x="0" y="0"/>
            <a:ext cx="12191695" cy="6858000"/>
          </a:xfrm>
          <a:prstGeom prst="rect">
            <a:avLst/>
          </a:prstGeom>
          <a:solidFill>
            <a:srgbClr val="F3F4F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8"/>
          <p:cNvSpPr/>
          <p:nvPr/>
        </p:nvSpPr>
        <p:spPr>
          <a:xfrm>
            <a:off x="0" y="0"/>
            <a:ext cx="12191695" cy="6858000"/>
          </a:xfrm>
          <a:prstGeom prst="rect">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8"/>
          <p:cNvSpPr/>
          <p:nvPr/>
        </p:nvSpPr>
        <p:spPr>
          <a:xfrm>
            <a:off x="0" y="838505"/>
            <a:ext cx="12191695" cy="19202"/>
          </a:xfrm>
          <a:prstGeom prst="rect">
            <a:avLst/>
          </a:prstGeom>
          <a:solidFill>
            <a:srgbClr val="FFF7ED"/>
          </a:solidFill>
          <a:ln cap="flat" cmpd="sng" w="12700">
            <a:solidFill>
              <a:srgbClr val="FFF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8"/>
          <p:cNvSpPr txBox="1"/>
          <p:nvPr/>
        </p:nvSpPr>
        <p:spPr>
          <a:xfrm>
            <a:off x="571500" y="331013"/>
            <a:ext cx="1782166"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Arial"/>
              <a:buNone/>
            </a:pPr>
            <a:r>
              <a:rPr b="1" i="0" lang="en-US" sz="2700" u="none" cap="none" strike="noStrike">
                <a:solidFill>
                  <a:srgbClr val="111827"/>
                </a:solidFill>
                <a:latin typeface="Arial"/>
                <a:ea typeface="Arial"/>
                <a:cs typeface="Arial"/>
                <a:sym typeface="Arial"/>
              </a:rPr>
              <a:t>活用事例</a:t>
            </a:r>
            <a:endParaRPr b="0" i="0" sz="2700" u="none" cap="none" strike="noStrike">
              <a:solidFill>
                <a:schemeClr val="dk1"/>
              </a:solidFill>
              <a:latin typeface="Calibri"/>
              <a:ea typeface="Calibri"/>
              <a:cs typeface="Calibri"/>
              <a:sym typeface="Calibri"/>
            </a:endParaRPr>
          </a:p>
        </p:txBody>
      </p:sp>
      <p:sp>
        <p:nvSpPr>
          <p:cNvPr id="347" name="Google Shape;347;p8"/>
          <p:cNvSpPr txBox="1"/>
          <p:nvPr/>
        </p:nvSpPr>
        <p:spPr>
          <a:xfrm>
            <a:off x="9568282" y="428854"/>
            <a:ext cx="2221992"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300"/>
              <a:buFont typeface="Noto Sans JP"/>
              <a:buNone/>
            </a:pPr>
            <a:r>
              <a:rPr b="1" i="0" lang="en-US" sz="1300" u="none" cap="none" strike="noStrike">
                <a:solidFill>
                  <a:srgbClr val="9CA3AF"/>
                </a:solidFill>
                <a:latin typeface="Noto Sans JP"/>
                <a:ea typeface="Noto Sans JP"/>
                <a:cs typeface="Noto Sans JP"/>
                <a:sym typeface="Noto Sans JP"/>
              </a:rPr>
              <a:t>株式会社フードサプライズ</a:t>
            </a:r>
            <a:endParaRPr b="0" i="0" sz="1300" u="none" cap="none" strike="noStrike">
              <a:solidFill>
                <a:schemeClr val="dk1"/>
              </a:solidFill>
              <a:latin typeface="Calibri"/>
              <a:ea typeface="Calibri"/>
              <a:cs typeface="Calibri"/>
              <a:sym typeface="Calibri"/>
            </a:endParaRPr>
          </a:p>
        </p:txBody>
      </p:sp>
      <p:sp>
        <p:nvSpPr>
          <p:cNvPr id="348" name="Google Shape;348;p8"/>
          <p:cNvSpPr txBox="1"/>
          <p:nvPr/>
        </p:nvSpPr>
        <p:spPr>
          <a:xfrm>
            <a:off x="571500" y="1238098"/>
            <a:ext cx="11239805"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580C"/>
              </a:buClr>
              <a:buSzPts val="1800"/>
              <a:buFont typeface="Arial"/>
              <a:buNone/>
            </a:pPr>
            <a:r>
              <a:rPr b="1" i="0" lang="en-US" sz="1800" u="none" cap="none" strike="noStrike">
                <a:solidFill>
                  <a:srgbClr val="EA580C"/>
                </a:solidFill>
                <a:latin typeface="Arial"/>
                <a:ea typeface="Arial"/>
                <a:cs typeface="Arial"/>
                <a:sym typeface="Arial"/>
              </a:rPr>
              <a:t>様々な業界・シーンでの導入実績</a:t>
            </a:r>
            <a:endParaRPr b="0" i="0" sz="1800" u="none" cap="none" strike="noStrike">
              <a:solidFill>
                <a:schemeClr val="dk1"/>
              </a:solidFill>
              <a:latin typeface="Calibri"/>
              <a:ea typeface="Calibri"/>
              <a:cs typeface="Calibri"/>
              <a:sym typeface="Calibri"/>
            </a:endParaRPr>
          </a:p>
        </p:txBody>
      </p:sp>
      <p:sp>
        <p:nvSpPr>
          <p:cNvPr id="349" name="Google Shape;349;p8"/>
          <p:cNvSpPr txBox="1"/>
          <p:nvPr/>
        </p:nvSpPr>
        <p:spPr>
          <a:xfrm>
            <a:off x="571500" y="1657807"/>
            <a:ext cx="11239805"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200"/>
              <a:buFont typeface="Noto Sans JP"/>
              <a:buNone/>
            </a:pPr>
            <a:r>
              <a:rPr b="0" i="0" lang="en-US" sz="1200" u="none" cap="none" strike="noStrike">
                <a:solidFill>
                  <a:srgbClr val="4B5563"/>
                </a:solidFill>
                <a:latin typeface="Noto Sans JP"/>
                <a:ea typeface="Noto Sans JP"/>
                <a:cs typeface="Noto Sans JP"/>
                <a:sym typeface="Noto Sans JP"/>
              </a:rPr>
              <a:t>販促から福利厚生まで、貴社の目的に合わせて柔軟にご活用いただけます。</a:t>
            </a:r>
            <a:endParaRPr b="0" i="0" sz="1200" u="none" cap="none" strike="noStrike">
              <a:solidFill>
                <a:schemeClr val="dk1"/>
              </a:solidFill>
              <a:latin typeface="Calibri"/>
              <a:ea typeface="Calibri"/>
              <a:cs typeface="Calibri"/>
              <a:sym typeface="Calibri"/>
            </a:endParaRPr>
          </a:p>
        </p:txBody>
      </p:sp>
      <p:pic>
        <p:nvPicPr>
          <p:cNvPr descr="preencoded.png" id="350" name="Google Shape;350;p8"/>
          <p:cNvPicPr preferRelativeResize="0"/>
          <p:nvPr/>
        </p:nvPicPr>
        <p:blipFill rotWithShape="1">
          <a:blip r:embed="rId3">
            <a:alphaModFix/>
          </a:blip>
          <a:srcRect b="0" l="0" r="0" t="0"/>
          <a:stretch/>
        </p:blipFill>
        <p:spPr>
          <a:xfrm>
            <a:off x="571500" y="2124151"/>
            <a:ext cx="3524098" cy="4371746"/>
          </a:xfrm>
          <a:prstGeom prst="rect">
            <a:avLst/>
          </a:prstGeom>
          <a:noFill/>
          <a:ln>
            <a:noFill/>
          </a:ln>
        </p:spPr>
      </p:pic>
      <p:sp>
        <p:nvSpPr>
          <p:cNvPr id="351" name="Google Shape;351;p8"/>
          <p:cNvSpPr/>
          <p:nvPr/>
        </p:nvSpPr>
        <p:spPr>
          <a:xfrm>
            <a:off x="580644" y="2133295"/>
            <a:ext cx="3504895" cy="1333195"/>
          </a:xfrm>
          <a:prstGeom prst="roundRect">
            <a:avLst>
              <a:gd fmla="val 19596" name="adj"/>
            </a:avLst>
          </a:prstGeom>
          <a:solidFill>
            <a:srgbClr val="FFF7ED"/>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2" name="Google Shape;352;p8"/>
          <p:cNvPicPr preferRelativeResize="0"/>
          <p:nvPr/>
        </p:nvPicPr>
        <p:blipFill rotWithShape="1">
          <a:blip r:embed="rId4">
            <a:alphaModFix amt="90000"/>
          </a:blip>
          <a:srcRect b="0" l="0" r="0" t="0"/>
          <a:stretch/>
        </p:blipFill>
        <p:spPr>
          <a:xfrm>
            <a:off x="2029054" y="2495398"/>
            <a:ext cx="609905" cy="609905"/>
          </a:xfrm>
          <a:prstGeom prst="rect">
            <a:avLst/>
          </a:prstGeom>
          <a:noFill/>
          <a:ln>
            <a:noFill/>
          </a:ln>
        </p:spPr>
      </p:pic>
      <p:sp>
        <p:nvSpPr>
          <p:cNvPr id="353" name="Google Shape;353;p8"/>
          <p:cNvSpPr txBox="1"/>
          <p:nvPr/>
        </p:nvSpPr>
        <p:spPr>
          <a:xfrm>
            <a:off x="771754" y="3657600"/>
            <a:ext cx="33147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自動車ディーラー様</a:t>
            </a:r>
            <a:endParaRPr b="0" i="0" sz="900" u="none" cap="none" strike="noStrike">
              <a:solidFill>
                <a:schemeClr val="dk1"/>
              </a:solidFill>
              <a:latin typeface="Calibri"/>
              <a:ea typeface="Calibri"/>
              <a:cs typeface="Calibri"/>
              <a:sym typeface="Calibri"/>
            </a:endParaRPr>
          </a:p>
        </p:txBody>
      </p:sp>
      <p:sp>
        <p:nvSpPr>
          <p:cNvPr id="354" name="Google Shape;354;p8"/>
          <p:cNvSpPr txBox="1"/>
          <p:nvPr/>
        </p:nvSpPr>
        <p:spPr>
          <a:xfrm>
            <a:off x="771754" y="3862426"/>
            <a:ext cx="3200400" cy="48646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Arial"/>
              <a:buNone/>
            </a:pPr>
            <a:r>
              <a:rPr b="1" i="0" lang="en-US" sz="1300" u="none" cap="none" strike="noStrike">
                <a:solidFill>
                  <a:srgbClr val="1F2937"/>
                </a:solidFill>
                <a:latin typeface="Arial"/>
                <a:ea typeface="Arial"/>
                <a:cs typeface="Arial"/>
                <a:sym typeface="Arial"/>
              </a:rPr>
              <a:t>新車成約時の</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Arial"/>
              <a:buNone/>
            </a:pPr>
            <a:r>
              <a:rPr b="1" i="0" lang="en-US" sz="1300" u="none" cap="none" strike="noStrike">
                <a:solidFill>
                  <a:srgbClr val="1F2937"/>
                </a:solidFill>
                <a:latin typeface="Arial"/>
                <a:ea typeface="Arial"/>
                <a:cs typeface="Arial"/>
                <a:sym typeface="Arial"/>
              </a:rPr>
              <a:t>プレミアムギフトとして</a:t>
            </a:r>
            <a:endParaRPr b="0" i="0" sz="1300" u="none" cap="none" strike="noStrike">
              <a:solidFill>
                <a:schemeClr val="dk1"/>
              </a:solidFill>
              <a:latin typeface="Calibri"/>
              <a:ea typeface="Calibri"/>
              <a:cs typeface="Calibri"/>
              <a:sym typeface="Calibri"/>
            </a:endParaRPr>
          </a:p>
        </p:txBody>
      </p:sp>
      <p:sp>
        <p:nvSpPr>
          <p:cNvPr id="355" name="Google Shape;355;p8"/>
          <p:cNvSpPr/>
          <p:nvPr/>
        </p:nvSpPr>
        <p:spPr>
          <a:xfrm>
            <a:off x="771754" y="4456786"/>
            <a:ext cx="3124505" cy="400507"/>
          </a:xfrm>
          <a:prstGeom prst="roundRect">
            <a:avLst>
              <a:gd fmla="val 86975" name="adj"/>
            </a:avLst>
          </a:prstGeom>
          <a:solidFill>
            <a:srgbClr val="F9FAFB"/>
          </a:solidFill>
          <a:ln cap="flat" cmpd="sng" w="12700">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6" name="Google Shape;356;p8"/>
          <p:cNvPicPr preferRelativeResize="0"/>
          <p:nvPr/>
        </p:nvPicPr>
        <p:blipFill rotWithShape="1">
          <a:blip r:embed="rId5">
            <a:alphaModFix/>
          </a:blip>
          <a:srcRect b="0" l="0" r="0" t="0"/>
          <a:stretch/>
        </p:blipFill>
        <p:spPr>
          <a:xfrm>
            <a:off x="875995" y="4568342"/>
            <a:ext cx="171907" cy="171907"/>
          </a:xfrm>
          <a:prstGeom prst="rect">
            <a:avLst/>
          </a:prstGeom>
          <a:noFill/>
          <a:ln>
            <a:noFill/>
          </a:ln>
        </p:spPr>
      </p:pic>
      <p:sp>
        <p:nvSpPr>
          <p:cNvPr id="357" name="Google Shape;357;p8"/>
          <p:cNvSpPr txBox="1"/>
          <p:nvPr/>
        </p:nvSpPr>
        <p:spPr>
          <a:xfrm>
            <a:off x="1143000" y="4456786"/>
            <a:ext cx="1684325"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900"/>
              <a:buFont typeface="Noto Sans JP"/>
              <a:buNone/>
            </a:pPr>
            <a:r>
              <a:rPr b="1" i="0" lang="en-US" sz="900" u="none" cap="none" strike="noStrike">
                <a:solidFill>
                  <a:srgbClr val="374151"/>
                </a:solidFill>
                <a:latin typeface="Noto Sans JP"/>
                <a:ea typeface="Noto Sans JP"/>
                <a:cs typeface="Noto Sans JP"/>
                <a:sym typeface="Noto Sans JP"/>
              </a:rPr>
              <a:t>採用商品：山形県産「お米」</a:t>
            </a:r>
            <a:endParaRPr b="0" i="0" sz="900" u="none" cap="none" strike="noStrike">
              <a:solidFill>
                <a:schemeClr val="dk1"/>
              </a:solidFill>
              <a:latin typeface="Calibri"/>
              <a:ea typeface="Calibri"/>
              <a:cs typeface="Calibri"/>
              <a:sym typeface="Calibri"/>
            </a:endParaRPr>
          </a:p>
        </p:txBody>
      </p:sp>
      <p:sp>
        <p:nvSpPr>
          <p:cNvPr id="358" name="Google Shape;358;p8"/>
          <p:cNvSpPr/>
          <p:nvPr/>
        </p:nvSpPr>
        <p:spPr>
          <a:xfrm>
            <a:off x="771754" y="5829300"/>
            <a:ext cx="3124505" cy="9144"/>
          </a:xfrm>
          <a:prstGeom prst="rect">
            <a:avLst/>
          </a:prstGeom>
          <a:solidFill>
            <a:srgbClr val="F3F4F6"/>
          </a:solidFill>
          <a:ln cap="flat" cmpd="sng" w="12700">
            <a:solidFill>
              <a:srgbClr val="F3F4F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8"/>
          <p:cNvSpPr txBox="1"/>
          <p:nvPr/>
        </p:nvSpPr>
        <p:spPr>
          <a:xfrm>
            <a:off x="771754" y="5952744"/>
            <a:ext cx="320040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B5563"/>
              </a:buClr>
              <a:buSzPts val="900"/>
              <a:buFont typeface="Noto Sans JP"/>
              <a:buNone/>
            </a:pPr>
            <a:r>
              <a:rPr b="0" i="1" lang="en-US" sz="900" u="none" cap="none" strike="noStrike">
                <a:solidFill>
                  <a:srgbClr val="4B5563"/>
                </a:solidFill>
                <a:latin typeface="Noto Sans JP"/>
                <a:ea typeface="Noto Sans JP"/>
                <a:cs typeface="Noto Sans JP"/>
                <a:sym typeface="Noto Sans JP"/>
              </a:rPr>
              <a:t>ご家族全員で喜んでいただける「お米」は実用性が高く、特別感のあるブランド米（つや姫）がお客様に好評です。</a:t>
            </a:r>
            <a:endParaRPr b="0" i="0" sz="900" u="none" cap="none" strike="noStrike">
              <a:solidFill>
                <a:schemeClr val="dk1"/>
              </a:solidFill>
              <a:latin typeface="Calibri"/>
              <a:ea typeface="Calibri"/>
              <a:cs typeface="Calibri"/>
              <a:sym typeface="Calibri"/>
            </a:endParaRPr>
          </a:p>
        </p:txBody>
      </p:sp>
      <p:pic>
        <p:nvPicPr>
          <p:cNvPr descr="preencoded.png" id="360" name="Google Shape;360;p8"/>
          <p:cNvPicPr preferRelativeResize="0"/>
          <p:nvPr/>
        </p:nvPicPr>
        <p:blipFill rotWithShape="1">
          <a:blip r:embed="rId3">
            <a:alphaModFix/>
          </a:blip>
          <a:srcRect b="0" l="0" r="0" t="0"/>
          <a:stretch/>
        </p:blipFill>
        <p:spPr>
          <a:xfrm>
            <a:off x="4334256" y="2124151"/>
            <a:ext cx="3524098" cy="4371746"/>
          </a:xfrm>
          <a:prstGeom prst="rect">
            <a:avLst/>
          </a:prstGeom>
          <a:noFill/>
          <a:ln>
            <a:noFill/>
          </a:ln>
        </p:spPr>
      </p:pic>
      <p:sp>
        <p:nvSpPr>
          <p:cNvPr id="361" name="Google Shape;361;p8"/>
          <p:cNvSpPr/>
          <p:nvPr/>
        </p:nvSpPr>
        <p:spPr>
          <a:xfrm>
            <a:off x="4343400" y="2133295"/>
            <a:ext cx="3504895" cy="1333195"/>
          </a:xfrm>
          <a:prstGeom prst="roundRect">
            <a:avLst>
              <a:gd fmla="val 19596" name="adj"/>
            </a:avLst>
          </a:prstGeom>
          <a:solidFill>
            <a:srgbClr val="ECFDF5"/>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2" name="Google Shape;362;p8"/>
          <p:cNvPicPr preferRelativeResize="0"/>
          <p:nvPr/>
        </p:nvPicPr>
        <p:blipFill rotWithShape="1">
          <a:blip r:embed="rId6">
            <a:alphaModFix amt="90000"/>
          </a:blip>
          <a:srcRect b="-25" l="0" r="0" t="-25"/>
          <a:stretch/>
        </p:blipFill>
        <p:spPr>
          <a:xfrm>
            <a:off x="5753405" y="2495398"/>
            <a:ext cx="685800" cy="609905"/>
          </a:xfrm>
          <a:prstGeom prst="rect">
            <a:avLst/>
          </a:prstGeom>
          <a:noFill/>
          <a:ln>
            <a:noFill/>
          </a:ln>
        </p:spPr>
      </p:pic>
      <p:sp>
        <p:nvSpPr>
          <p:cNvPr id="363" name="Google Shape;363;p8"/>
          <p:cNvSpPr txBox="1"/>
          <p:nvPr/>
        </p:nvSpPr>
        <p:spPr>
          <a:xfrm>
            <a:off x="4533595" y="3657600"/>
            <a:ext cx="33147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ハウスメーカー様</a:t>
            </a:r>
            <a:endParaRPr b="0" i="0" sz="900" u="none" cap="none" strike="noStrike">
              <a:solidFill>
                <a:schemeClr val="dk1"/>
              </a:solidFill>
              <a:latin typeface="Calibri"/>
              <a:ea typeface="Calibri"/>
              <a:cs typeface="Calibri"/>
              <a:sym typeface="Calibri"/>
            </a:endParaRPr>
          </a:p>
        </p:txBody>
      </p:sp>
      <p:sp>
        <p:nvSpPr>
          <p:cNvPr id="364" name="Google Shape;364;p8"/>
          <p:cNvSpPr txBox="1"/>
          <p:nvPr/>
        </p:nvSpPr>
        <p:spPr>
          <a:xfrm>
            <a:off x="4533595" y="3862426"/>
            <a:ext cx="3200400" cy="48646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Arial"/>
              <a:buNone/>
            </a:pPr>
            <a:r>
              <a:rPr b="1" i="0" lang="en-US" sz="1300" u="none" cap="none" strike="noStrike">
                <a:solidFill>
                  <a:srgbClr val="1F2937"/>
                </a:solidFill>
                <a:latin typeface="Arial"/>
                <a:ea typeface="Arial"/>
                <a:cs typeface="Arial"/>
                <a:sym typeface="Arial"/>
              </a:rPr>
              <a:t>住宅展示場での</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Arial"/>
              <a:buNone/>
            </a:pPr>
            <a:r>
              <a:rPr b="1" i="0" lang="en-US" sz="1300" u="none" cap="none" strike="noStrike">
                <a:solidFill>
                  <a:srgbClr val="1F2937"/>
                </a:solidFill>
                <a:latin typeface="Arial"/>
                <a:ea typeface="Arial"/>
                <a:cs typeface="Arial"/>
                <a:sym typeface="Arial"/>
              </a:rPr>
              <a:t>季節のおもてなし</a:t>
            </a:r>
            <a:endParaRPr b="0" i="0" sz="1300" u="none" cap="none" strike="noStrike">
              <a:solidFill>
                <a:schemeClr val="dk1"/>
              </a:solidFill>
              <a:latin typeface="Calibri"/>
              <a:ea typeface="Calibri"/>
              <a:cs typeface="Calibri"/>
              <a:sym typeface="Calibri"/>
            </a:endParaRPr>
          </a:p>
        </p:txBody>
      </p:sp>
      <p:sp>
        <p:nvSpPr>
          <p:cNvPr id="365" name="Google Shape;365;p8"/>
          <p:cNvSpPr/>
          <p:nvPr/>
        </p:nvSpPr>
        <p:spPr>
          <a:xfrm>
            <a:off x="4533595" y="4456786"/>
            <a:ext cx="3124505" cy="400507"/>
          </a:xfrm>
          <a:prstGeom prst="roundRect">
            <a:avLst>
              <a:gd fmla="val 86975" name="adj"/>
            </a:avLst>
          </a:prstGeom>
          <a:solidFill>
            <a:srgbClr val="F9FAFB"/>
          </a:solidFill>
          <a:ln cap="flat" cmpd="sng" w="12700">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6" name="Google Shape;366;p8"/>
          <p:cNvPicPr preferRelativeResize="0"/>
          <p:nvPr/>
        </p:nvPicPr>
        <p:blipFill rotWithShape="1">
          <a:blip r:embed="rId7">
            <a:alphaModFix/>
          </a:blip>
          <a:srcRect b="0" l="0" r="0" t="0"/>
          <a:stretch/>
        </p:blipFill>
        <p:spPr>
          <a:xfrm>
            <a:off x="4638751" y="4568342"/>
            <a:ext cx="171907" cy="171907"/>
          </a:xfrm>
          <a:prstGeom prst="rect">
            <a:avLst/>
          </a:prstGeom>
          <a:noFill/>
          <a:ln>
            <a:noFill/>
          </a:ln>
        </p:spPr>
      </p:pic>
      <p:sp>
        <p:nvSpPr>
          <p:cNvPr id="367" name="Google Shape;367;p8"/>
          <p:cNvSpPr txBox="1"/>
          <p:nvPr/>
        </p:nvSpPr>
        <p:spPr>
          <a:xfrm>
            <a:off x="4905756" y="4456786"/>
            <a:ext cx="2181758"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900"/>
              <a:buFont typeface="Noto Sans JP"/>
              <a:buNone/>
            </a:pPr>
            <a:r>
              <a:rPr b="1" i="0" lang="en-US" sz="900" u="none" cap="none" strike="noStrike">
                <a:solidFill>
                  <a:srgbClr val="374151"/>
                </a:solidFill>
                <a:latin typeface="Noto Sans JP"/>
                <a:ea typeface="Noto Sans JP"/>
                <a:cs typeface="Noto Sans JP"/>
                <a:sym typeface="Noto Sans JP"/>
              </a:rPr>
              <a:t>採用商品：ラ・フランス（季節限定）</a:t>
            </a:r>
            <a:endParaRPr b="0" i="0" sz="900" u="none" cap="none" strike="noStrike">
              <a:solidFill>
                <a:schemeClr val="dk1"/>
              </a:solidFill>
              <a:latin typeface="Calibri"/>
              <a:ea typeface="Calibri"/>
              <a:cs typeface="Calibri"/>
              <a:sym typeface="Calibri"/>
            </a:endParaRPr>
          </a:p>
        </p:txBody>
      </p:sp>
      <p:sp>
        <p:nvSpPr>
          <p:cNvPr id="368" name="Google Shape;368;p8"/>
          <p:cNvSpPr/>
          <p:nvPr/>
        </p:nvSpPr>
        <p:spPr>
          <a:xfrm>
            <a:off x="4533595" y="5829300"/>
            <a:ext cx="3124505" cy="9144"/>
          </a:xfrm>
          <a:prstGeom prst="rect">
            <a:avLst/>
          </a:prstGeom>
          <a:solidFill>
            <a:srgbClr val="F3F4F6"/>
          </a:solidFill>
          <a:ln cap="flat" cmpd="sng" w="12700">
            <a:solidFill>
              <a:srgbClr val="F3F4F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8"/>
          <p:cNvSpPr txBox="1"/>
          <p:nvPr/>
        </p:nvSpPr>
        <p:spPr>
          <a:xfrm>
            <a:off x="4533595" y="5952744"/>
            <a:ext cx="320040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B5563"/>
              </a:buClr>
              <a:buSzPts val="900"/>
              <a:buFont typeface="Noto Sans JP"/>
              <a:buNone/>
            </a:pPr>
            <a:r>
              <a:rPr b="0" i="1" lang="en-US" sz="900" u="none" cap="none" strike="noStrike">
                <a:solidFill>
                  <a:srgbClr val="4B5563"/>
                </a:solidFill>
                <a:latin typeface="Noto Sans JP"/>
                <a:ea typeface="Noto Sans JP"/>
                <a:cs typeface="Noto Sans JP"/>
                <a:sym typeface="Noto Sans JP"/>
              </a:rPr>
              <a:t>季節を感じる高級フルーツのプレゼントが、来場の きっかけ作りや、商談時の話題作りに役立っています。</a:t>
            </a:r>
            <a:endParaRPr b="0" i="0" sz="900" u="none" cap="none" strike="noStrike">
              <a:solidFill>
                <a:schemeClr val="dk1"/>
              </a:solidFill>
              <a:latin typeface="Calibri"/>
              <a:ea typeface="Calibri"/>
              <a:cs typeface="Calibri"/>
              <a:sym typeface="Calibri"/>
            </a:endParaRPr>
          </a:p>
        </p:txBody>
      </p:sp>
      <p:pic>
        <p:nvPicPr>
          <p:cNvPr descr="preencoded.png" id="370" name="Google Shape;370;p8"/>
          <p:cNvPicPr preferRelativeResize="0"/>
          <p:nvPr/>
        </p:nvPicPr>
        <p:blipFill rotWithShape="1">
          <a:blip r:embed="rId3">
            <a:alphaModFix/>
          </a:blip>
          <a:srcRect b="0" l="0" r="0" t="0"/>
          <a:stretch/>
        </p:blipFill>
        <p:spPr>
          <a:xfrm>
            <a:off x="8096098" y="2124151"/>
            <a:ext cx="3524098" cy="4371746"/>
          </a:xfrm>
          <a:prstGeom prst="rect">
            <a:avLst/>
          </a:prstGeom>
          <a:noFill/>
          <a:ln>
            <a:noFill/>
          </a:ln>
        </p:spPr>
      </p:pic>
      <p:sp>
        <p:nvSpPr>
          <p:cNvPr id="371" name="Google Shape;371;p8"/>
          <p:cNvSpPr/>
          <p:nvPr/>
        </p:nvSpPr>
        <p:spPr>
          <a:xfrm>
            <a:off x="8106156" y="2133295"/>
            <a:ext cx="3504895" cy="1333195"/>
          </a:xfrm>
          <a:prstGeom prst="roundRect">
            <a:avLst>
              <a:gd fmla="val 19596" name="adj"/>
            </a:avLst>
          </a:prstGeom>
          <a:solidFill>
            <a:srgbClr val="EFF6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2" name="Google Shape;372;p8"/>
          <p:cNvPicPr preferRelativeResize="0"/>
          <p:nvPr/>
        </p:nvPicPr>
        <p:blipFill rotWithShape="1">
          <a:blip r:embed="rId8">
            <a:alphaModFix amt="90000"/>
          </a:blip>
          <a:srcRect b="-45" l="0" r="0" t="-45"/>
          <a:stretch/>
        </p:blipFill>
        <p:spPr>
          <a:xfrm>
            <a:off x="9477756" y="2495398"/>
            <a:ext cx="761695" cy="609905"/>
          </a:xfrm>
          <a:prstGeom prst="rect">
            <a:avLst/>
          </a:prstGeom>
          <a:noFill/>
          <a:ln>
            <a:noFill/>
          </a:ln>
        </p:spPr>
      </p:pic>
      <p:sp>
        <p:nvSpPr>
          <p:cNvPr id="373" name="Google Shape;373;p8"/>
          <p:cNvSpPr txBox="1"/>
          <p:nvPr/>
        </p:nvSpPr>
        <p:spPr>
          <a:xfrm>
            <a:off x="8296351" y="3657600"/>
            <a:ext cx="33147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一般企業様（IT・サービス等）</a:t>
            </a:r>
            <a:endParaRPr b="0" i="0" sz="900" u="none" cap="none" strike="noStrike">
              <a:solidFill>
                <a:schemeClr val="dk1"/>
              </a:solidFill>
              <a:latin typeface="Calibri"/>
              <a:ea typeface="Calibri"/>
              <a:cs typeface="Calibri"/>
              <a:sym typeface="Calibri"/>
            </a:endParaRPr>
          </a:p>
        </p:txBody>
      </p:sp>
      <p:sp>
        <p:nvSpPr>
          <p:cNvPr id="374" name="Google Shape;374;p8"/>
          <p:cNvSpPr txBox="1"/>
          <p:nvPr/>
        </p:nvSpPr>
        <p:spPr>
          <a:xfrm>
            <a:off x="8296351" y="3862426"/>
            <a:ext cx="3200400" cy="48646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Arial"/>
              <a:buNone/>
            </a:pPr>
            <a:r>
              <a:rPr b="1" i="0" lang="en-US" sz="1300" u="none" cap="none" strike="noStrike">
                <a:solidFill>
                  <a:srgbClr val="1F2937"/>
                </a:solidFill>
                <a:latin typeface="Arial"/>
                <a:ea typeface="Arial"/>
                <a:cs typeface="Arial"/>
                <a:sym typeface="Arial"/>
              </a:rPr>
              <a:t>毎月の定期配送で</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Arial"/>
              <a:buNone/>
            </a:pPr>
            <a:r>
              <a:rPr b="1" i="0" lang="en-US" sz="1300" u="none" cap="none" strike="noStrike">
                <a:solidFill>
                  <a:srgbClr val="1F2937"/>
                </a:solidFill>
                <a:latin typeface="Arial"/>
                <a:ea typeface="Arial"/>
                <a:cs typeface="Arial"/>
                <a:sym typeface="Arial"/>
              </a:rPr>
              <a:t>社内エンゲージメント向上</a:t>
            </a:r>
            <a:endParaRPr b="0" i="0" sz="1300" u="none" cap="none" strike="noStrike">
              <a:solidFill>
                <a:schemeClr val="dk1"/>
              </a:solidFill>
              <a:latin typeface="Calibri"/>
              <a:ea typeface="Calibri"/>
              <a:cs typeface="Calibri"/>
              <a:sym typeface="Calibri"/>
            </a:endParaRPr>
          </a:p>
        </p:txBody>
      </p:sp>
      <p:sp>
        <p:nvSpPr>
          <p:cNvPr id="375" name="Google Shape;375;p8"/>
          <p:cNvSpPr/>
          <p:nvPr/>
        </p:nvSpPr>
        <p:spPr>
          <a:xfrm>
            <a:off x="8296351" y="4456786"/>
            <a:ext cx="3124505" cy="400507"/>
          </a:xfrm>
          <a:prstGeom prst="roundRect">
            <a:avLst>
              <a:gd fmla="val 86975" name="adj"/>
            </a:avLst>
          </a:prstGeom>
          <a:solidFill>
            <a:srgbClr val="F9FAFB"/>
          </a:solidFill>
          <a:ln cap="flat" cmpd="sng" w="12700">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6" name="Google Shape;376;p8"/>
          <p:cNvPicPr preferRelativeResize="0"/>
          <p:nvPr/>
        </p:nvPicPr>
        <p:blipFill rotWithShape="1">
          <a:blip r:embed="rId9">
            <a:alphaModFix/>
          </a:blip>
          <a:srcRect b="0" l="-1064" r="-1064" t="0"/>
          <a:stretch/>
        </p:blipFill>
        <p:spPr>
          <a:xfrm>
            <a:off x="8401507" y="4568342"/>
            <a:ext cx="219456" cy="171907"/>
          </a:xfrm>
          <a:prstGeom prst="rect">
            <a:avLst/>
          </a:prstGeom>
          <a:noFill/>
          <a:ln>
            <a:noFill/>
          </a:ln>
        </p:spPr>
      </p:pic>
      <p:sp>
        <p:nvSpPr>
          <p:cNvPr id="377" name="Google Shape;377;p8"/>
          <p:cNvSpPr txBox="1"/>
          <p:nvPr/>
        </p:nvSpPr>
        <p:spPr>
          <a:xfrm>
            <a:off x="8715146" y="4456786"/>
            <a:ext cx="1833372"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900"/>
              <a:buFont typeface="Noto Sans JP"/>
              <a:buNone/>
            </a:pPr>
            <a:r>
              <a:rPr b="1" i="0" lang="en-US" sz="900" u="none" cap="none" strike="noStrike">
                <a:solidFill>
                  <a:srgbClr val="374151"/>
                </a:solidFill>
                <a:latin typeface="Noto Sans JP"/>
                <a:ea typeface="Noto Sans JP"/>
                <a:cs typeface="Noto Sans JP"/>
                <a:sym typeface="Noto Sans JP"/>
              </a:rPr>
              <a:t>採用商品：旬の果物 定期コース</a:t>
            </a:r>
            <a:endParaRPr b="0" i="0" sz="900" u="none" cap="none" strike="noStrike">
              <a:solidFill>
                <a:schemeClr val="dk1"/>
              </a:solidFill>
              <a:latin typeface="Calibri"/>
              <a:ea typeface="Calibri"/>
              <a:cs typeface="Calibri"/>
              <a:sym typeface="Calibri"/>
            </a:endParaRPr>
          </a:p>
        </p:txBody>
      </p:sp>
      <p:sp>
        <p:nvSpPr>
          <p:cNvPr id="378" name="Google Shape;378;p8"/>
          <p:cNvSpPr/>
          <p:nvPr/>
        </p:nvSpPr>
        <p:spPr>
          <a:xfrm>
            <a:off x="8296351" y="5829300"/>
            <a:ext cx="3124505" cy="9144"/>
          </a:xfrm>
          <a:prstGeom prst="rect">
            <a:avLst/>
          </a:prstGeom>
          <a:solidFill>
            <a:srgbClr val="F3F4F6"/>
          </a:solidFill>
          <a:ln cap="flat" cmpd="sng" w="12700">
            <a:solidFill>
              <a:srgbClr val="F3F4F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8"/>
          <p:cNvSpPr txBox="1"/>
          <p:nvPr/>
        </p:nvSpPr>
        <p:spPr>
          <a:xfrm>
            <a:off x="8296351" y="5952744"/>
            <a:ext cx="320040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B5563"/>
              </a:buClr>
              <a:buSzPts val="900"/>
              <a:buFont typeface="Noto Sans JP"/>
              <a:buNone/>
            </a:pPr>
            <a:r>
              <a:rPr b="0" i="1" lang="en-US" sz="900" u="none" cap="none" strike="noStrike">
                <a:solidFill>
                  <a:srgbClr val="4B5563"/>
                </a:solidFill>
                <a:latin typeface="Noto Sans JP"/>
                <a:ea typeface="Noto Sans JP"/>
                <a:cs typeface="Noto Sans JP"/>
                <a:sym typeface="Noto Sans JP"/>
              </a:rPr>
              <a:t>「毎月自宅に届くのを家族が楽しみにしている」という 声が多く、従業員満足度の向上を実感しています。</a:t>
            </a:r>
            <a:endParaRPr b="0" i="0" sz="900" u="none" cap="none" strike="noStrike">
              <a:solidFill>
                <a:schemeClr val="dk1"/>
              </a:solidFill>
              <a:latin typeface="Calibri"/>
              <a:ea typeface="Calibri"/>
              <a:cs typeface="Calibri"/>
              <a:sym typeface="Calibri"/>
            </a:endParaRPr>
          </a:p>
        </p:txBody>
      </p:sp>
      <p:pic>
        <p:nvPicPr>
          <p:cNvPr descr="preencoded.png" id="380" name="Google Shape;380;p8"/>
          <p:cNvPicPr preferRelativeResize="0"/>
          <p:nvPr/>
        </p:nvPicPr>
        <p:blipFill rotWithShape="1">
          <a:blip r:embed="rId10">
            <a:alphaModFix/>
          </a:blip>
          <a:srcRect b="0" l="-200" r="-200" t="0"/>
          <a:stretch/>
        </p:blipFill>
        <p:spPr>
          <a:xfrm>
            <a:off x="0" y="6782105"/>
            <a:ext cx="12191695" cy="75895"/>
          </a:xfrm>
          <a:prstGeom prst="rect">
            <a:avLst/>
          </a:prstGeom>
          <a:noFill/>
          <a:ln>
            <a:noFill/>
          </a:ln>
        </p:spPr>
      </p:pic>
      <p:pic>
        <p:nvPicPr>
          <p:cNvPr descr="preencoded.png" id="381" name="Google Shape;381;p8"/>
          <p:cNvPicPr preferRelativeResize="0"/>
          <p:nvPr/>
        </p:nvPicPr>
        <p:blipFill rotWithShape="1">
          <a:blip r:embed="rId11">
            <a:alphaModFix/>
          </a:blip>
          <a:srcRect b="-943" l="0" r="0" t="-943"/>
          <a:stretch/>
        </p:blipFill>
        <p:spPr>
          <a:xfrm>
            <a:off x="733349" y="2286000"/>
            <a:ext cx="961949" cy="237744"/>
          </a:xfrm>
          <a:prstGeom prst="rect">
            <a:avLst/>
          </a:prstGeom>
          <a:noFill/>
          <a:ln>
            <a:noFill/>
          </a:ln>
        </p:spPr>
      </p:pic>
      <p:sp>
        <p:nvSpPr>
          <p:cNvPr id="382" name="Google Shape;382;p8"/>
          <p:cNvSpPr/>
          <p:nvPr/>
        </p:nvSpPr>
        <p:spPr>
          <a:xfrm>
            <a:off x="705002" y="2286000"/>
            <a:ext cx="1019556" cy="2386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Noto Sans JP"/>
              <a:buNone/>
            </a:pPr>
            <a:r>
              <a:rPr b="1" i="0" lang="en-US" sz="800" u="none" cap="none" strike="noStrike">
                <a:solidFill>
                  <a:srgbClr val="FFFFFF"/>
                </a:solidFill>
                <a:latin typeface="Noto Sans JP"/>
                <a:ea typeface="Noto Sans JP"/>
                <a:cs typeface="Noto Sans JP"/>
                <a:sym typeface="Noto Sans JP"/>
              </a:rPr>
              <a:t>成約プレゼント</a:t>
            </a:r>
            <a:endParaRPr b="0" i="0" sz="800" u="none" cap="none" strike="noStrike">
              <a:solidFill>
                <a:schemeClr val="dk1"/>
              </a:solidFill>
              <a:latin typeface="Calibri"/>
              <a:ea typeface="Calibri"/>
              <a:cs typeface="Calibri"/>
              <a:sym typeface="Calibri"/>
            </a:endParaRPr>
          </a:p>
        </p:txBody>
      </p:sp>
      <p:pic>
        <p:nvPicPr>
          <p:cNvPr descr="preencoded.png" id="383" name="Google Shape;383;p8"/>
          <p:cNvPicPr preferRelativeResize="0"/>
          <p:nvPr/>
        </p:nvPicPr>
        <p:blipFill rotWithShape="1">
          <a:blip r:embed="rId12">
            <a:alphaModFix/>
          </a:blip>
          <a:srcRect b="-963" l="0" r="0" t="-963"/>
          <a:stretch/>
        </p:blipFill>
        <p:spPr>
          <a:xfrm>
            <a:off x="4496105" y="2286000"/>
            <a:ext cx="647395" cy="237744"/>
          </a:xfrm>
          <a:prstGeom prst="rect">
            <a:avLst/>
          </a:prstGeom>
          <a:noFill/>
          <a:ln>
            <a:noFill/>
          </a:ln>
        </p:spPr>
      </p:pic>
      <p:sp>
        <p:nvSpPr>
          <p:cNvPr id="384" name="Google Shape;384;p8"/>
          <p:cNvSpPr/>
          <p:nvPr/>
        </p:nvSpPr>
        <p:spPr>
          <a:xfrm>
            <a:off x="4466844" y="2286000"/>
            <a:ext cx="705002" cy="2386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Noto Sans JP"/>
              <a:buNone/>
            </a:pPr>
            <a:r>
              <a:rPr b="1" i="0" lang="en-US" sz="800" u="none" cap="none" strike="noStrike">
                <a:solidFill>
                  <a:srgbClr val="FFFFFF"/>
                </a:solidFill>
                <a:latin typeface="Noto Sans JP"/>
                <a:ea typeface="Noto Sans JP"/>
                <a:cs typeface="Noto Sans JP"/>
                <a:sym typeface="Noto Sans JP"/>
              </a:rPr>
              <a:t>来場特典</a:t>
            </a:r>
            <a:endParaRPr b="0" i="0" sz="800" u="none" cap="none" strike="noStrike">
              <a:solidFill>
                <a:schemeClr val="dk1"/>
              </a:solidFill>
              <a:latin typeface="Calibri"/>
              <a:ea typeface="Calibri"/>
              <a:cs typeface="Calibri"/>
              <a:sym typeface="Calibri"/>
            </a:endParaRPr>
          </a:p>
        </p:txBody>
      </p:sp>
      <p:pic>
        <p:nvPicPr>
          <p:cNvPr descr="preencoded.png" id="385" name="Google Shape;385;p8"/>
          <p:cNvPicPr preferRelativeResize="0"/>
          <p:nvPr/>
        </p:nvPicPr>
        <p:blipFill rotWithShape="1">
          <a:blip r:embed="rId13">
            <a:alphaModFix/>
          </a:blip>
          <a:srcRect b="-963" l="0" r="0" t="-963"/>
          <a:stretch/>
        </p:blipFill>
        <p:spPr>
          <a:xfrm>
            <a:off x="8257946" y="2286000"/>
            <a:ext cx="647395" cy="237744"/>
          </a:xfrm>
          <a:prstGeom prst="rect">
            <a:avLst/>
          </a:prstGeom>
          <a:noFill/>
          <a:ln>
            <a:noFill/>
          </a:ln>
        </p:spPr>
      </p:pic>
      <p:sp>
        <p:nvSpPr>
          <p:cNvPr id="386" name="Google Shape;386;p8"/>
          <p:cNvSpPr/>
          <p:nvPr/>
        </p:nvSpPr>
        <p:spPr>
          <a:xfrm>
            <a:off x="8229600" y="2286000"/>
            <a:ext cx="705002" cy="2386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Noto Sans JP"/>
              <a:buNone/>
            </a:pPr>
            <a:r>
              <a:rPr b="1" i="0" lang="en-US" sz="800" u="none" cap="none" strike="noStrike">
                <a:solidFill>
                  <a:srgbClr val="FFFFFF"/>
                </a:solidFill>
                <a:latin typeface="Noto Sans JP"/>
                <a:ea typeface="Noto Sans JP"/>
                <a:cs typeface="Noto Sans JP"/>
                <a:sym typeface="Noto Sans JP"/>
              </a:rPr>
              <a:t>福利厚生</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9"/>
          <p:cNvSpPr/>
          <p:nvPr/>
        </p:nvSpPr>
        <p:spPr>
          <a:xfrm>
            <a:off x="0" y="0"/>
            <a:ext cx="12191695" cy="6858000"/>
          </a:xfrm>
          <a:prstGeom prst="rect">
            <a:avLst/>
          </a:prstGeom>
          <a:solidFill>
            <a:srgbClr val="F3F4F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9"/>
          <p:cNvSpPr/>
          <p:nvPr/>
        </p:nvSpPr>
        <p:spPr>
          <a:xfrm>
            <a:off x="0" y="0"/>
            <a:ext cx="12191695" cy="6858000"/>
          </a:xfrm>
          <a:prstGeom prst="rect">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9"/>
          <p:cNvSpPr/>
          <p:nvPr/>
        </p:nvSpPr>
        <p:spPr>
          <a:xfrm>
            <a:off x="0" y="838505"/>
            <a:ext cx="12191695" cy="19202"/>
          </a:xfrm>
          <a:prstGeom prst="rect">
            <a:avLst/>
          </a:prstGeom>
          <a:solidFill>
            <a:srgbClr val="F3F4F6"/>
          </a:solidFill>
          <a:ln cap="flat" cmpd="sng" w="12700">
            <a:solidFill>
              <a:srgbClr val="F3F4F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9"/>
          <p:cNvSpPr txBox="1"/>
          <p:nvPr/>
        </p:nvSpPr>
        <p:spPr>
          <a:xfrm>
            <a:off x="571500" y="256946"/>
            <a:ext cx="5152644" cy="514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Arial"/>
              <a:buNone/>
            </a:pPr>
            <a:r>
              <a:rPr b="1" i="0" lang="en-US" sz="2700" u="none" cap="none" strike="noStrike">
                <a:solidFill>
                  <a:srgbClr val="111827"/>
                </a:solidFill>
                <a:latin typeface="Arial"/>
                <a:ea typeface="Arial"/>
                <a:cs typeface="Arial"/>
                <a:sym typeface="Arial"/>
              </a:rPr>
              <a:t>次回提案に向けた確認事項</a:t>
            </a:r>
            <a:endParaRPr b="0" i="0" sz="2700" u="none" cap="none" strike="noStrike">
              <a:solidFill>
                <a:schemeClr val="dk1"/>
              </a:solidFill>
              <a:latin typeface="Calibri"/>
              <a:ea typeface="Calibri"/>
              <a:cs typeface="Calibri"/>
              <a:sym typeface="Calibri"/>
            </a:endParaRPr>
          </a:p>
        </p:txBody>
      </p:sp>
      <p:sp>
        <p:nvSpPr>
          <p:cNvPr id="396" name="Google Shape;396;p9"/>
          <p:cNvSpPr txBox="1"/>
          <p:nvPr/>
        </p:nvSpPr>
        <p:spPr>
          <a:xfrm>
            <a:off x="9568282" y="385877"/>
            <a:ext cx="2221992"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300"/>
              <a:buFont typeface="Noto Sans JP"/>
              <a:buNone/>
            </a:pPr>
            <a:r>
              <a:rPr b="1" i="0" lang="en-US" sz="1300" u="none" cap="none" strike="noStrike">
                <a:solidFill>
                  <a:srgbClr val="9CA3AF"/>
                </a:solidFill>
                <a:latin typeface="Noto Sans JP"/>
                <a:ea typeface="Noto Sans JP"/>
                <a:cs typeface="Noto Sans JP"/>
                <a:sym typeface="Noto Sans JP"/>
              </a:rPr>
              <a:t>株式会社フードサプライズ</a:t>
            </a:r>
            <a:endParaRPr b="0" i="0" sz="1300" u="none" cap="none" strike="noStrike">
              <a:solidFill>
                <a:schemeClr val="dk1"/>
              </a:solidFill>
              <a:latin typeface="Calibri"/>
              <a:ea typeface="Calibri"/>
              <a:cs typeface="Calibri"/>
              <a:sym typeface="Calibri"/>
            </a:endParaRPr>
          </a:p>
        </p:txBody>
      </p:sp>
      <p:pic>
        <p:nvPicPr>
          <p:cNvPr descr="preencoded.png" id="397" name="Google Shape;397;p9"/>
          <p:cNvPicPr preferRelativeResize="0"/>
          <p:nvPr/>
        </p:nvPicPr>
        <p:blipFill rotWithShape="1">
          <a:blip r:embed="rId3">
            <a:alphaModFix/>
          </a:blip>
          <a:srcRect b="13082" l="0" r="0" t="13082"/>
          <a:stretch/>
        </p:blipFill>
        <p:spPr>
          <a:xfrm>
            <a:off x="0" y="857707"/>
            <a:ext cx="12191695" cy="6001207"/>
          </a:xfrm>
          <a:prstGeom prst="rect">
            <a:avLst/>
          </a:prstGeom>
          <a:noFill/>
          <a:ln>
            <a:noFill/>
          </a:ln>
        </p:spPr>
      </p:pic>
      <p:pic>
        <p:nvPicPr>
          <p:cNvPr descr="preencoded.png" id="398" name="Google Shape;398;p9"/>
          <p:cNvPicPr preferRelativeResize="0"/>
          <p:nvPr/>
        </p:nvPicPr>
        <p:blipFill rotWithShape="1">
          <a:blip r:embed="rId4">
            <a:alphaModFix/>
          </a:blip>
          <a:srcRect b="0" l="-200" r="-200" t="0"/>
          <a:stretch/>
        </p:blipFill>
        <p:spPr>
          <a:xfrm>
            <a:off x="0" y="6782105"/>
            <a:ext cx="12191695" cy="75895"/>
          </a:xfrm>
          <a:prstGeom prst="rect">
            <a:avLst/>
          </a:prstGeom>
          <a:noFill/>
          <a:ln>
            <a:noFill/>
          </a:ln>
        </p:spPr>
      </p:pic>
      <p:sp>
        <p:nvSpPr>
          <p:cNvPr id="399" name="Google Shape;399;p9"/>
          <p:cNvSpPr/>
          <p:nvPr/>
        </p:nvSpPr>
        <p:spPr>
          <a:xfrm>
            <a:off x="0" y="857707"/>
            <a:ext cx="12191695" cy="6001207"/>
          </a:xfrm>
          <a:prstGeom prst="rect">
            <a:avLst/>
          </a:prstGeom>
          <a:solidFill>
            <a:srgbClr val="FFFFFF">
              <a:alpha val="94117"/>
            </a:srgbClr>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9"/>
          <p:cNvSpPr txBox="1"/>
          <p:nvPr/>
        </p:nvSpPr>
        <p:spPr>
          <a:xfrm>
            <a:off x="571500" y="1665122"/>
            <a:ext cx="3574390" cy="8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A580C"/>
              </a:buClr>
              <a:buSzPts val="2200"/>
              <a:buFont typeface="Arial"/>
              <a:buNone/>
            </a:pPr>
            <a:r>
              <a:rPr b="1" i="0" lang="en-US" sz="2200" u="none" cap="none" strike="noStrike">
                <a:solidFill>
                  <a:srgbClr val="EA580C"/>
                </a:solidFill>
                <a:latin typeface="Arial"/>
                <a:ea typeface="Arial"/>
                <a:cs typeface="Arial"/>
                <a:sym typeface="Arial"/>
              </a:rPr>
              <a:t>より具体的なプラン</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A580C"/>
              </a:buClr>
              <a:buSzPts val="2200"/>
              <a:buFont typeface="Arial"/>
              <a:buNone/>
            </a:pPr>
            <a:r>
              <a:rPr b="1" i="0" lang="en-US" sz="2200" u="none" cap="none" strike="noStrike">
                <a:solidFill>
                  <a:srgbClr val="EA580C"/>
                </a:solidFill>
                <a:latin typeface="Arial"/>
                <a:ea typeface="Arial"/>
                <a:cs typeface="Arial"/>
                <a:sym typeface="Arial"/>
              </a:rPr>
              <a:t>作成のために</a:t>
            </a:r>
            <a:endParaRPr b="0" i="0" sz="2200" u="none" cap="none" strike="noStrike">
              <a:solidFill>
                <a:schemeClr val="dk1"/>
              </a:solidFill>
              <a:latin typeface="Calibri"/>
              <a:ea typeface="Calibri"/>
              <a:cs typeface="Calibri"/>
              <a:sym typeface="Calibri"/>
            </a:endParaRPr>
          </a:p>
        </p:txBody>
      </p:sp>
      <p:sp>
        <p:nvSpPr>
          <p:cNvPr id="401" name="Google Shape;401;p9"/>
          <p:cNvSpPr txBox="1"/>
          <p:nvPr/>
        </p:nvSpPr>
        <p:spPr>
          <a:xfrm>
            <a:off x="571500" y="2655418"/>
            <a:ext cx="3543300" cy="82936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B5563"/>
              </a:buClr>
              <a:buSzPts val="1200"/>
              <a:buFont typeface="Noto Sans JP"/>
              <a:buNone/>
            </a:pPr>
            <a:r>
              <a:rPr b="0" i="0" lang="en-US" sz="1200" u="none" cap="none" strike="noStrike">
                <a:solidFill>
                  <a:srgbClr val="4B5563"/>
                </a:solidFill>
                <a:latin typeface="Noto Sans JP"/>
                <a:ea typeface="Noto Sans JP"/>
                <a:cs typeface="Noto Sans JP"/>
                <a:sym typeface="Noto Sans JP"/>
              </a:rPr>
              <a:t>貴社の運用課題や重視されるポイントを お伺いし、 次回の商談にて最適なカスタマイズプランと お見積りをご提示させていただきます。</a:t>
            </a:r>
            <a:endParaRPr b="0" i="0" sz="1200" u="none" cap="none" strike="noStrike">
              <a:solidFill>
                <a:schemeClr val="dk1"/>
              </a:solidFill>
              <a:latin typeface="Calibri"/>
              <a:ea typeface="Calibri"/>
              <a:cs typeface="Calibri"/>
              <a:sym typeface="Calibri"/>
            </a:endParaRPr>
          </a:p>
        </p:txBody>
      </p:sp>
      <p:sp>
        <p:nvSpPr>
          <p:cNvPr id="402" name="Google Shape;402;p9"/>
          <p:cNvSpPr/>
          <p:nvPr/>
        </p:nvSpPr>
        <p:spPr>
          <a:xfrm>
            <a:off x="571500" y="3859682"/>
            <a:ext cx="3467405" cy="2095805"/>
          </a:xfrm>
          <a:prstGeom prst="roundRect">
            <a:avLst>
              <a:gd fmla="val 6346" name="adj"/>
            </a:avLst>
          </a:prstGeom>
          <a:solidFill>
            <a:srgbClr val="FFF7ED"/>
          </a:solidFill>
          <a:ln cap="flat" cmpd="sng" w="25400">
            <a:solidFill>
              <a:srgbClr val="FED7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3" name="Google Shape;403;p9"/>
          <p:cNvPicPr preferRelativeResize="0"/>
          <p:nvPr/>
        </p:nvPicPr>
        <p:blipFill rotWithShape="1">
          <a:blip r:embed="rId5">
            <a:alphaModFix/>
          </a:blip>
          <a:srcRect b="0" l="-15" r="-15" t="0"/>
          <a:stretch/>
        </p:blipFill>
        <p:spPr>
          <a:xfrm>
            <a:off x="1915668" y="4340657"/>
            <a:ext cx="771754" cy="685800"/>
          </a:xfrm>
          <a:prstGeom prst="rect">
            <a:avLst/>
          </a:prstGeom>
          <a:noFill/>
          <a:ln>
            <a:noFill/>
          </a:ln>
        </p:spPr>
      </p:pic>
      <p:sp>
        <p:nvSpPr>
          <p:cNvPr id="404" name="Google Shape;404;p9"/>
          <p:cNvSpPr txBox="1"/>
          <p:nvPr/>
        </p:nvSpPr>
        <p:spPr>
          <a:xfrm>
            <a:off x="1560881" y="5216652"/>
            <a:ext cx="1481328" cy="2578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3412"/>
              </a:buClr>
              <a:buSzPts val="1300"/>
              <a:buFont typeface="Noto Sans JP"/>
              <a:buNone/>
            </a:pPr>
            <a:r>
              <a:rPr b="1" i="0" lang="en-US" sz="1300" u="none" cap="none" strike="noStrike">
                <a:solidFill>
                  <a:srgbClr val="9A3412"/>
                </a:solidFill>
                <a:latin typeface="Noto Sans JP"/>
                <a:ea typeface="Noto Sans JP"/>
                <a:cs typeface="Noto Sans JP"/>
                <a:sym typeface="Noto Sans JP"/>
              </a:rPr>
              <a:t>ヒアリングシート</a:t>
            </a:r>
            <a:endParaRPr b="0" i="0" sz="1300" u="none" cap="none" strike="noStrike">
              <a:solidFill>
                <a:schemeClr val="dk1"/>
              </a:solidFill>
              <a:latin typeface="Calibri"/>
              <a:ea typeface="Calibri"/>
              <a:cs typeface="Calibri"/>
              <a:sym typeface="Calibri"/>
            </a:endParaRPr>
          </a:p>
        </p:txBody>
      </p:sp>
      <p:pic>
        <p:nvPicPr>
          <p:cNvPr descr="preencoded.png" id="405" name="Google Shape;405;p9"/>
          <p:cNvPicPr preferRelativeResize="0"/>
          <p:nvPr/>
        </p:nvPicPr>
        <p:blipFill rotWithShape="1">
          <a:blip r:embed="rId6">
            <a:alphaModFix/>
          </a:blip>
          <a:srcRect b="-4" l="0" r="0" t="-4"/>
          <a:stretch/>
        </p:blipFill>
        <p:spPr>
          <a:xfrm>
            <a:off x="4412894" y="1047902"/>
            <a:ext cx="7207301" cy="5524805"/>
          </a:xfrm>
          <a:prstGeom prst="rect">
            <a:avLst/>
          </a:prstGeom>
          <a:noFill/>
          <a:ln>
            <a:noFill/>
          </a:ln>
        </p:spPr>
      </p:pic>
      <p:sp>
        <p:nvSpPr>
          <p:cNvPr id="406" name="Google Shape;406;p9"/>
          <p:cNvSpPr/>
          <p:nvPr/>
        </p:nvSpPr>
        <p:spPr>
          <a:xfrm>
            <a:off x="4803343" y="2057400"/>
            <a:ext cx="6429146" cy="19202"/>
          </a:xfrm>
          <a:prstGeom prst="rect">
            <a:avLst/>
          </a:prstGeom>
          <a:solidFill>
            <a:srgbClr val="F3F4F6"/>
          </a:solidFill>
          <a:ln cap="flat" cmpd="sng" w="12700">
            <a:solidFill>
              <a:srgbClr val="F3F4F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9"/>
          <p:cNvSpPr txBox="1"/>
          <p:nvPr/>
        </p:nvSpPr>
        <p:spPr>
          <a:xfrm>
            <a:off x="4764938" y="1657807"/>
            <a:ext cx="6505956" cy="286207"/>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Clr>
                <a:srgbClr val="374151"/>
              </a:buClr>
              <a:buSzPts val="1500"/>
              <a:buFont typeface="Noto Sans JP"/>
              <a:buNone/>
            </a:pPr>
            <a:r>
              <a:rPr b="1" i="0" lang="en-US" sz="1500" u="none" cap="none" strike="noStrike">
                <a:solidFill>
                  <a:srgbClr val="374151"/>
                </a:solidFill>
                <a:latin typeface="Noto Sans JP"/>
                <a:ea typeface="Noto Sans JP"/>
                <a:cs typeface="Noto Sans JP"/>
                <a:sym typeface="Noto Sans JP"/>
              </a:rPr>
              <a:t>5つの重要確認ポイント</a:t>
            </a:r>
            <a:endParaRPr b="0" i="0" sz="1500" u="none" cap="none" strike="noStrike">
              <a:solidFill>
                <a:schemeClr val="dk1"/>
              </a:solidFill>
              <a:latin typeface="Calibri"/>
              <a:ea typeface="Calibri"/>
              <a:cs typeface="Calibri"/>
              <a:sym typeface="Calibri"/>
            </a:endParaRPr>
          </a:p>
        </p:txBody>
      </p:sp>
      <p:sp>
        <p:nvSpPr>
          <p:cNvPr id="408" name="Google Shape;408;p9"/>
          <p:cNvSpPr/>
          <p:nvPr/>
        </p:nvSpPr>
        <p:spPr>
          <a:xfrm>
            <a:off x="4803343" y="2266798"/>
            <a:ext cx="6429146" cy="647395"/>
          </a:xfrm>
          <a:prstGeom prst="roundRect">
            <a:avLst>
              <a:gd fmla="val 41542"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9"/>
          <p:cNvSpPr/>
          <p:nvPr/>
        </p:nvSpPr>
        <p:spPr>
          <a:xfrm>
            <a:off x="4803343" y="2266798"/>
            <a:ext cx="47549" cy="647395"/>
          </a:xfrm>
          <a:prstGeom prst="roundRect">
            <a:avLst>
              <a:gd fmla="val 565608" name="adj"/>
            </a:avLst>
          </a:prstGeom>
          <a:solidFill>
            <a:srgbClr val="10B981"/>
          </a:solidFill>
          <a:ln cap="flat" cmpd="sng" w="12700">
            <a:solidFill>
              <a:srgbClr val="10B98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9"/>
          <p:cNvSpPr/>
          <p:nvPr/>
        </p:nvSpPr>
        <p:spPr>
          <a:xfrm>
            <a:off x="5003597" y="2438705"/>
            <a:ext cx="304495" cy="304495"/>
          </a:xfrm>
          <a:prstGeom prst="ellipse">
            <a:avLst/>
          </a:prstGeom>
          <a:solidFill>
            <a:srgbClr val="ECFDF5"/>
          </a:solidFill>
          <a:ln cap="flat" cmpd="sng" w="12700">
            <a:solidFill>
              <a:srgbClr val="A7F3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9"/>
          <p:cNvSpPr/>
          <p:nvPr/>
        </p:nvSpPr>
        <p:spPr>
          <a:xfrm>
            <a:off x="4975250" y="2438705"/>
            <a:ext cx="362102" cy="305410"/>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059669"/>
              </a:buClr>
              <a:buSzPts val="1100"/>
              <a:buFont typeface="Noto Sans JP"/>
              <a:buNone/>
            </a:pPr>
            <a:r>
              <a:rPr b="1" i="0" lang="en-US" sz="1100" u="none" cap="none" strike="noStrike">
                <a:solidFill>
                  <a:srgbClr val="059669"/>
                </a:solidFill>
                <a:latin typeface="Noto Sans JP"/>
                <a:ea typeface="Noto Sans JP"/>
                <a:cs typeface="Noto Sans JP"/>
                <a:sym typeface="Noto Sans JP"/>
              </a:rPr>
              <a:t>01</a:t>
            </a:r>
            <a:endParaRPr b="0" i="0" sz="1100" u="none" cap="none" strike="noStrike">
              <a:solidFill>
                <a:schemeClr val="dk1"/>
              </a:solidFill>
              <a:latin typeface="Calibri"/>
              <a:ea typeface="Calibri"/>
              <a:cs typeface="Calibri"/>
              <a:sym typeface="Calibri"/>
            </a:endParaRPr>
          </a:p>
        </p:txBody>
      </p:sp>
      <p:sp>
        <p:nvSpPr>
          <p:cNvPr id="412" name="Google Shape;412;p9"/>
          <p:cNvSpPr txBox="1"/>
          <p:nvPr/>
        </p:nvSpPr>
        <p:spPr>
          <a:xfrm>
            <a:off x="5460797" y="2381098"/>
            <a:ext cx="581101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Noto Sans JP"/>
              <a:buNone/>
            </a:pPr>
            <a:r>
              <a:rPr b="1" i="0" lang="en-US" sz="1200" u="none" cap="none" strike="noStrike">
                <a:solidFill>
                  <a:srgbClr val="1F2937"/>
                </a:solidFill>
                <a:latin typeface="Noto Sans JP"/>
                <a:ea typeface="Noto Sans JP"/>
                <a:cs typeface="Noto Sans JP"/>
                <a:sym typeface="Noto Sans JP"/>
              </a:rPr>
              <a:t>現状の体制における課題点</a:t>
            </a:r>
            <a:endParaRPr b="0" i="0" sz="1200" u="none" cap="none" strike="noStrike">
              <a:solidFill>
                <a:schemeClr val="dk1"/>
              </a:solidFill>
              <a:latin typeface="Calibri"/>
              <a:ea typeface="Calibri"/>
              <a:cs typeface="Calibri"/>
              <a:sym typeface="Calibri"/>
            </a:endParaRPr>
          </a:p>
        </p:txBody>
      </p:sp>
      <p:sp>
        <p:nvSpPr>
          <p:cNvPr id="413" name="Google Shape;413;p9"/>
          <p:cNvSpPr txBox="1"/>
          <p:nvPr/>
        </p:nvSpPr>
        <p:spPr>
          <a:xfrm>
            <a:off x="5460797" y="2628900"/>
            <a:ext cx="5811012"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特に改善したいと感じられている運用上の手間やコスト</a:t>
            </a:r>
            <a:endParaRPr b="0" i="0" sz="900" u="none" cap="none" strike="noStrike">
              <a:solidFill>
                <a:schemeClr val="dk1"/>
              </a:solidFill>
              <a:latin typeface="Calibri"/>
              <a:ea typeface="Calibri"/>
              <a:cs typeface="Calibri"/>
              <a:sym typeface="Calibri"/>
            </a:endParaRPr>
          </a:p>
        </p:txBody>
      </p:sp>
      <p:sp>
        <p:nvSpPr>
          <p:cNvPr id="414" name="Google Shape;414;p9"/>
          <p:cNvSpPr/>
          <p:nvPr/>
        </p:nvSpPr>
        <p:spPr>
          <a:xfrm>
            <a:off x="4803343" y="3029407"/>
            <a:ext cx="6429146" cy="647395"/>
          </a:xfrm>
          <a:prstGeom prst="roundRect">
            <a:avLst>
              <a:gd fmla="val 41542"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9"/>
          <p:cNvSpPr/>
          <p:nvPr/>
        </p:nvSpPr>
        <p:spPr>
          <a:xfrm>
            <a:off x="4803343" y="3029407"/>
            <a:ext cx="47549" cy="647395"/>
          </a:xfrm>
          <a:prstGeom prst="roundRect">
            <a:avLst>
              <a:gd fmla="val 565608" name="adj"/>
            </a:avLst>
          </a:prstGeom>
          <a:solidFill>
            <a:srgbClr val="10B981"/>
          </a:solidFill>
          <a:ln cap="flat" cmpd="sng" w="12700">
            <a:solidFill>
              <a:srgbClr val="10B98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9"/>
          <p:cNvSpPr/>
          <p:nvPr/>
        </p:nvSpPr>
        <p:spPr>
          <a:xfrm>
            <a:off x="5003597" y="3200400"/>
            <a:ext cx="304495" cy="304495"/>
          </a:xfrm>
          <a:prstGeom prst="ellipse">
            <a:avLst/>
          </a:prstGeom>
          <a:solidFill>
            <a:srgbClr val="ECFDF5"/>
          </a:solidFill>
          <a:ln cap="flat" cmpd="sng" w="12700">
            <a:solidFill>
              <a:srgbClr val="A7F3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9"/>
          <p:cNvSpPr/>
          <p:nvPr/>
        </p:nvSpPr>
        <p:spPr>
          <a:xfrm>
            <a:off x="4975250" y="3200400"/>
            <a:ext cx="362102" cy="305410"/>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059669"/>
              </a:buClr>
              <a:buSzPts val="1100"/>
              <a:buFont typeface="Noto Sans JP"/>
              <a:buNone/>
            </a:pPr>
            <a:r>
              <a:rPr b="1" i="0" lang="en-US" sz="1100" u="none" cap="none" strike="noStrike">
                <a:solidFill>
                  <a:srgbClr val="059669"/>
                </a:solidFill>
                <a:latin typeface="Noto Sans JP"/>
                <a:ea typeface="Noto Sans JP"/>
                <a:cs typeface="Noto Sans JP"/>
                <a:sym typeface="Noto Sans JP"/>
              </a:rPr>
              <a:t>02</a:t>
            </a:r>
            <a:endParaRPr b="0" i="0" sz="1100" u="none" cap="none" strike="noStrike">
              <a:solidFill>
                <a:schemeClr val="dk1"/>
              </a:solidFill>
              <a:latin typeface="Calibri"/>
              <a:ea typeface="Calibri"/>
              <a:cs typeface="Calibri"/>
              <a:sym typeface="Calibri"/>
            </a:endParaRPr>
          </a:p>
        </p:txBody>
      </p:sp>
      <p:sp>
        <p:nvSpPr>
          <p:cNvPr id="418" name="Google Shape;418;p9"/>
          <p:cNvSpPr txBox="1"/>
          <p:nvPr/>
        </p:nvSpPr>
        <p:spPr>
          <a:xfrm>
            <a:off x="5460797" y="3143707"/>
            <a:ext cx="581101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Noto Sans JP"/>
              <a:buNone/>
            </a:pPr>
            <a:r>
              <a:rPr b="1" i="0" lang="en-US" sz="1200" u="none" cap="none" strike="noStrike">
                <a:solidFill>
                  <a:srgbClr val="1F2937"/>
                </a:solidFill>
                <a:latin typeface="Noto Sans JP"/>
                <a:ea typeface="Noto Sans JP"/>
                <a:cs typeface="Noto Sans JP"/>
                <a:sym typeface="Noto Sans JP"/>
              </a:rPr>
              <a:t>福利厚生見直し時の判断基準</a:t>
            </a:r>
            <a:endParaRPr b="0" i="0" sz="1200" u="none" cap="none" strike="noStrike">
              <a:solidFill>
                <a:schemeClr val="dk1"/>
              </a:solidFill>
              <a:latin typeface="Calibri"/>
              <a:ea typeface="Calibri"/>
              <a:cs typeface="Calibri"/>
              <a:sym typeface="Calibri"/>
            </a:endParaRPr>
          </a:p>
        </p:txBody>
      </p:sp>
      <p:sp>
        <p:nvSpPr>
          <p:cNvPr id="419" name="Google Shape;419;p9"/>
          <p:cNvSpPr txBox="1"/>
          <p:nvPr/>
        </p:nvSpPr>
        <p:spPr>
          <a:xfrm>
            <a:off x="5460797" y="3390595"/>
            <a:ext cx="5811012"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導入を決定される際に最も重視される要素（予算、手軽さ等）</a:t>
            </a:r>
            <a:endParaRPr b="0" i="0" sz="900" u="none" cap="none" strike="noStrike">
              <a:solidFill>
                <a:schemeClr val="dk1"/>
              </a:solidFill>
              <a:latin typeface="Calibri"/>
              <a:ea typeface="Calibri"/>
              <a:cs typeface="Calibri"/>
              <a:sym typeface="Calibri"/>
            </a:endParaRPr>
          </a:p>
        </p:txBody>
      </p:sp>
      <p:sp>
        <p:nvSpPr>
          <p:cNvPr id="420" name="Google Shape;420;p9"/>
          <p:cNvSpPr/>
          <p:nvPr/>
        </p:nvSpPr>
        <p:spPr>
          <a:xfrm>
            <a:off x="4803343" y="3791102"/>
            <a:ext cx="6429146" cy="647395"/>
          </a:xfrm>
          <a:prstGeom prst="roundRect">
            <a:avLst>
              <a:gd fmla="val 41542"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9"/>
          <p:cNvSpPr/>
          <p:nvPr/>
        </p:nvSpPr>
        <p:spPr>
          <a:xfrm>
            <a:off x="4803343" y="3791102"/>
            <a:ext cx="47549" cy="647395"/>
          </a:xfrm>
          <a:prstGeom prst="roundRect">
            <a:avLst>
              <a:gd fmla="val 565608" name="adj"/>
            </a:avLst>
          </a:prstGeom>
          <a:solidFill>
            <a:srgbClr val="10B981"/>
          </a:solidFill>
          <a:ln cap="flat" cmpd="sng" w="12700">
            <a:solidFill>
              <a:srgbClr val="10B98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9"/>
          <p:cNvSpPr/>
          <p:nvPr/>
        </p:nvSpPr>
        <p:spPr>
          <a:xfrm>
            <a:off x="5003597" y="3962095"/>
            <a:ext cx="304495" cy="304495"/>
          </a:xfrm>
          <a:prstGeom prst="ellipse">
            <a:avLst/>
          </a:prstGeom>
          <a:solidFill>
            <a:srgbClr val="ECFDF5"/>
          </a:solidFill>
          <a:ln cap="flat" cmpd="sng" w="12700">
            <a:solidFill>
              <a:srgbClr val="A7F3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9"/>
          <p:cNvSpPr/>
          <p:nvPr/>
        </p:nvSpPr>
        <p:spPr>
          <a:xfrm>
            <a:off x="4975250" y="3962095"/>
            <a:ext cx="362102" cy="305410"/>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059669"/>
              </a:buClr>
              <a:buSzPts val="1100"/>
              <a:buFont typeface="Noto Sans JP"/>
              <a:buNone/>
            </a:pPr>
            <a:r>
              <a:rPr b="1" i="0" lang="en-US" sz="1100" u="none" cap="none" strike="noStrike">
                <a:solidFill>
                  <a:srgbClr val="059669"/>
                </a:solidFill>
                <a:latin typeface="Noto Sans JP"/>
                <a:ea typeface="Noto Sans JP"/>
                <a:cs typeface="Noto Sans JP"/>
                <a:sym typeface="Noto Sans JP"/>
              </a:rPr>
              <a:t>03</a:t>
            </a:r>
            <a:endParaRPr b="0" i="0" sz="1100" u="none" cap="none" strike="noStrike">
              <a:solidFill>
                <a:schemeClr val="dk1"/>
              </a:solidFill>
              <a:latin typeface="Calibri"/>
              <a:ea typeface="Calibri"/>
              <a:cs typeface="Calibri"/>
              <a:sym typeface="Calibri"/>
            </a:endParaRPr>
          </a:p>
        </p:txBody>
      </p:sp>
      <p:sp>
        <p:nvSpPr>
          <p:cNvPr id="424" name="Google Shape;424;p9"/>
          <p:cNvSpPr txBox="1"/>
          <p:nvPr/>
        </p:nvSpPr>
        <p:spPr>
          <a:xfrm>
            <a:off x="5460797" y="3905402"/>
            <a:ext cx="581101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Noto Sans JP"/>
              <a:buNone/>
            </a:pPr>
            <a:r>
              <a:rPr b="1" i="0" lang="en-US" sz="1200" u="none" cap="none" strike="noStrike">
                <a:solidFill>
                  <a:srgbClr val="1F2937"/>
                </a:solidFill>
                <a:latin typeface="Noto Sans JP"/>
                <a:ea typeface="Noto Sans JP"/>
                <a:cs typeface="Noto Sans JP"/>
                <a:sym typeface="Noto Sans JP"/>
              </a:rPr>
              <a:t>過去の施策実績</a:t>
            </a:r>
            <a:endParaRPr b="0" i="0" sz="1200" u="none" cap="none" strike="noStrike">
              <a:solidFill>
                <a:schemeClr val="dk1"/>
              </a:solidFill>
              <a:latin typeface="Calibri"/>
              <a:ea typeface="Calibri"/>
              <a:cs typeface="Calibri"/>
              <a:sym typeface="Calibri"/>
            </a:endParaRPr>
          </a:p>
        </p:txBody>
      </p:sp>
      <p:sp>
        <p:nvSpPr>
          <p:cNvPr id="425" name="Google Shape;425;p9"/>
          <p:cNvSpPr txBox="1"/>
          <p:nvPr/>
        </p:nvSpPr>
        <p:spPr>
          <a:xfrm>
            <a:off x="5460797" y="4153205"/>
            <a:ext cx="5811012"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社員様の反応が良かったもの、または課題が残ったもの</a:t>
            </a:r>
            <a:endParaRPr b="0" i="0" sz="900" u="none" cap="none" strike="noStrike">
              <a:solidFill>
                <a:schemeClr val="dk1"/>
              </a:solidFill>
              <a:latin typeface="Calibri"/>
              <a:ea typeface="Calibri"/>
              <a:cs typeface="Calibri"/>
              <a:sym typeface="Calibri"/>
            </a:endParaRPr>
          </a:p>
        </p:txBody>
      </p:sp>
      <p:sp>
        <p:nvSpPr>
          <p:cNvPr id="426" name="Google Shape;426;p9"/>
          <p:cNvSpPr/>
          <p:nvPr/>
        </p:nvSpPr>
        <p:spPr>
          <a:xfrm>
            <a:off x="4803343" y="4552798"/>
            <a:ext cx="6429146" cy="647395"/>
          </a:xfrm>
          <a:prstGeom prst="roundRect">
            <a:avLst>
              <a:gd fmla="val 41542"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9"/>
          <p:cNvSpPr/>
          <p:nvPr/>
        </p:nvSpPr>
        <p:spPr>
          <a:xfrm>
            <a:off x="4803343" y="4552798"/>
            <a:ext cx="47549" cy="647395"/>
          </a:xfrm>
          <a:prstGeom prst="roundRect">
            <a:avLst>
              <a:gd fmla="val 565608" name="adj"/>
            </a:avLst>
          </a:prstGeom>
          <a:solidFill>
            <a:srgbClr val="10B981"/>
          </a:solidFill>
          <a:ln cap="flat" cmpd="sng" w="12700">
            <a:solidFill>
              <a:srgbClr val="10B98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9"/>
          <p:cNvSpPr/>
          <p:nvPr/>
        </p:nvSpPr>
        <p:spPr>
          <a:xfrm>
            <a:off x="5003597" y="4724705"/>
            <a:ext cx="304495" cy="304495"/>
          </a:xfrm>
          <a:prstGeom prst="ellipse">
            <a:avLst/>
          </a:prstGeom>
          <a:solidFill>
            <a:srgbClr val="ECFDF5"/>
          </a:solidFill>
          <a:ln cap="flat" cmpd="sng" w="12700">
            <a:solidFill>
              <a:srgbClr val="A7F3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9"/>
          <p:cNvSpPr/>
          <p:nvPr/>
        </p:nvSpPr>
        <p:spPr>
          <a:xfrm>
            <a:off x="4975250" y="4724705"/>
            <a:ext cx="362102" cy="305410"/>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059669"/>
              </a:buClr>
              <a:buSzPts val="1100"/>
              <a:buFont typeface="Noto Sans JP"/>
              <a:buNone/>
            </a:pPr>
            <a:r>
              <a:rPr b="1" i="0" lang="en-US" sz="1100" u="none" cap="none" strike="noStrike">
                <a:solidFill>
                  <a:srgbClr val="059669"/>
                </a:solidFill>
                <a:latin typeface="Noto Sans JP"/>
                <a:ea typeface="Noto Sans JP"/>
                <a:cs typeface="Noto Sans JP"/>
                <a:sym typeface="Noto Sans JP"/>
              </a:rPr>
              <a:t>04</a:t>
            </a:r>
            <a:endParaRPr b="0" i="0" sz="1100" u="none" cap="none" strike="noStrike">
              <a:solidFill>
                <a:schemeClr val="dk1"/>
              </a:solidFill>
              <a:latin typeface="Calibri"/>
              <a:ea typeface="Calibri"/>
              <a:cs typeface="Calibri"/>
              <a:sym typeface="Calibri"/>
            </a:endParaRPr>
          </a:p>
        </p:txBody>
      </p:sp>
      <p:sp>
        <p:nvSpPr>
          <p:cNvPr id="430" name="Google Shape;430;p9"/>
          <p:cNvSpPr txBox="1"/>
          <p:nvPr/>
        </p:nvSpPr>
        <p:spPr>
          <a:xfrm>
            <a:off x="5460797" y="4667098"/>
            <a:ext cx="581101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Noto Sans JP"/>
              <a:buNone/>
            </a:pPr>
            <a:r>
              <a:rPr b="1" i="0" lang="en-US" sz="1200" u="none" cap="none" strike="noStrike">
                <a:solidFill>
                  <a:srgbClr val="1F2937"/>
                </a:solidFill>
                <a:latin typeface="Noto Sans JP"/>
                <a:ea typeface="Noto Sans JP"/>
                <a:cs typeface="Noto Sans JP"/>
                <a:sym typeface="Noto Sans JP"/>
              </a:rPr>
              <a:t>物品支給に関する不安要素</a:t>
            </a:r>
            <a:endParaRPr b="0" i="0" sz="1200" u="none" cap="none" strike="noStrike">
              <a:solidFill>
                <a:schemeClr val="dk1"/>
              </a:solidFill>
              <a:latin typeface="Calibri"/>
              <a:ea typeface="Calibri"/>
              <a:cs typeface="Calibri"/>
              <a:sym typeface="Calibri"/>
            </a:endParaRPr>
          </a:p>
        </p:txBody>
      </p:sp>
      <p:sp>
        <p:nvSpPr>
          <p:cNvPr id="431" name="Google Shape;431;p9"/>
          <p:cNvSpPr txBox="1"/>
          <p:nvPr/>
        </p:nvSpPr>
        <p:spPr>
          <a:xfrm>
            <a:off x="5460797" y="4914900"/>
            <a:ext cx="5811012"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運用フローや在庫管理など、導入にあたっての懸念点</a:t>
            </a:r>
            <a:endParaRPr b="0" i="0" sz="900" u="none" cap="none" strike="noStrike">
              <a:solidFill>
                <a:schemeClr val="dk1"/>
              </a:solidFill>
              <a:latin typeface="Calibri"/>
              <a:ea typeface="Calibri"/>
              <a:cs typeface="Calibri"/>
              <a:sym typeface="Calibri"/>
            </a:endParaRPr>
          </a:p>
        </p:txBody>
      </p:sp>
      <p:sp>
        <p:nvSpPr>
          <p:cNvPr id="432" name="Google Shape;432;p9"/>
          <p:cNvSpPr/>
          <p:nvPr/>
        </p:nvSpPr>
        <p:spPr>
          <a:xfrm>
            <a:off x="4803343" y="5315407"/>
            <a:ext cx="6429146" cy="647395"/>
          </a:xfrm>
          <a:prstGeom prst="roundRect">
            <a:avLst>
              <a:gd fmla="val 41542"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9"/>
          <p:cNvSpPr/>
          <p:nvPr/>
        </p:nvSpPr>
        <p:spPr>
          <a:xfrm>
            <a:off x="4803343" y="5315407"/>
            <a:ext cx="47549" cy="647395"/>
          </a:xfrm>
          <a:prstGeom prst="roundRect">
            <a:avLst>
              <a:gd fmla="val 565608" name="adj"/>
            </a:avLst>
          </a:prstGeom>
          <a:solidFill>
            <a:srgbClr val="10B981"/>
          </a:solidFill>
          <a:ln cap="flat" cmpd="sng" w="12700">
            <a:solidFill>
              <a:srgbClr val="10B98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9"/>
          <p:cNvSpPr/>
          <p:nvPr/>
        </p:nvSpPr>
        <p:spPr>
          <a:xfrm>
            <a:off x="5003597" y="5486400"/>
            <a:ext cx="304495" cy="304495"/>
          </a:xfrm>
          <a:prstGeom prst="ellipse">
            <a:avLst/>
          </a:prstGeom>
          <a:solidFill>
            <a:srgbClr val="ECFDF5"/>
          </a:solidFill>
          <a:ln cap="flat" cmpd="sng" w="12700">
            <a:solidFill>
              <a:srgbClr val="A7F3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9"/>
          <p:cNvSpPr/>
          <p:nvPr/>
        </p:nvSpPr>
        <p:spPr>
          <a:xfrm>
            <a:off x="4975250" y="5486400"/>
            <a:ext cx="362102" cy="305410"/>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059669"/>
              </a:buClr>
              <a:buSzPts val="1100"/>
              <a:buFont typeface="Noto Sans JP"/>
              <a:buNone/>
            </a:pPr>
            <a:r>
              <a:rPr b="1" i="0" lang="en-US" sz="1100" u="none" cap="none" strike="noStrike">
                <a:solidFill>
                  <a:srgbClr val="059669"/>
                </a:solidFill>
                <a:latin typeface="Noto Sans JP"/>
                <a:ea typeface="Noto Sans JP"/>
                <a:cs typeface="Noto Sans JP"/>
                <a:sym typeface="Noto Sans JP"/>
              </a:rPr>
              <a:t>05</a:t>
            </a:r>
            <a:endParaRPr b="0" i="0" sz="1100" u="none" cap="none" strike="noStrike">
              <a:solidFill>
                <a:schemeClr val="dk1"/>
              </a:solidFill>
              <a:latin typeface="Calibri"/>
              <a:ea typeface="Calibri"/>
              <a:cs typeface="Calibri"/>
              <a:sym typeface="Calibri"/>
            </a:endParaRPr>
          </a:p>
        </p:txBody>
      </p:sp>
      <p:sp>
        <p:nvSpPr>
          <p:cNvPr id="436" name="Google Shape;436;p9"/>
          <p:cNvSpPr txBox="1"/>
          <p:nvPr/>
        </p:nvSpPr>
        <p:spPr>
          <a:xfrm>
            <a:off x="5460797" y="5429707"/>
            <a:ext cx="581101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Noto Sans JP"/>
              <a:buNone/>
            </a:pPr>
            <a:r>
              <a:rPr b="1" i="0" lang="en-US" sz="1200" u="none" cap="none" strike="noStrike">
                <a:solidFill>
                  <a:srgbClr val="1F2937"/>
                </a:solidFill>
                <a:latin typeface="Noto Sans JP"/>
                <a:ea typeface="Noto Sans JP"/>
                <a:cs typeface="Noto Sans JP"/>
                <a:sym typeface="Noto Sans JP"/>
              </a:rPr>
              <a:t>販促施策の今後の方向性</a:t>
            </a:r>
            <a:endParaRPr b="0" i="0" sz="1200" u="none" cap="none" strike="noStrike">
              <a:solidFill>
                <a:schemeClr val="dk1"/>
              </a:solidFill>
              <a:latin typeface="Calibri"/>
              <a:ea typeface="Calibri"/>
              <a:cs typeface="Calibri"/>
              <a:sym typeface="Calibri"/>
            </a:endParaRPr>
          </a:p>
        </p:txBody>
      </p:sp>
      <p:sp>
        <p:nvSpPr>
          <p:cNvPr id="437" name="Google Shape;437;p9"/>
          <p:cNvSpPr txBox="1"/>
          <p:nvPr/>
        </p:nvSpPr>
        <p:spPr>
          <a:xfrm>
            <a:off x="5460797" y="5676595"/>
            <a:ext cx="5811012"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景品やプレゼント施策について今後強化したいポイント</a:t>
            </a:r>
            <a:endParaRPr b="0" i="0" sz="900" u="none" cap="none" strike="noStrike">
              <a:solidFill>
                <a:schemeClr val="dk1"/>
              </a:solidFill>
              <a:latin typeface="Calibri"/>
              <a:ea typeface="Calibri"/>
              <a:cs typeface="Calibri"/>
              <a:sym typeface="Calibri"/>
            </a:endParaRPr>
          </a:p>
        </p:txBody>
      </p:sp>
      <p:sp>
        <p:nvSpPr>
          <p:cNvPr id="438" name="Google Shape;438;p9"/>
          <p:cNvSpPr/>
          <p:nvPr/>
        </p:nvSpPr>
        <p:spPr>
          <a:xfrm>
            <a:off x="7349947" y="942746"/>
            <a:ext cx="1333195" cy="228600"/>
          </a:xfrm>
          <a:prstGeom prst="roundRect">
            <a:avLst>
              <a:gd fmla="val 200000" name="adj"/>
            </a:avLst>
          </a:prstGeom>
          <a:solidFill>
            <a:srgbClr val="4B5563"/>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9" name="Google Shape;439;p9"/>
          <p:cNvPicPr preferRelativeResize="0"/>
          <p:nvPr/>
        </p:nvPicPr>
        <p:blipFill rotWithShape="1">
          <a:blip r:embed="rId7">
            <a:alphaModFix/>
          </a:blip>
          <a:srcRect b="-384" l="0" r="0" t="-384"/>
          <a:stretch/>
        </p:blipFill>
        <p:spPr>
          <a:xfrm>
            <a:off x="7540142" y="1028700"/>
            <a:ext cx="952805" cy="5760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10"/>
          <p:cNvSpPr/>
          <p:nvPr/>
        </p:nvSpPr>
        <p:spPr>
          <a:xfrm>
            <a:off x="0" y="0"/>
            <a:ext cx="12191695" cy="6858000"/>
          </a:xfrm>
          <a:prstGeom prst="rect">
            <a:avLst/>
          </a:prstGeom>
          <a:solidFill>
            <a:srgbClr val="F3F4F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0"/>
          <p:cNvSpPr/>
          <p:nvPr/>
        </p:nvSpPr>
        <p:spPr>
          <a:xfrm>
            <a:off x="0" y="0"/>
            <a:ext cx="12191695" cy="6858000"/>
          </a:xfrm>
          <a:prstGeom prst="rect">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0"/>
          <p:cNvSpPr/>
          <p:nvPr/>
        </p:nvSpPr>
        <p:spPr>
          <a:xfrm>
            <a:off x="0" y="838505"/>
            <a:ext cx="12191695" cy="19202"/>
          </a:xfrm>
          <a:prstGeom prst="rect">
            <a:avLst/>
          </a:prstGeom>
          <a:solidFill>
            <a:srgbClr val="FFF7ED"/>
          </a:solidFill>
          <a:ln cap="flat" cmpd="sng" w="12700">
            <a:solidFill>
              <a:srgbClr val="FFF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0"/>
          <p:cNvSpPr txBox="1"/>
          <p:nvPr/>
        </p:nvSpPr>
        <p:spPr>
          <a:xfrm>
            <a:off x="571500" y="228600"/>
            <a:ext cx="3117190" cy="514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Arial"/>
              <a:buNone/>
            </a:pPr>
            <a:r>
              <a:rPr b="1" i="0" lang="en-US" sz="2700" u="none" cap="none" strike="noStrike">
                <a:solidFill>
                  <a:srgbClr val="111827"/>
                </a:solidFill>
                <a:latin typeface="Arial"/>
                <a:ea typeface="Arial"/>
                <a:cs typeface="Arial"/>
                <a:sym typeface="Arial"/>
              </a:rPr>
              <a:t>よくあるご質問</a:t>
            </a:r>
            <a:endParaRPr b="0" i="0" sz="2700" u="none" cap="none" strike="noStrike">
              <a:solidFill>
                <a:schemeClr val="dk1"/>
              </a:solidFill>
              <a:latin typeface="Calibri"/>
              <a:ea typeface="Calibri"/>
              <a:cs typeface="Calibri"/>
              <a:sym typeface="Calibri"/>
            </a:endParaRPr>
          </a:p>
        </p:txBody>
      </p:sp>
      <p:sp>
        <p:nvSpPr>
          <p:cNvPr id="449" name="Google Shape;449;p10"/>
          <p:cNvSpPr txBox="1"/>
          <p:nvPr/>
        </p:nvSpPr>
        <p:spPr>
          <a:xfrm>
            <a:off x="9568282" y="485546"/>
            <a:ext cx="2221992"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300"/>
              <a:buFont typeface="Noto Sans JP"/>
              <a:buNone/>
            </a:pPr>
            <a:r>
              <a:rPr b="1" i="0" lang="en-US" sz="1300" u="none" cap="none" strike="noStrike">
                <a:solidFill>
                  <a:srgbClr val="9CA3AF"/>
                </a:solidFill>
                <a:latin typeface="Noto Sans JP"/>
                <a:ea typeface="Noto Sans JP"/>
                <a:cs typeface="Noto Sans JP"/>
                <a:sym typeface="Noto Sans JP"/>
              </a:rPr>
              <a:t>株式会社フードサプライズ</a:t>
            </a:r>
            <a:endParaRPr b="0" i="0" sz="1300" u="none" cap="none" strike="noStrike">
              <a:solidFill>
                <a:schemeClr val="dk1"/>
              </a:solidFill>
              <a:latin typeface="Calibri"/>
              <a:ea typeface="Calibri"/>
              <a:cs typeface="Calibri"/>
              <a:sym typeface="Calibri"/>
            </a:endParaRPr>
          </a:p>
        </p:txBody>
      </p:sp>
      <p:sp>
        <p:nvSpPr>
          <p:cNvPr id="450" name="Google Shape;450;p10"/>
          <p:cNvSpPr/>
          <p:nvPr/>
        </p:nvSpPr>
        <p:spPr>
          <a:xfrm>
            <a:off x="0" y="857707"/>
            <a:ext cx="12191695" cy="5924398"/>
          </a:xfrm>
          <a:prstGeom prst="rect">
            <a:avLst/>
          </a:prstGeom>
          <a:solidFill>
            <a:srgbClr val="FAFAF9"/>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0"/>
          <p:cNvSpPr txBox="1"/>
          <p:nvPr/>
        </p:nvSpPr>
        <p:spPr>
          <a:xfrm>
            <a:off x="476402" y="1047902"/>
            <a:ext cx="11239805"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1200"/>
              <a:buFont typeface="Noto Sans JP"/>
              <a:buNone/>
            </a:pPr>
            <a:r>
              <a:rPr b="0" i="0" lang="en-US" sz="1200" u="none" cap="none" strike="noStrike">
                <a:solidFill>
                  <a:srgbClr val="4B5563"/>
                </a:solidFill>
                <a:latin typeface="Noto Sans JP"/>
                <a:ea typeface="Noto Sans JP"/>
                <a:cs typeface="Noto Sans JP"/>
                <a:sym typeface="Noto Sans JP"/>
              </a:rPr>
              <a:t>導入検討時によくいただくご質問をまとめました。</a:t>
            </a:r>
            <a:endParaRPr b="0" i="0" sz="1200" u="none" cap="none" strike="noStrike">
              <a:solidFill>
                <a:schemeClr val="dk1"/>
              </a:solidFill>
              <a:latin typeface="Calibri"/>
              <a:ea typeface="Calibri"/>
              <a:cs typeface="Calibri"/>
              <a:sym typeface="Calibri"/>
            </a:endParaRPr>
          </a:p>
        </p:txBody>
      </p:sp>
      <p:sp>
        <p:nvSpPr>
          <p:cNvPr id="452" name="Google Shape;452;p10"/>
          <p:cNvSpPr/>
          <p:nvPr/>
        </p:nvSpPr>
        <p:spPr>
          <a:xfrm>
            <a:off x="571500" y="1410005"/>
            <a:ext cx="5381244" cy="1047902"/>
          </a:xfrm>
          <a:prstGeom prst="roundRect">
            <a:avLst>
              <a:gd fmla="val 19039"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0"/>
          <p:cNvSpPr/>
          <p:nvPr/>
        </p:nvSpPr>
        <p:spPr>
          <a:xfrm>
            <a:off x="771754" y="1552651"/>
            <a:ext cx="247802" cy="247802"/>
          </a:xfrm>
          <a:prstGeom prst="ellipse">
            <a:avLst/>
          </a:prstGeom>
          <a:solidFill>
            <a:srgbClr val="FFF7ED"/>
          </a:solidFill>
          <a:ln cap="flat" cmpd="sng" w="12700">
            <a:solidFill>
              <a:srgbClr val="FED7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0"/>
          <p:cNvSpPr/>
          <p:nvPr/>
        </p:nvSpPr>
        <p:spPr>
          <a:xfrm>
            <a:off x="733349" y="1552651"/>
            <a:ext cx="324612" cy="247802"/>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EA580C"/>
              </a:buClr>
              <a:buSzPts val="1300"/>
              <a:buFont typeface="Arial"/>
              <a:buNone/>
            </a:pPr>
            <a:r>
              <a:rPr b="1" i="0" lang="en-US" sz="1300" u="none" cap="none" strike="noStrike">
                <a:solidFill>
                  <a:srgbClr val="EA580C"/>
                </a:solidFill>
                <a:latin typeface="Arial"/>
                <a:ea typeface="Arial"/>
                <a:cs typeface="Arial"/>
                <a:sym typeface="Arial"/>
              </a:rPr>
              <a:t>Q</a:t>
            </a:r>
            <a:endParaRPr b="0" i="0" sz="1300" u="none" cap="none" strike="noStrike">
              <a:solidFill>
                <a:schemeClr val="dk1"/>
              </a:solidFill>
              <a:latin typeface="Calibri"/>
              <a:ea typeface="Calibri"/>
              <a:cs typeface="Calibri"/>
              <a:sym typeface="Calibri"/>
            </a:endParaRPr>
          </a:p>
        </p:txBody>
      </p:sp>
      <p:sp>
        <p:nvSpPr>
          <p:cNvPr id="455" name="Google Shape;455;p10"/>
          <p:cNvSpPr txBox="1"/>
          <p:nvPr/>
        </p:nvSpPr>
        <p:spPr>
          <a:xfrm>
            <a:off x="1133856" y="1564538"/>
            <a:ext cx="276240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Noto Sans JP"/>
              <a:buNone/>
            </a:pPr>
            <a:r>
              <a:rPr b="1" i="0" lang="en-US" sz="1300" u="none" cap="none" strike="noStrike">
                <a:solidFill>
                  <a:srgbClr val="1F2937"/>
                </a:solidFill>
                <a:latin typeface="Noto Sans JP"/>
                <a:ea typeface="Noto Sans JP"/>
                <a:cs typeface="Noto Sans JP"/>
                <a:sym typeface="Noto Sans JP"/>
              </a:rPr>
              <a:t>果物の品質は安定していますか？</a:t>
            </a:r>
            <a:endParaRPr b="0" i="0" sz="1300" u="none" cap="none" strike="noStrike">
              <a:solidFill>
                <a:schemeClr val="dk1"/>
              </a:solidFill>
              <a:latin typeface="Calibri"/>
              <a:ea typeface="Calibri"/>
              <a:cs typeface="Calibri"/>
              <a:sym typeface="Calibri"/>
            </a:endParaRPr>
          </a:p>
        </p:txBody>
      </p:sp>
      <p:sp>
        <p:nvSpPr>
          <p:cNvPr id="456" name="Google Shape;456;p10"/>
          <p:cNvSpPr txBox="1"/>
          <p:nvPr/>
        </p:nvSpPr>
        <p:spPr>
          <a:xfrm>
            <a:off x="809244" y="1876349"/>
            <a:ext cx="228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200"/>
              <a:buFont typeface="Noto Sans JP"/>
              <a:buNone/>
            </a:pPr>
            <a:r>
              <a:rPr b="1" i="0" lang="en-US" sz="1200" u="none" cap="none" strike="noStrike">
                <a:solidFill>
                  <a:srgbClr val="10B981"/>
                </a:solidFill>
                <a:latin typeface="Noto Sans JP"/>
                <a:ea typeface="Noto Sans JP"/>
                <a:cs typeface="Noto Sans JP"/>
                <a:sym typeface="Noto Sans JP"/>
              </a:rPr>
              <a:t>A.</a:t>
            </a:r>
            <a:endParaRPr b="0" i="0" sz="1200" u="none" cap="none" strike="noStrike">
              <a:solidFill>
                <a:schemeClr val="dk1"/>
              </a:solidFill>
              <a:latin typeface="Calibri"/>
              <a:ea typeface="Calibri"/>
              <a:cs typeface="Calibri"/>
              <a:sym typeface="Calibri"/>
            </a:endParaRPr>
          </a:p>
        </p:txBody>
      </p:sp>
      <p:sp>
        <p:nvSpPr>
          <p:cNvPr id="457" name="Google Shape;457;p10"/>
          <p:cNvSpPr txBox="1"/>
          <p:nvPr/>
        </p:nvSpPr>
        <p:spPr>
          <a:xfrm>
            <a:off x="1133856" y="1857146"/>
            <a:ext cx="469635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B5563"/>
              </a:buClr>
              <a:buSzPts val="1200"/>
              <a:buFont typeface="Noto Sans JP"/>
              <a:buNone/>
            </a:pPr>
            <a:r>
              <a:rPr b="0" i="0" lang="en-US" sz="1200" u="none" cap="none" strike="noStrike">
                <a:solidFill>
                  <a:srgbClr val="4B5563"/>
                </a:solidFill>
                <a:latin typeface="Noto Sans JP"/>
                <a:ea typeface="Noto Sans JP"/>
                <a:cs typeface="Noto Sans JP"/>
                <a:sym typeface="Noto Sans JP"/>
              </a:rPr>
              <a:t>季節ごとの厳選産地・徹底管理により、過去の不作時も安定供給を実現しています。</a:t>
            </a:r>
            <a:endParaRPr b="0" i="0" sz="1200" u="none" cap="none" strike="noStrike">
              <a:solidFill>
                <a:schemeClr val="dk1"/>
              </a:solidFill>
              <a:latin typeface="Calibri"/>
              <a:ea typeface="Calibri"/>
              <a:cs typeface="Calibri"/>
              <a:sym typeface="Calibri"/>
            </a:endParaRPr>
          </a:p>
        </p:txBody>
      </p:sp>
      <p:sp>
        <p:nvSpPr>
          <p:cNvPr id="458" name="Google Shape;458;p10"/>
          <p:cNvSpPr/>
          <p:nvPr/>
        </p:nvSpPr>
        <p:spPr>
          <a:xfrm>
            <a:off x="6238951" y="1410005"/>
            <a:ext cx="5381244" cy="1047902"/>
          </a:xfrm>
          <a:prstGeom prst="roundRect">
            <a:avLst>
              <a:gd fmla="val 19039"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0"/>
          <p:cNvSpPr/>
          <p:nvPr/>
        </p:nvSpPr>
        <p:spPr>
          <a:xfrm>
            <a:off x="6439205" y="1552651"/>
            <a:ext cx="247802" cy="247802"/>
          </a:xfrm>
          <a:prstGeom prst="ellipse">
            <a:avLst/>
          </a:prstGeom>
          <a:solidFill>
            <a:srgbClr val="FFF7ED"/>
          </a:solidFill>
          <a:ln cap="flat" cmpd="sng" w="12700">
            <a:solidFill>
              <a:srgbClr val="FED7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0"/>
          <p:cNvSpPr/>
          <p:nvPr/>
        </p:nvSpPr>
        <p:spPr>
          <a:xfrm>
            <a:off x="6400800" y="1552651"/>
            <a:ext cx="324612" cy="247802"/>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EA580C"/>
              </a:buClr>
              <a:buSzPts val="1300"/>
              <a:buFont typeface="Arial"/>
              <a:buNone/>
            </a:pPr>
            <a:r>
              <a:rPr b="1" i="0" lang="en-US" sz="1300" u="none" cap="none" strike="noStrike">
                <a:solidFill>
                  <a:srgbClr val="EA580C"/>
                </a:solidFill>
                <a:latin typeface="Arial"/>
                <a:ea typeface="Arial"/>
                <a:cs typeface="Arial"/>
                <a:sym typeface="Arial"/>
              </a:rPr>
              <a:t>Q</a:t>
            </a:r>
            <a:endParaRPr b="0" i="0" sz="1300" u="none" cap="none" strike="noStrike">
              <a:solidFill>
                <a:schemeClr val="dk1"/>
              </a:solidFill>
              <a:latin typeface="Calibri"/>
              <a:ea typeface="Calibri"/>
              <a:cs typeface="Calibri"/>
              <a:sym typeface="Calibri"/>
            </a:endParaRPr>
          </a:p>
        </p:txBody>
      </p:sp>
      <p:sp>
        <p:nvSpPr>
          <p:cNvPr id="461" name="Google Shape;461;p10"/>
          <p:cNvSpPr txBox="1"/>
          <p:nvPr/>
        </p:nvSpPr>
        <p:spPr>
          <a:xfrm>
            <a:off x="6801307" y="1564538"/>
            <a:ext cx="2924251"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Noto Sans JP"/>
              <a:buNone/>
            </a:pPr>
            <a:r>
              <a:rPr b="1" i="0" lang="en-US" sz="1300" u="none" cap="none" strike="noStrike">
                <a:solidFill>
                  <a:srgbClr val="1F2937"/>
                </a:solidFill>
                <a:latin typeface="Noto Sans JP"/>
                <a:ea typeface="Noto Sans JP"/>
                <a:cs typeface="Noto Sans JP"/>
                <a:sym typeface="Noto Sans JP"/>
              </a:rPr>
              <a:t>社員数が多くても対応できますか？</a:t>
            </a:r>
            <a:endParaRPr b="0" i="0" sz="1300" u="none" cap="none" strike="noStrike">
              <a:solidFill>
                <a:schemeClr val="dk1"/>
              </a:solidFill>
              <a:latin typeface="Calibri"/>
              <a:ea typeface="Calibri"/>
              <a:cs typeface="Calibri"/>
              <a:sym typeface="Calibri"/>
            </a:endParaRPr>
          </a:p>
        </p:txBody>
      </p:sp>
      <p:sp>
        <p:nvSpPr>
          <p:cNvPr id="462" name="Google Shape;462;p10"/>
          <p:cNvSpPr txBox="1"/>
          <p:nvPr/>
        </p:nvSpPr>
        <p:spPr>
          <a:xfrm>
            <a:off x="6476695" y="1876349"/>
            <a:ext cx="228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200"/>
              <a:buFont typeface="Noto Sans JP"/>
              <a:buNone/>
            </a:pPr>
            <a:r>
              <a:rPr b="1" i="0" lang="en-US" sz="1200" u="none" cap="none" strike="noStrike">
                <a:solidFill>
                  <a:srgbClr val="10B981"/>
                </a:solidFill>
                <a:latin typeface="Noto Sans JP"/>
                <a:ea typeface="Noto Sans JP"/>
                <a:cs typeface="Noto Sans JP"/>
                <a:sym typeface="Noto Sans JP"/>
              </a:rPr>
              <a:t>A.</a:t>
            </a:r>
            <a:endParaRPr b="0" i="0" sz="1200" u="none" cap="none" strike="noStrike">
              <a:solidFill>
                <a:schemeClr val="dk1"/>
              </a:solidFill>
              <a:latin typeface="Calibri"/>
              <a:ea typeface="Calibri"/>
              <a:cs typeface="Calibri"/>
              <a:sym typeface="Calibri"/>
            </a:endParaRPr>
          </a:p>
        </p:txBody>
      </p:sp>
      <p:sp>
        <p:nvSpPr>
          <p:cNvPr id="463" name="Google Shape;463;p10"/>
          <p:cNvSpPr txBox="1"/>
          <p:nvPr/>
        </p:nvSpPr>
        <p:spPr>
          <a:xfrm>
            <a:off x="6801307" y="1857146"/>
            <a:ext cx="469635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B5563"/>
              </a:buClr>
              <a:buSzPts val="1200"/>
              <a:buFont typeface="Noto Sans JP"/>
              <a:buNone/>
            </a:pPr>
            <a:r>
              <a:rPr b="0" i="0" lang="en-US" sz="1200" u="none" cap="none" strike="noStrike">
                <a:solidFill>
                  <a:srgbClr val="4B5563"/>
                </a:solidFill>
                <a:latin typeface="Noto Sans JP"/>
                <a:ea typeface="Noto Sans JP"/>
                <a:cs typeface="Noto Sans JP"/>
                <a:sym typeface="Noto Sans JP"/>
              </a:rPr>
              <a:t>はい、10名から100名規模まで、人数や拠点数に合わせて 柔軟に対応可能です。</a:t>
            </a:r>
            <a:endParaRPr b="0" i="0" sz="1200" u="none" cap="none" strike="noStrike">
              <a:solidFill>
                <a:schemeClr val="dk1"/>
              </a:solidFill>
              <a:latin typeface="Calibri"/>
              <a:ea typeface="Calibri"/>
              <a:cs typeface="Calibri"/>
              <a:sym typeface="Calibri"/>
            </a:endParaRPr>
          </a:p>
        </p:txBody>
      </p:sp>
      <p:sp>
        <p:nvSpPr>
          <p:cNvPr id="464" name="Google Shape;464;p10"/>
          <p:cNvSpPr/>
          <p:nvPr/>
        </p:nvSpPr>
        <p:spPr>
          <a:xfrm>
            <a:off x="571500" y="2572207"/>
            <a:ext cx="5381244" cy="1047902"/>
          </a:xfrm>
          <a:prstGeom prst="roundRect">
            <a:avLst>
              <a:gd fmla="val 19039"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0"/>
          <p:cNvSpPr/>
          <p:nvPr/>
        </p:nvSpPr>
        <p:spPr>
          <a:xfrm>
            <a:off x="771754" y="2714854"/>
            <a:ext cx="247802" cy="247802"/>
          </a:xfrm>
          <a:prstGeom prst="ellipse">
            <a:avLst/>
          </a:prstGeom>
          <a:solidFill>
            <a:srgbClr val="FFF7ED"/>
          </a:solidFill>
          <a:ln cap="flat" cmpd="sng" w="12700">
            <a:solidFill>
              <a:srgbClr val="FED7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0"/>
          <p:cNvSpPr/>
          <p:nvPr/>
        </p:nvSpPr>
        <p:spPr>
          <a:xfrm>
            <a:off x="733349" y="2714854"/>
            <a:ext cx="324612" cy="247802"/>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EA580C"/>
              </a:buClr>
              <a:buSzPts val="1300"/>
              <a:buFont typeface="Arial"/>
              <a:buNone/>
            </a:pPr>
            <a:r>
              <a:rPr b="1" i="0" lang="en-US" sz="1300" u="none" cap="none" strike="noStrike">
                <a:solidFill>
                  <a:srgbClr val="EA580C"/>
                </a:solidFill>
                <a:latin typeface="Arial"/>
                <a:ea typeface="Arial"/>
                <a:cs typeface="Arial"/>
                <a:sym typeface="Arial"/>
              </a:rPr>
              <a:t>Q</a:t>
            </a:r>
            <a:endParaRPr b="0" i="0" sz="1300" u="none" cap="none" strike="noStrike">
              <a:solidFill>
                <a:schemeClr val="dk1"/>
              </a:solidFill>
              <a:latin typeface="Calibri"/>
              <a:ea typeface="Calibri"/>
              <a:cs typeface="Calibri"/>
              <a:sym typeface="Calibri"/>
            </a:endParaRPr>
          </a:p>
        </p:txBody>
      </p:sp>
      <p:sp>
        <p:nvSpPr>
          <p:cNvPr id="467" name="Google Shape;467;p10"/>
          <p:cNvSpPr txBox="1"/>
          <p:nvPr/>
        </p:nvSpPr>
        <p:spPr>
          <a:xfrm>
            <a:off x="1133856" y="2726741"/>
            <a:ext cx="310530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Noto Sans JP"/>
              <a:buNone/>
            </a:pPr>
            <a:r>
              <a:rPr b="1" i="0" lang="en-US" sz="1300" u="none" cap="none" strike="noStrike">
                <a:solidFill>
                  <a:srgbClr val="1F2937"/>
                </a:solidFill>
                <a:latin typeface="Noto Sans JP"/>
                <a:ea typeface="Noto Sans JP"/>
                <a:cs typeface="Noto Sans JP"/>
                <a:sym typeface="Noto Sans JP"/>
              </a:rPr>
              <a:t>配送のタイミングは調整できますか？</a:t>
            </a:r>
            <a:endParaRPr b="0" i="0" sz="1300" u="none" cap="none" strike="noStrike">
              <a:solidFill>
                <a:schemeClr val="dk1"/>
              </a:solidFill>
              <a:latin typeface="Calibri"/>
              <a:ea typeface="Calibri"/>
              <a:cs typeface="Calibri"/>
              <a:sym typeface="Calibri"/>
            </a:endParaRPr>
          </a:p>
        </p:txBody>
      </p:sp>
      <p:sp>
        <p:nvSpPr>
          <p:cNvPr id="468" name="Google Shape;468;p10"/>
          <p:cNvSpPr txBox="1"/>
          <p:nvPr/>
        </p:nvSpPr>
        <p:spPr>
          <a:xfrm>
            <a:off x="809244" y="3038551"/>
            <a:ext cx="228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200"/>
              <a:buFont typeface="Noto Sans JP"/>
              <a:buNone/>
            </a:pPr>
            <a:r>
              <a:rPr b="1" i="0" lang="en-US" sz="1200" u="none" cap="none" strike="noStrike">
                <a:solidFill>
                  <a:srgbClr val="10B981"/>
                </a:solidFill>
                <a:latin typeface="Noto Sans JP"/>
                <a:ea typeface="Noto Sans JP"/>
                <a:cs typeface="Noto Sans JP"/>
                <a:sym typeface="Noto Sans JP"/>
              </a:rPr>
              <a:t>A.</a:t>
            </a:r>
            <a:endParaRPr b="0" i="0" sz="1200" u="none" cap="none" strike="noStrike">
              <a:solidFill>
                <a:schemeClr val="dk1"/>
              </a:solidFill>
              <a:latin typeface="Calibri"/>
              <a:ea typeface="Calibri"/>
              <a:cs typeface="Calibri"/>
              <a:sym typeface="Calibri"/>
            </a:endParaRPr>
          </a:p>
        </p:txBody>
      </p:sp>
      <p:sp>
        <p:nvSpPr>
          <p:cNvPr id="469" name="Google Shape;469;p10"/>
          <p:cNvSpPr txBox="1"/>
          <p:nvPr/>
        </p:nvSpPr>
        <p:spPr>
          <a:xfrm>
            <a:off x="1133856" y="3019349"/>
            <a:ext cx="469635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B5563"/>
              </a:buClr>
              <a:buSzPts val="1200"/>
              <a:buFont typeface="Noto Sans JP"/>
              <a:buNone/>
            </a:pPr>
            <a:r>
              <a:rPr b="0" i="0" lang="en-US" sz="1200" u="none" cap="none" strike="noStrike">
                <a:solidFill>
                  <a:srgbClr val="4B5563"/>
                </a:solidFill>
                <a:latin typeface="Noto Sans JP"/>
                <a:ea typeface="Noto Sans JP"/>
                <a:cs typeface="Noto Sans JP"/>
                <a:sym typeface="Noto Sans JP"/>
              </a:rPr>
              <a:t>給与支給日や月末配送など、貴社のご希望に合わせてスケジュール調整いたします。</a:t>
            </a:r>
            <a:endParaRPr b="0" i="0" sz="1200" u="none" cap="none" strike="noStrike">
              <a:solidFill>
                <a:schemeClr val="dk1"/>
              </a:solidFill>
              <a:latin typeface="Calibri"/>
              <a:ea typeface="Calibri"/>
              <a:cs typeface="Calibri"/>
              <a:sym typeface="Calibri"/>
            </a:endParaRPr>
          </a:p>
        </p:txBody>
      </p:sp>
      <p:sp>
        <p:nvSpPr>
          <p:cNvPr id="470" name="Google Shape;470;p10"/>
          <p:cNvSpPr/>
          <p:nvPr/>
        </p:nvSpPr>
        <p:spPr>
          <a:xfrm>
            <a:off x="6238951" y="2572207"/>
            <a:ext cx="5381244" cy="1047902"/>
          </a:xfrm>
          <a:prstGeom prst="roundRect">
            <a:avLst>
              <a:gd fmla="val 19039"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0"/>
          <p:cNvSpPr/>
          <p:nvPr/>
        </p:nvSpPr>
        <p:spPr>
          <a:xfrm>
            <a:off x="6439205" y="2714854"/>
            <a:ext cx="247802" cy="247802"/>
          </a:xfrm>
          <a:prstGeom prst="ellipse">
            <a:avLst/>
          </a:prstGeom>
          <a:solidFill>
            <a:srgbClr val="FFF7ED"/>
          </a:solidFill>
          <a:ln cap="flat" cmpd="sng" w="12700">
            <a:solidFill>
              <a:srgbClr val="FED7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0"/>
          <p:cNvSpPr/>
          <p:nvPr/>
        </p:nvSpPr>
        <p:spPr>
          <a:xfrm>
            <a:off x="6400800" y="2714854"/>
            <a:ext cx="324612" cy="247802"/>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EA580C"/>
              </a:buClr>
              <a:buSzPts val="1300"/>
              <a:buFont typeface="Arial"/>
              <a:buNone/>
            </a:pPr>
            <a:r>
              <a:rPr b="1" i="0" lang="en-US" sz="1300" u="none" cap="none" strike="noStrike">
                <a:solidFill>
                  <a:srgbClr val="EA580C"/>
                </a:solidFill>
                <a:latin typeface="Arial"/>
                <a:ea typeface="Arial"/>
                <a:cs typeface="Arial"/>
                <a:sym typeface="Arial"/>
              </a:rPr>
              <a:t>Q</a:t>
            </a:r>
            <a:endParaRPr b="0" i="0" sz="1300" u="none" cap="none" strike="noStrike">
              <a:solidFill>
                <a:schemeClr val="dk1"/>
              </a:solidFill>
              <a:latin typeface="Calibri"/>
              <a:ea typeface="Calibri"/>
              <a:cs typeface="Calibri"/>
              <a:sym typeface="Calibri"/>
            </a:endParaRPr>
          </a:p>
        </p:txBody>
      </p:sp>
      <p:sp>
        <p:nvSpPr>
          <p:cNvPr id="473" name="Google Shape;473;p10"/>
          <p:cNvSpPr txBox="1"/>
          <p:nvPr/>
        </p:nvSpPr>
        <p:spPr>
          <a:xfrm>
            <a:off x="6801307" y="2726741"/>
            <a:ext cx="276240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Noto Sans JP"/>
              <a:buNone/>
            </a:pPr>
            <a:r>
              <a:rPr b="1" i="0" lang="en-US" sz="1300" u="none" cap="none" strike="noStrike">
                <a:solidFill>
                  <a:srgbClr val="1F2937"/>
                </a:solidFill>
                <a:latin typeface="Noto Sans JP"/>
                <a:ea typeface="Noto Sans JP"/>
                <a:cs typeface="Noto Sans JP"/>
                <a:sym typeface="Noto Sans JP"/>
              </a:rPr>
              <a:t>途中でコース変更はできますか？</a:t>
            </a:r>
            <a:endParaRPr b="0" i="0" sz="1300" u="none" cap="none" strike="noStrike">
              <a:solidFill>
                <a:schemeClr val="dk1"/>
              </a:solidFill>
              <a:latin typeface="Calibri"/>
              <a:ea typeface="Calibri"/>
              <a:cs typeface="Calibri"/>
              <a:sym typeface="Calibri"/>
            </a:endParaRPr>
          </a:p>
        </p:txBody>
      </p:sp>
      <p:sp>
        <p:nvSpPr>
          <p:cNvPr id="474" name="Google Shape;474;p10"/>
          <p:cNvSpPr txBox="1"/>
          <p:nvPr/>
        </p:nvSpPr>
        <p:spPr>
          <a:xfrm>
            <a:off x="6476695" y="3038551"/>
            <a:ext cx="228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200"/>
              <a:buFont typeface="Noto Sans JP"/>
              <a:buNone/>
            </a:pPr>
            <a:r>
              <a:rPr b="1" i="0" lang="en-US" sz="1200" u="none" cap="none" strike="noStrike">
                <a:solidFill>
                  <a:srgbClr val="10B981"/>
                </a:solidFill>
                <a:latin typeface="Noto Sans JP"/>
                <a:ea typeface="Noto Sans JP"/>
                <a:cs typeface="Noto Sans JP"/>
                <a:sym typeface="Noto Sans JP"/>
              </a:rPr>
              <a:t>A.</a:t>
            </a:r>
            <a:endParaRPr b="0" i="0" sz="1200" u="none" cap="none" strike="noStrike">
              <a:solidFill>
                <a:schemeClr val="dk1"/>
              </a:solidFill>
              <a:latin typeface="Calibri"/>
              <a:ea typeface="Calibri"/>
              <a:cs typeface="Calibri"/>
              <a:sym typeface="Calibri"/>
            </a:endParaRPr>
          </a:p>
        </p:txBody>
      </p:sp>
      <p:sp>
        <p:nvSpPr>
          <p:cNvPr id="475" name="Google Shape;475;p10"/>
          <p:cNvSpPr txBox="1"/>
          <p:nvPr/>
        </p:nvSpPr>
        <p:spPr>
          <a:xfrm>
            <a:off x="6801307" y="3019349"/>
            <a:ext cx="469635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B5563"/>
              </a:buClr>
              <a:buSzPts val="1200"/>
              <a:buFont typeface="Noto Sans JP"/>
              <a:buNone/>
            </a:pPr>
            <a:r>
              <a:rPr b="0" i="0" lang="en-US" sz="1200" u="none" cap="none" strike="noStrike">
                <a:solidFill>
                  <a:srgbClr val="4B5563"/>
                </a:solidFill>
                <a:latin typeface="Noto Sans JP"/>
                <a:ea typeface="Noto Sans JP"/>
                <a:cs typeface="Noto Sans JP"/>
                <a:sym typeface="Noto Sans JP"/>
              </a:rPr>
              <a:t>A・Bコースの組み合わせ変更など、運用しながらの最適化にも 柔軟に対応します。</a:t>
            </a:r>
            <a:endParaRPr b="0" i="0" sz="1200" u="none" cap="none" strike="noStrike">
              <a:solidFill>
                <a:schemeClr val="dk1"/>
              </a:solidFill>
              <a:latin typeface="Calibri"/>
              <a:ea typeface="Calibri"/>
              <a:cs typeface="Calibri"/>
              <a:sym typeface="Calibri"/>
            </a:endParaRPr>
          </a:p>
        </p:txBody>
      </p:sp>
      <p:sp>
        <p:nvSpPr>
          <p:cNvPr id="476" name="Google Shape;476;p10"/>
          <p:cNvSpPr/>
          <p:nvPr/>
        </p:nvSpPr>
        <p:spPr>
          <a:xfrm>
            <a:off x="571500" y="3733495"/>
            <a:ext cx="5381244" cy="1047902"/>
          </a:xfrm>
          <a:prstGeom prst="roundRect">
            <a:avLst>
              <a:gd fmla="val 19039"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0"/>
          <p:cNvSpPr/>
          <p:nvPr/>
        </p:nvSpPr>
        <p:spPr>
          <a:xfrm>
            <a:off x="771754" y="3877056"/>
            <a:ext cx="247802" cy="247802"/>
          </a:xfrm>
          <a:prstGeom prst="ellipse">
            <a:avLst/>
          </a:prstGeom>
          <a:solidFill>
            <a:srgbClr val="FFF7ED"/>
          </a:solidFill>
          <a:ln cap="flat" cmpd="sng" w="12700">
            <a:solidFill>
              <a:srgbClr val="FED7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0"/>
          <p:cNvSpPr/>
          <p:nvPr/>
        </p:nvSpPr>
        <p:spPr>
          <a:xfrm>
            <a:off x="733349" y="3877056"/>
            <a:ext cx="324612" cy="247802"/>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EA580C"/>
              </a:buClr>
              <a:buSzPts val="1300"/>
              <a:buFont typeface="Arial"/>
              <a:buNone/>
            </a:pPr>
            <a:r>
              <a:rPr b="1" i="0" lang="en-US" sz="1300" u="none" cap="none" strike="noStrike">
                <a:solidFill>
                  <a:srgbClr val="EA580C"/>
                </a:solidFill>
                <a:latin typeface="Arial"/>
                <a:ea typeface="Arial"/>
                <a:cs typeface="Arial"/>
                <a:sym typeface="Arial"/>
              </a:rPr>
              <a:t>Q</a:t>
            </a:r>
            <a:endParaRPr b="0" i="0" sz="1300" u="none" cap="none" strike="noStrike">
              <a:solidFill>
                <a:schemeClr val="dk1"/>
              </a:solidFill>
              <a:latin typeface="Calibri"/>
              <a:ea typeface="Calibri"/>
              <a:cs typeface="Calibri"/>
              <a:sym typeface="Calibri"/>
            </a:endParaRPr>
          </a:p>
        </p:txBody>
      </p:sp>
      <p:sp>
        <p:nvSpPr>
          <p:cNvPr id="479" name="Google Shape;479;p10"/>
          <p:cNvSpPr txBox="1"/>
          <p:nvPr/>
        </p:nvSpPr>
        <p:spPr>
          <a:xfrm>
            <a:off x="1133856" y="3888943"/>
            <a:ext cx="362011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Noto Sans JP"/>
              <a:buNone/>
            </a:pPr>
            <a:r>
              <a:rPr b="1" i="0" lang="en-US" sz="1300" u="none" cap="none" strike="noStrike">
                <a:solidFill>
                  <a:srgbClr val="1F2937"/>
                </a:solidFill>
                <a:latin typeface="Noto Sans JP"/>
                <a:ea typeface="Noto Sans JP"/>
                <a:cs typeface="Noto Sans JP"/>
                <a:sym typeface="Noto Sans JP"/>
              </a:rPr>
              <a:t>どんな果物が届くのか事前にわかりますか？</a:t>
            </a:r>
            <a:endParaRPr b="0" i="0" sz="1300" u="none" cap="none" strike="noStrike">
              <a:solidFill>
                <a:schemeClr val="dk1"/>
              </a:solidFill>
              <a:latin typeface="Calibri"/>
              <a:ea typeface="Calibri"/>
              <a:cs typeface="Calibri"/>
              <a:sym typeface="Calibri"/>
            </a:endParaRPr>
          </a:p>
        </p:txBody>
      </p:sp>
      <p:sp>
        <p:nvSpPr>
          <p:cNvPr id="480" name="Google Shape;480;p10"/>
          <p:cNvSpPr txBox="1"/>
          <p:nvPr/>
        </p:nvSpPr>
        <p:spPr>
          <a:xfrm>
            <a:off x="809244" y="4200754"/>
            <a:ext cx="228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200"/>
              <a:buFont typeface="Noto Sans JP"/>
              <a:buNone/>
            </a:pPr>
            <a:r>
              <a:rPr b="1" i="0" lang="en-US" sz="1200" u="none" cap="none" strike="noStrike">
                <a:solidFill>
                  <a:srgbClr val="10B981"/>
                </a:solidFill>
                <a:latin typeface="Noto Sans JP"/>
                <a:ea typeface="Noto Sans JP"/>
                <a:cs typeface="Noto Sans JP"/>
                <a:sym typeface="Noto Sans JP"/>
              </a:rPr>
              <a:t>A.</a:t>
            </a:r>
            <a:endParaRPr b="0" i="0" sz="1200" u="none" cap="none" strike="noStrike">
              <a:solidFill>
                <a:schemeClr val="dk1"/>
              </a:solidFill>
              <a:latin typeface="Calibri"/>
              <a:ea typeface="Calibri"/>
              <a:cs typeface="Calibri"/>
              <a:sym typeface="Calibri"/>
            </a:endParaRPr>
          </a:p>
        </p:txBody>
      </p:sp>
      <p:sp>
        <p:nvSpPr>
          <p:cNvPr id="481" name="Google Shape;481;p10"/>
          <p:cNvSpPr txBox="1"/>
          <p:nvPr/>
        </p:nvSpPr>
        <p:spPr>
          <a:xfrm>
            <a:off x="1133856" y="4181551"/>
            <a:ext cx="469635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B5563"/>
              </a:buClr>
              <a:buSzPts val="1200"/>
              <a:buFont typeface="Noto Sans JP"/>
              <a:buNone/>
            </a:pPr>
            <a:r>
              <a:rPr b="0" i="0" lang="en-US" sz="1200" u="none" cap="none" strike="noStrike">
                <a:solidFill>
                  <a:srgbClr val="4B5563"/>
                </a:solidFill>
                <a:latin typeface="Noto Sans JP"/>
                <a:ea typeface="Noto Sans JP"/>
                <a:cs typeface="Noto Sans JP"/>
                <a:sym typeface="Noto Sans JP"/>
              </a:rPr>
              <a:t>基本は「旬」のものをお届けしますが、事前のラインナップ 目安共有も可能です。</a:t>
            </a:r>
            <a:endParaRPr b="0" i="0" sz="1200" u="none" cap="none" strike="noStrike">
              <a:solidFill>
                <a:schemeClr val="dk1"/>
              </a:solidFill>
              <a:latin typeface="Calibri"/>
              <a:ea typeface="Calibri"/>
              <a:cs typeface="Calibri"/>
              <a:sym typeface="Calibri"/>
            </a:endParaRPr>
          </a:p>
        </p:txBody>
      </p:sp>
      <p:sp>
        <p:nvSpPr>
          <p:cNvPr id="482" name="Google Shape;482;p10"/>
          <p:cNvSpPr/>
          <p:nvPr/>
        </p:nvSpPr>
        <p:spPr>
          <a:xfrm>
            <a:off x="6238951" y="3733495"/>
            <a:ext cx="5381244" cy="1047902"/>
          </a:xfrm>
          <a:prstGeom prst="roundRect">
            <a:avLst>
              <a:gd fmla="val 19039" name="adj"/>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0"/>
          <p:cNvSpPr/>
          <p:nvPr/>
        </p:nvSpPr>
        <p:spPr>
          <a:xfrm>
            <a:off x="6439205" y="3877056"/>
            <a:ext cx="247802" cy="247802"/>
          </a:xfrm>
          <a:prstGeom prst="ellipse">
            <a:avLst/>
          </a:prstGeom>
          <a:solidFill>
            <a:srgbClr val="FFF7ED"/>
          </a:solidFill>
          <a:ln cap="flat" cmpd="sng" w="12700">
            <a:solidFill>
              <a:srgbClr val="FED7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0"/>
          <p:cNvSpPr/>
          <p:nvPr/>
        </p:nvSpPr>
        <p:spPr>
          <a:xfrm>
            <a:off x="6400800" y="3877056"/>
            <a:ext cx="324612" cy="247802"/>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EA580C"/>
              </a:buClr>
              <a:buSzPts val="1300"/>
              <a:buFont typeface="Arial"/>
              <a:buNone/>
            </a:pPr>
            <a:r>
              <a:rPr b="1" i="0" lang="en-US" sz="1300" u="none" cap="none" strike="noStrike">
                <a:solidFill>
                  <a:srgbClr val="EA580C"/>
                </a:solidFill>
                <a:latin typeface="Arial"/>
                <a:ea typeface="Arial"/>
                <a:cs typeface="Arial"/>
                <a:sym typeface="Arial"/>
              </a:rPr>
              <a:t>Q</a:t>
            </a:r>
            <a:endParaRPr b="0" i="0" sz="1300" u="none" cap="none" strike="noStrike">
              <a:solidFill>
                <a:schemeClr val="dk1"/>
              </a:solidFill>
              <a:latin typeface="Calibri"/>
              <a:ea typeface="Calibri"/>
              <a:cs typeface="Calibri"/>
              <a:sym typeface="Calibri"/>
            </a:endParaRPr>
          </a:p>
        </p:txBody>
      </p:sp>
      <p:sp>
        <p:nvSpPr>
          <p:cNvPr id="485" name="Google Shape;485;p10"/>
          <p:cNvSpPr txBox="1"/>
          <p:nvPr/>
        </p:nvSpPr>
        <p:spPr>
          <a:xfrm>
            <a:off x="6801307" y="3888943"/>
            <a:ext cx="259141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Noto Sans JP"/>
              <a:buNone/>
            </a:pPr>
            <a:r>
              <a:rPr b="1" i="0" lang="en-US" sz="1300" u="none" cap="none" strike="noStrike">
                <a:solidFill>
                  <a:srgbClr val="1F2937"/>
                </a:solidFill>
                <a:latin typeface="Noto Sans JP"/>
                <a:ea typeface="Noto Sans JP"/>
                <a:cs typeface="Noto Sans JP"/>
                <a:sym typeface="Noto Sans JP"/>
              </a:rPr>
              <a:t>福利厚生以外でも使えますか？</a:t>
            </a:r>
            <a:endParaRPr b="0" i="0" sz="1300" u="none" cap="none" strike="noStrike">
              <a:solidFill>
                <a:schemeClr val="dk1"/>
              </a:solidFill>
              <a:latin typeface="Calibri"/>
              <a:ea typeface="Calibri"/>
              <a:cs typeface="Calibri"/>
              <a:sym typeface="Calibri"/>
            </a:endParaRPr>
          </a:p>
        </p:txBody>
      </p:sp>
      <p:sp>
        <p:nvSpPr>
          <p:cNvPr id="486" name="Google Shape;486;p10"/>
          <p:cNvSpPr txBox="1"/>
          <p:nvPr/>
        </p:nvSpPr>
        <p:spPr>
          <a:xfrm>
            <a:off x="6476695" y="4200754"/>
            <a:ext cx="228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200"/>
              <a:buFont typeface="Noto Sans JP"/>
              <a:buNone/>
            </a:pPr>
            <a:r>
              <a:rPr b="1" i="0" lang="en-US" sz="1200" u="none" cap="none" strike="noStrike">
                <a:solidFill>
                  <a:srgbClr val="10B981"/>
                </a:solidFill>
                <a:latin typeface="Noto Sans JP"/>
                <a:ea typeface="Noto Sans JP"/>
                <a:cs typeface="Noto Sans JP"/>
                <a:sym typeface="Noto Sans JP"/>
              </a:rPr>
              <a:t>A.</a:t>
            </a:r>
            <a:endParaRPr b="0" i="0" sz="1200" u="none" cap="none" strike="noStrike">
              <a:solidFill>
                <a:schemeClr val="dk1"/>
              </a:solidFill>
              <a:latin typeface="Calibri"/>
              <a:ea typeface="Calibri"/>
              <a:cs typeface="Calibri"/>
              <a:sym typeface="Calibri"/>
            </a:endParaRPr>
          </a:p>
        </p:txBody>
      </p:sp>
      <p:sp>
        <p:nvSpPr>
          <p:cNvPr id="487" name="Google Shape;487;p10"/>
          <p:cNvSpPr txBox="1"/>
          <p:nvPr/>
        </p:nvSpPr>
        <p:spPr>
          <a:xfrm>
            <a:off x="6801307" y="4181551"/>
            <a:ext cx="469635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B5563"/>
              </a:buClr>
              <a:buSzPts val="1200"/>
              <a:buFont typeface="Noto Sans JP"/>
              <a:buNone/>
            </a:pPr>
            <a:r>
              <a:rPr b="0" i="0" lang="en-US" sz="1200" u="none" cap="none" strike="noStrike">
                <a:solidFill>
                  <a:srgbClr val="4B5563"/>
                </a:solidFill>
                <a:latin typeface="Noto Sans JP"/>
                <a:ea typeface="Noto Sans JP"/>
                <a:cs typeface="Noto Sans JP"/>
                <a:sym typeface="Noto Sans JP"/>
              </a:rPr>
              <a:t>成約・来場特典やお中元・お歳暮など、販促用途でも幅広く ご活用いただけます。</a:t>
            </a:r>
            <a:endParaRPr b="0" i="0" sz="1200" u="none" cap="none" strike="noStrike">
              <a:solidFill>
                <a:schemeClr val="dk1"/>
              </a:solidFill>
              <a:latin typeface="Calibri"/>
              <a:ea typeface="Calibri"/>
              <a:cs typeface="Calibri"/>
              <a:sym typeface="Calibri"/>
            </a:endParaRPr>
          </a:p>
        </p:txBody>
      </p:sp>
      <p:sp>
        <p:nvSpPr>
          <p:cNvPr id="488" name="Google Shape;488;p10"/>
          <p:cNvSpPr/>
          <p:nvPr/>
        </p:nvSpPr>
        <p:spPr>
          <a:xfrm>
            <a:off x="571500" y="4895698"/>
            <a:ext cx="5381244" cy="1047902"/>
          </a:xfrm>
          <a:prstGeom prst="roundRect">
            <a:avLst>
              <a:gd fmla="val 19039" name="adj"/>
            </a:avLst>
          </a:prstGeom>
          <a:solidFill>
            <a:srgbClr val="FFF7ED"/>
          </a:solidFill>
          <a:ln cap="flat" cmpd="sng" w="12700">
            <a:solidFill>
              <a:srgbClr val="FDB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0"/>
          <p:cNvSpPr/>
          <p:nvPr/>
        </p:nvSpPr>
        <p:spPr>
          <a:xfrm>
            <a:off x="771754" y="5038344"/>
            <a:ext cx="247802" cy="247802"/>
          </a:xfrm>
          <a:prstGeom prst="ellipse">
            <a:avLst/>
          </a:prstGeom>
          <a:solidFill>
            <a:srgbClr val="F9731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0"/>
          <p:cNvSpPr/>
          <p:nvPr/>
        </p:nvSpPr>
        <p:spPr>
          <a:xfrm>
            <a:off x="733349" y="5038344"/>
            <a:ext cx="324612" cy="247802"/>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Q</a:t>
            </a:r>
            <a:endParaRPr b="0" i="0" sz="1300" u="none" cap="none" strike="noStrike">
              <a:solidFill>
                <a:schemeClr val="dk1"/>
              </a:solidFill>
              <a:latin typeface="Calibri"/>
              <a:ea typeface="Calibri"/>
              <a:cs typeface="Calibri"/>
              <a:sym typeface="Calibri"/>
            </a:endParaRPr>
          </a:p>
        </p:txBody>
      </p:sp>
      <p:sp>
        <p:nvSpPr>
          <p:cNvPr id="491" name="Google Shape;491;p10"/>
          <p:cNvSpPr txBox="1"/>
          <p:nvPr/>
        </p:nvSpPr>
        <p:spPr>
          <a:xfrm>
            <a:off x="1133856" y="5051146"/>
            <a:ext cx="327721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Noto Sans JP"/>
              <a:buNone/>
            </a:pPr>
            <a:r>
              <a:rPr b="1" i="0" lang="en-US" sz="1300" u="none" cap="none" strike="noStrike">
                <a:solidFill>
                  <a:srgbClr val="1F2937"/>
                </a:solidFill>
                <a:latin typeface="Noto Sans JP"/>
                <a:ea typeface="Noto Sans JP"/>
                <a:cs typeface="Noto Sans JP"/>
                <a:sym typeface="Noto Sans JP"/>
              </a:rPr>
              <a:t>見積りはどのくらいで作成できますか？</a:t>
            </a:r>
            <a:endParaRPr b="0" i="0" sz="1300" u="none" cap="none" strike="noStrike">
              <a:solidFill>
                <a:schemeClr val="dk1"/>
              </a:solidFill>
              <a:latin typeface="Calibri"/>
              <a:ea typeface="Calibri"/>
              <a:cs typeface="Calibri"/>
              <a:sym typeface="Calibri"/>
            </a:endParaRPr>
          </a:p>
        </p:txBody>
      </p:sp>
      <p:sp>
        <p:nvSpPr>
          <p:cNvPr id="492" name="Google Shape;492;p10"/>
          <p:cNvSpPr txBox="1"/>
          <p:nvPr/>
        </p:nvSpPr>
        <p:spPr>
          <a:xfrm>
            <a:off x="809244" y="5362956"/>
            <a:ext cx="228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200"/>
              <a:buFont typeface="Noto Sans JP"/>
              <a:buNone/>
            </a:pPr>
            <a:r>
              <a:rPr b="1" i="0" lang="en-US" sz="1200" u="none" cap="none" strike="noStrike">
                <a:solidFill>
                  <a:srgbClr val="10B981"/>
                </a:solidFill>
                <a:latin typeface="Noto Sans JP"/>
                <a:ea typeface="Noto Sans JP"/>
                <a:cs typeface="Noto Sans JP"/>
                <a:sym typeface="Noto Sans JP"/>
              </a:rPr>
              <a:t>A.</a:t>
            </a:r>
            <a:endParaRPr b="0" i="0" sz="1200" u="none" cap="none" strike="noStrike">
              <a:solidFill>
                <a:schemeClr val="dk1"/>
              </a:solidFill>
              <a:latin typeface="Calibri"/>
              <a:ea typeface="Calibri"/>
              <a:cs typeface="Calibri"/>
              <a:sym typeface="Calibri"/>
            </a:endParaRPr>
          </a:p>
        </p:txBody>
      </p:sp>
      <p:sp>
        <p:nvSpPr>
          <p:cNvPr id="493" name="Google Shape;493;p10"/>
          <p:cNvSpPr txBox="1"/>
          <p:nvPr/>
        </p:nvSpPr>
        <p:spPr>
          <a:xfrm>
            <a:off x="1133856" y="5343754"/>
            <a:ext cx="469635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B5563"/>
              </a:buClr>
              <a:buSzPts val="1200"/>
              <a:buFont typeface="Noto Sans JP"/>
              <a:buNone/>
            </a:pPr>
            <a:r>
              <a:rPr b="0" i="0" lang="en-US" sz="1200" u="none" cap="none" strike="noStrike">
                <a:solidFill>
                  <a:srgbClr val="4B5563"/>
                </a:solidFill>
                <a:latin typeface="Noto Sans JP"/>
                <a:ea typeface="Noto Sans JP"/>
                <a:cs typeface="Noto Sans JP"/>
                <a:sym typeface="Noto Sans JP"/>
              </a:rPr>
              <a:t>ご希望条件を伺えれば、次回までに詳細見積りと 年間スケジュールをご用意します。</a:t>
            </a:r>
            <a:endParaRPr b="0" i="0" sz="1200" u="none" cap="none" strike="noStrike">
              <a:solidFill>
                <a:schemeClr val="dk1"/>
              </a:solidFill>
              <a:latin typeface="Calibri"/>
              <a:ea typeface="Calibri"/>
              <a:cs typeface="Calibri"/>
              <a:sym typeface="Calibri"/>
            </a:endParaRPr>
          </a:p>
        </p:txBody>
      </p:sp>
      <p:sp>
        <p:nvSpPr>
          <p:cNvPr id="494" name="Google Shape;494;p10"/>
          <p:cNvSpPr/>
          <p:nvPr/>
        </p:nvSpPr>
        <p:spPr>
          <a:xfrm>
            <a:off x="7378294" y="5281574"/>
            <a:ext cx="3105302" cy="314554"/>
          </a:xfrm>
          <a:prstGeom prst="roundRect">
            <a:avLst>
              <a:gd fmla="val 290697" name="adj"/>
            </a:avLst>
          </a:prstGeom>
          <a:solidFill>
            <a:srgbClr val="F3F4F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5" name="Google Shape;495;p10"/>
          <p:cNvPicPr preferRelativeResize="0"/>
          <p:nvPr/>
        </p:nvPicPr>
        <p:blipFill rotWithShape="1">
          <a:blip r:embed="rId3">
            <a:alphaModFix/>
          </a:blip>
          <a:srcRect b="0" l="0" r="0" t="0"/>
          <a:stretch/>
        </p:blipFill>
        <p:spPr>
          <a:xfrm>
            <a:off x="7530998" y="5372100"/>
            <a:ext cx="133502" cy="133502"/>
          </a:xfrm>
          <a:prstGeom prst="rect">
            <a:avLst/>
          </a:prstGeom>
          <a:noFill/>
          <a:ln>
            <a:noFill/>
          </a:ln>
        </p:spPr>
      </p:pic>
      <p:sp>
        <p:nvSpPr>
          <p:cNvPr id="496" name="Google Shape;496;p10"/>
          <p:cNvSpPr txBox="1"/>
          <p:nvPr/>
        </p:nvSpPr>
        <p:spPr>
          <a:xfrm>
            <a:off x="7664501" y="5281574"/>
            <a:ext cx="2743200" cy="3145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Noto Sans JP"/>
              <a:buNone/>
            </a:pPr>
            <a:r>
              <a:rPr b="0" i="0" lang="en-US" sz="1000" u="none" cap="none" strike="noStrike">
                <a:solidFill>
                  <a:srgbClr val="6B7280"/>
                </a:solidFill>
                <a:latin typeface="Noto Sans JP"/>
                <a:ea typeface="Noto Sans JP"/>
                <a:cs typeface="Noto Sans JP"/>
                <a:sym typeface="Noto Sans JP"/>
              </a:rPr>
              <a:t>その他ご不明な点はお気軽にご相談ください</a:t>
            </a:r>
            <a:endParaRPr b="0" i="0" sz="1000" u="none" cap="none" strike="noStrike">
              <a:solidFill>
                <a:schemeClr val="dk1"/>
              </a:solidFill>
              <a:latin typeface="Calibri"/>
              <a:ea typeface="Calibri"/>
              <a:cs typeface="Calibri"/>
              <a:sym typeface="Calibri"/>
            </a:endParaRPr>
          </a:p>
        </p:txBody>
      </p:sp>
      <p:pic>
        <p:nvPicPr>
          <p:cNvPr descr="preencoded.png" id="497" name="Google Shape;497;p10"/>
          <p:cNvPicPr preferRelativeResize="0"/>
          <p:nvPr/>
        </p:nvPicPr>
        <p:blipFill rotWithShape="1">
          <a:blip r:embed="rId4">
            <a:alphaModFix/>
          </a:blip>
          <a:srcRect b="0" l="-200" r="-200" t="0"/>
          <a:stretch/>
        </p:blipFill>
        <p:spPr>
          <a:xfrm>
            <a:off x="0" y="6782105"/>
            <a:ext cx="12191695" cy="7589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
          <p:cNvSpPr/>
          <p:nvPr/>
        </p:nvSpPr>
        <p:spPr>
          <a:xfrm>
            <a:off x="0" y="0"/>
            <a:ext cx="12191695" cy="6858000"/>
          </a:xfrm>
          <a:prstGeom prst="rect">
            <a:avLst/>
          </a:prstGeom>
          <a:solidFill>
            <a:srgbClr val="F3F4F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1"/>
          <p:cNvSpPr/>
          <p:nvPr/>
        </p:nvSpPr>
        <p:spPr>
          <a:xfrm>
            <a:off x="0" y="0"/>
            <a:ext cx="12191695" cy="6858000"/>
          </a:xfrm>
          <a:prstGeom prst="rect">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1"/>
          <p:cNvSpPr/>
          <p:nvPr/>
        </p:nvSpPr>
        <p:spPr>
          <a:xfrm>
            <a:off x="0" y="838505"/>
            <a:ext cx="12191695" cy="19202"/>
          </a:xfrm>
          <a:prstGeom prst="rect">
            <a:avLst/>
          </a:prstGeom>
          <a:solidFill>
            <a:srgbClr val="FFF7ED"/>
          </a:solidFill>
          <a:ln cap="flat" cmpd="sng" w="12700">
            <a:solidFill>
              <a:srgbClr val="FFF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1"/>
          <p:cNvSpPr txBox="1"/>
          <p:nvPr/>
        </p:nvSpPr>
        <p:spPr>
          <a:xfrm>
            <a:off x="571500" y="331013"/>
            <a:ext cx="2226564"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Arial"/>
              <a:buNone/>
            </a:pPr>
            <a:r>
              <a:rPr b="1" i="0" lang="en-US" sz="2700" u="none" cap="none" strike="noStrike">
                <a:solidFill>
                  <a:srgbClr val="111827"/>
                </a:solidFill>
                <a:latin typeface="Arial"/>
                <a:ea typeface="Arial"/>
                <a:cs typeface="Arial"/>
                <a:sym typeface="Arial"/>
              </a:rPr>
              <a:t>料金プラン</a:t>
            </a:r>
            <a:endParaRPr b="0" i="0" sz="2700" u="none" cap="none" strike="noStrike">
              <a:solidFill>
                <a:schemeClr val="dk1"/>
              </a:solidFill>
              <a:latin typeface="Calibri"/>
              <a:ea typeface="Calibri"/>
              <a:cs typeface="Calibri"/>
              <a:sym typeface="Calibri"/>
            </a:endParaRPr>
          </a:p>
        </p:txBody>
      </p:sp>
      <p:sp>
        <p:nvSpPr>
          <p:cNvPr id="507" name="Google Shape;507;p11"/>
          <p:cNvSpPr txBox="1"/>
          <p:nvPr/>
        </p:nvSpPr>
        <p:spPr>
          <a:xfrm>
            <a:off x="9568282" y="448056"/>
            <a:ext cx="2221992" cy="2953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300"/>
              <a:buFont typeface="Noto Sans JP"/>
              <a:buNone/>
            </a:pPr>
            <a:r>
              <a:rPr b="1" i="0" lang="en-US" sz="1300" u="none" cap="none" strike="noStrike">
                <a:solidFill>
                  <a:srgbClr val="9CA3AF"/>
                </a:solidFill>
                <a:latin typeface="Noto Sans JP"/>
                <a:ea typeface="Noto Sans JP"/>
                <a:cs typeface="Noto Sans JP"/>
                <a:sym typeface="Noto Sans JP"/>
              </a:rPr>
              <a:t>株式会社フードサプライズ</a:t>
            </a:r>
            <a:endParaRPr b="0" i="0" sz="1300" u="none" cap="none" strike="noStrike">
              <a:solidFill>
                <a:schemeClr val="dk1"/>
              </a:solidFill>
              <a:latin typeface="Calibri"/>
              <a:ea typeface="Calibri"/>
              <a:cs typeface="Calibri"/>
              <a:sym typeface="Calibri"/>
            </a:endParaRPr>
          </a:p>
        </p:txBody>
      </p:sp>
      <p:sp>
        <p:nvSpPr>
          <p:cNvPr id="508" name="Google Shape;508;p11"/>
          <p:cNvSpPr txBox="1"/>
          <p:nvPr/>
        </p:nvSpPr>
        <p:spPr>
          <a:xfrm>
            <a:off x="571500" y="1143000"/>
            <a:ext cx="11239805" cy="3145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600"/>
              <a:buFont typeface="Arial"/>
              <a:buNone/>
            </a:pPr>
            <a:r>
              <a:rPr b="1" i="0" lang="en-US" sz="1600" u="none" cap="none" strike="noStrike">
                <a:solidFill>
                  <a:srgbClr val="4B5563"/>
                </a:solidFill>
                <a:latin typeface="Arial"/>
                <a:ea typeface="Arial"/>
                <a:cs typeface="Arial"/>
                <a:sym typeface="Arial"/>
              </a:rPr>
              <a:t>基本月額プラン</a:t>
            </a:r>
            <a:endParaRPr b="0" i="0" sz="1600" u="none" cap="none" strike="noStrike">
              <a:solidFill>
                <a:schemeClr val="dk1"/>
              </a:solidFill>
              <a:latin typeface="Calibri"/>
              <a:ea typeface="Calibri"/>
              <a:cs typeface="Calibri"/>
              <a:sym typeface="Calibri"/>
            </a:endParaRPr>
          </a:p>
        </p:txBody>
      </p:sp>
      <p:sp>
        <p:nvSpPr>
          <p:cNvPr id="509" name="Google Shape;509;p11"/>
          <p:cNvSpPr/>
          <p:nvPr/>
        </p:nvSpPr>
        <p:spPr>
          <a:xfrm>
            <a:off x="571500" y="1143000"/>
            <a:ext cx="75895" cy="209398"/>
          </a:xfrm>
          <a:prstGeom prst="roundRect">
            <a:avLst>
              <a:gd fmla="val 602411" name="adj"/>
            </a:avLst>
          </a:prstGeom>
          <a:solidFill>
            <a:srgbClr val="F9731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1"/>
          <p:cNvSpPr/>
          <p:nvPr/>
        </p:nvSpPr>
        <p:spPr>
          <a:xfrm>
            <a:off x="571500" y="1571854"/>
            <a:ext cx="5381244" cy="1876349"/>
          </a:xfrm>
          <a:prstGeom prst="roundRect">
            <a:avLst>
              <a:gd fmla="val 7916" name="adj"/>
            </a:avLst>
          </a:prstGeom>
          <a:solidFill>
            <a:srgbClr val="FFF7ED"/>
          </a:solidFill>
          <a:ln cap="flat" cmpd="sng" w="25400">
            <a:solidFill>
              <a:srgbClr val="FDBA74"/>
            </a:solidFill>
            <a:prstDash val="solid"/>
            <a:round/>
            <a:headEnd len="sm" w="sm" type="none"/>
            <a:tailEnd len="sm" w="sm" type="none"/>
          </a:ln>
          <a:effectLst>
            <a:outerShdw blurRad="63500" rotWithShape="0" algn="bl" dir="16200000" dist="38100">
              <a:srgbClr val="000000">
                <a:alpha val="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1"/>
          <p:cNvSpPr/>
          <p:nvPr/>
        </p:nvSpPr>
        <p:spPr>
          <a:xfrm>
            <a:off x="819302" y="2229307"/>
            <a:ext cx="4886554" cy="9144"/>
          </a:xfrm>
          <a:prstGeom prst="rect">
            <a:avLst/>
          </a:prstGeom>
          <a:solidFill>
            <a:srgbClr val="000000">
              <a:alpha val="5098"/>
            </a:srgbClr>
          </a:solidFill>
          <a:ln cap="flat" cmpd="sng" w="12700">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1"/>
          <p:cNvSpPr txBox="1"/>
          <p:nvPr/>
        </p:nvSpPr>
        <p:spPr>
          <a:xfrm>
            <a:off x="819302" y="1781251"/>
            <a:ext cx="1019556"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900"/>
              <a:buFont typeface="Arial"/>
              <a:buNone/>
            </a:pPr>
            <a:r>
              <a:rPr b="1" i="0" lang="en-US" sz="1900" u="none" cap="none" strike="noStrike">
                <a:solidFill>
                  <a:srgbClr val="1F2937"/>
                </a:solidFill>
                <a:latin typeface="Arial"/>
                <a:ea typeface="Arial"/>
                <a:cs typeface="Arial"/>
                <a:sym typeface="Arial"/>
              </a:rPr>
              <a:t>Aコース</a:t>
            </a:r>
            <a:endParaRPr b="0" i="0" sz="1900" u="none" cap="none" strike="noStrike">
              <a:solidFill>
                <a:schemeClr val="dk1"/>
              </a:solidFill>
              <a:latin typeface="Calibri"/>
              <a:ea typeface="Calibri"/>
              <a:cs typeface="Calibri"/>
              <a:sym typeface="Calibri"/>
            </a:endParaRPr>
          </a:p>
        </p:txBody>
      </p:sp>
      <p:sp>
        <p:nvSpPr>
          <p:cNvPr id="513" name="Google Shape;513;p11"/>
          <p:cNvSpPr/>
          <p:nvPr/>
        </p:nvSpPr>
        <p:spPr>
          <a:xfrm>
            <a:off x="4998110" y="1781251"/>
            <a:ext cx="714146" cy="237744"/>
          </a:xfrm>
          <a:prstGeom prst="roundRect">
            <a:avLst>
              <a:gd fmla="val 384615" name="adj"/>
            </a:avLst>
          </a:prstGeom>
          <a:solidFill>
            <a:srgbClr val="EA580C"/>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1"/>
          <p:cNvSpPr/>
          <p:nvPr/>
        </p:nvSpPr>
        <p:spPr>
          <a:xfrm>
            <a:off x="4969764" y="1781251"/>
            <a:ext cx="771754" cy="238658"/>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38100" lIns="101600" spcFirstLastPara="1" rIns="101600" wrap="square" tIns="38100">
            <a:noAutofit/>
          </a:bodyPr>
          <a:lstStyle/>
          <a:p>
            <a:pPr indent="0" lvl="0" marL="0" marR="0" rtl="0" algn="ctr">
              <a:spcBef>
                <a:spcPts val="0"/>
              </a:spcBef>
              <a:spcAft>
                <a:spcPts val="0"/>
              </a:spcAft>
              <a:buClr>
                <a:srgbClr val="FFFFFF"/>
              </a:buClr>
              <a:buSzPts val="800"/>
              <a:buFont typeface="Noto Sans JP"/>
              <a:buNone/>
            </a:pPr>
            <a:r>
              <a:rPr b="1" i="0" lang="en-US" sz="800" u="none" cap="none" strike="noStrike">
                <a:solidFill>
                  <a:srgbClr val="FFFFFF"/>
                </a:solidFill>
                <a:latin typeface="Noto Sans JP"/>
                <a:ea typeface="Noto Sans JP"/>
                <a:cs typeface="Noto Sans JP"/>
                <a:sym typeface="Noto Sans JP"/>
              </a:rPr>
              <a:t>プレミアム</a:t>
            </a:r>
            <a:endParaRPr b="0" i="0" sz="800" u="none" cap="none" strike="noStrike">
              <a:solidFill>
                <a:schemeClr val="dk1"/>
              </a:solidFill>
              <a:latin typeface="Calibri"/>
              <a:ea typeface="Calibri"/>
              <a:cs typeface="Calibri"/>
              <a:sym typeface="Calibri"/>
            </a:endParaRPr>
          </a:p>
        </p:txBody>
      </p:sp>
      <p:sp>
        <p:nvSpPr>
          <p:cNvPr id="515" name="Google Shape;515;p11"/>
          <p:cNvSpPr txBox="1"/>
          <p:nvPr/>
        </p:nvSpPr>
        <p:spPr>
          <a:xfrm>
            <a:off x="819302" y="2352751"/>
            <a:ext cx="50776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月額料金（税別）</a:t>
            </a:r>
            <a:endParaRPr b="0" i="0" sz="900" u="none" cap="none" strike="noStrike">
              <a:solidFill>
                <a:schemeClr val="dk1"/>
              </a:solidFill>
              <a:latin typeface="Calibri"/>
              <a:ea typeface="Calibri"/>
              <a:cs typeface="Calibri"/>
              <a:sym typeface="Calibri"/>
            </a:endParaRPr>
          </a:p>
        </p:txBody>
      </p:sp>
      <p:sp>
        <p:nvSpPr>
          <p:cNvPr id="516" name="Google Shape;516;p11"/>
          <p:cNvSpPr txBox="1"/>
          <p:nvPr/>
        </p:nvSpPr>
        <p:spPr>
          <a:xfrm>
            <a:off x="819302" y="2557577"/>
            <a:ext cx="5077663"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Noto Sans JP"/>
              <a:buNone/>
            </a:pPr>
            <a:r>
              <a:rPr b="1" i="0" lang="en-US" sz="2800" u="none" cap="none" strike="noStrike">
                <a:solidFill>
                  <a:srgbClr val="1F2937"/>
                </a:solidFill>
                <a:latin typeface="Noto Sans JP"/>
                <a:ea typeface="Noto Sans JP"/>
                <a:cs typeface="Noto Sans JP"/>
                <a:sym typeface="Noto Sans JP"/>
              </a:rPr>
              <a:t>6,000</a:t>
            </a:r>
            <a:r>
              <a:rPr b="1" i="0" lang="en-US" sz="1200" u="none" cap="none" strike="noStrike">
                <a:solidFill>
                  <a:srgbClr val="6B7280"/>
                </a:solidFill>
                <a:latin typeface="Noto Sans JP"/>
                <a:ea typeface="Noto Sans JP"/>
                <a:cs typeface="Noto Sans JP"/>
                <a:sym typeface="Noto Sans JP"/>
              </a:rPr>
              <a:t>円 / 名</a:t>
            </a:r>
            <a:endParaRPr b="0" i="0" sz="2800" u="none" cap="none" strike="noStrike">
              <a:solidFill>
                <a:schemeClr val="dk1"/>
              </a:solidFill>
              <a:latin typeface="Calibri"/>
              <a:ea typeface="Calibri"/>
              <a:cs typeface="Calibri"/>
              <a:sym typeface="Calibri"/>
            </a:endParaRPr>
          </a:p>
        </p:txBody>
      </p:sp>
      <p:sp>
        <p:nvSpPr>
          <p:cNvPr id="517" name="Google Shape;517;p11"/>
          <p:cNvSpPr txBox="1"/>
          <p:nvPr/>
        </p:nvSpPr>
        <p:spPr>
          <a:xfrm>
            <a:off x="819302" y="3053182"/>
            <a:ext cx="50776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900"/>
              <a:buFont typeface="Noto Sans JP"/>
              <a:buNone/>
            </a:pPr>
            <a:r>
              <a:rPr b="0" i="0" lang="en-US" sz="900" u="none" cap="none" strike="noStrike">
                <a:solidFill>
                  <a:srgbClr val="4B5563"/>
                </a:solidFill>
                <a:latin typeface="Noto Sans JP"/>
                <a:ea typeface="Noto Sans JP"/>
                <a:cs typeface="Noto Sans JP"/>
                <a:sym typeface="Noto Sans JP"/>
              </a:rPr>
              <a:t>旬の最高級品を厳選し、福利厚生の満足度を高めます。</a:t>
            </a:r>
            <a:endParaRPr b="0" i="0" sz="900" u="none" cap="none" strike="noStrike">
              <a:solidFill>
                <a:schemeClr val="dk1"/>
              </a:solidFill>
              <a:latin typeface="Calibri"/>
              <a:ea typeface="Calibri"/>
              <a:cs typeface="Calibri"/>
              <a:sym typeface="Calibri"/>
            </a:endParaRPr>
          </a:p>
        </p:txBody>
      </p:sp>
      <p:sp>
        <p:nvSpPr>
          <p:cNvPr id="518" name="Google Shape;518;p11"/>
          <p:cNvSpPr/>
          <p:nvPr/>
        </p:nvSpPr>
        <p:spPr>
          <a:xfrm>
            <a:off x="6238951" y="1571854"/>
            <a:ext cx="5381244" cy="1876349"/>
          </a:xfrm>
          <a:prstGeom prst="roundRect">
            <a:avLst>
              <a:gd fmla="val 7916" name="adj"/>
            </a:avLst>
          </a:prstGeom>
          <a:solidFill>
            <a:srgbClr val="FFFFFF"/>
          </a:solidFill>
          <a:ln cap="flat" cmpd="sng" w="25400">
            <a:solidFill>
              <a:srgbClr val="E5E7EB"/>
            </a:solidFill>
            <a:prstDash val="solid"/>
            <a:round/>
            <a:headEnd len="sm" w="sm" type="none"/>
            <a:tailEnd len="sm" w="sm" type="none"/>
          </a:ln>
          <a:effectLst>
            <a:outerShdw blurRad="63500" rotWithShape="0" algn="bl" dir="16200000" dist="38100">
              <a:srgbClr val="000000">
                <a:alpha val="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1"/>
          <p:cNvSpPr/>
          <p:nvPr/>
        </p:nvSpPr>
        <p:spPr>
          <a:xfrm>
            <a:off x="6486754" y="2229307"/>
            <a:ext cx="4886554" cy="9144"/>
          </a:xfrm>
          <a:prstGeom prst="rect">
            <a:avLst/>
          </a:prstGeom>
          <a:solidFill>
            <a:srgbClr val="000000">
              <a:alpha val="5098"/>
            </a:srgbClr>
          </a:solidFill>
          <a:ln cap="flat" cmpd="sng" w="12700">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1"/>
          <p:cNvSpPr txBox="1"/>
          <p:nvPr/>
        </p:nvSpPr>
        <p:spPr>
          <a:xfrm>
            <a:off x="6486754" y="1781251"/>
            <a:ext cx="1010412"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900"/>
              <a:buFont typeface="Arial"/>
              <a:buNone/>
            </a:pPr>
            <a:r>
              <a:rPr b="1" i="0" lang="en-US" sz="1900" u="none" cap="none" strike="noStrike">
                <a:solidFill>
                  <a:srgbClr val="1F2937"/>
                </a:solidFill>
                <a:latin typeface="Arial"/>
                <a:ea typeface="Arial"/>
                <a:cs typeface="Arial"/>
                <a:sym typeface="Arial"/>
              </a:rPr>
              <a:t>Bコース</a:t>
            </a:r>
            <a:endParaRPr b="0" i="0" sz="1900" u="none" cap="none" strike="noStrike">
              <a:solidFill>
                <a:schemeClr val="dk1"/>
              </a:solidFill>
              <a:latin typeface="Calibri"/>
              <a:ea typeface="Calibri"/>
              <a:cs typeface="Calibri"/>
              <a:sym typeface="Calibri"/>
            </a:endParaRPr>
          </a:p>
        </p:txBody>
      </p:sp>
      <p:sp>
        <p:nvSpPr>
          <p:cNvPr id="521" name="Google Shape;521;p11"/>
          <p:cNvSpPr/>
          <p:nvPr/>
        </p:nvSpPr>
        <p:spPr>
          <a:xfrm>
            <a:off x="10554005" y="1781251"/>
            <a:ext cx="819302" cy="237744"/>
          </a:xfrm>
          <a:prstGeom prst="roundRect">
            <a:avLst>
              <a:gd fmla="val 384615" name="adj"/>
            </a:avLst>
          </a:prstGeom>
          <a:solidFill>
            <a:srgbClr val="F3F4F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1"/>
          <p:cNvSpPr/>
          <p:nvPr/>
        </p:nvSpPr>
        <p:spPr>
          <a:xfrm>
            <a:off x="10524744" y="1781251"/>
            <a:ext cx="876910" cy="238658"/>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38100" lIns="101600" spcFirstLastPara="1" rIns="101600" wrap="square" tIns="38100">
            <a:noAutofit/>
          </a:bodyPr>
          <a:lstStyle/>
          <a:p>
            <a:pPr indent="0" lvl="0" marL="0" marR="0" rtl="0" algn="ctr">
              <a:spcBef>
                <a:spcPts val="0"/>
              </a:spcBef>
              <a:spcAft>
                <a:spcPts val="0"/>
              </a:spcAft>
              <a:buClr>
                <a:srgbClr val="4B5563"/>
              </a:buClr>
              <a:buSzPts val="800"/>
              <a:buFont typeface="Noto Sans JP"/>
              <a:buNone/>
            </a:pPr>
            <a:r>
              <a:rPr b="1" i="0" lang="en-US" sz="800" u="none" cap="none" strike="noStrike">
                <a:solidFill>
                  <a:srgbClr val="4B5563"/>
                </a:solidFill>
                <a:latin typeface="Noto Sans JP"/>
                <a:ea typeface="Noto Sans JP"/>
                <a:cs typeface="Noto Sans JP"/>
                <a:sym typeface="Noto Sans JP"/>
              </a:rPr>
              <a:t>スタンダード</a:t>
            </a:r>
            <a:endParaRPr b="0" i="0" sz="800" u="none" cap="none" strike="noStrike">
              <a:solidFill>
                <a:schemeClr val="dk1"/>
              </a:solidFill>
              <a:latin typeface="Calibri"/>
              <a:ea typeface="Calibri"/>
              <a:cs typeface="Calibri"/>
              <a:sym typeface="Calibri"/>
            </a:endParaRPr>
          </a:p>
        </p:txBody>
      </p:sp>
      <p:sp>
        <p:nvSpPr>
          <p:cNvPr id="523" name="Google Shape;523;p11"/>
          <p:cNvSpPr txBox="1"/>
          <p:nvPr/>
        </p:nvSpPr>
        <p:spPr>
          <a:xfrm>
            <a:off x="6486754" y="2352751"/>
            <a:ext cx="50776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月額料金（税別）</a:t>
            </a:r>
            <a:endParaRPr b="0" i="0" sz="900" u="none" cap="none" strike="noStrike">
              <a:solidFill>
                <a:schemeClr val="dk1"/>
              </a:solidFill>
              <a:latin typeface="Calibri"/>
              <a:ea typeface="Calibri"/>
              <a:cs typeface="Calibri"/>
              <a:sym typeface="Calibri"/>
            </a:endParaRPr>
          </a:p>
        </p:txBody>
      </p:sp>
      <p:sp>
        <p:nvSpPr>
          <p:cNvPr id="524" name="Google Shape;524;p11"/>
          <p:cNvSpPr txBox="1"/>
          <p:nvPr/>
        </p:nvSpPr>
        <p:spPr>
          <a:xfrm>
            <a:off x="6486754" y="2557577"/>
            <a:ext cx="5077663"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Noto Sans JP"/>
              <a:buNone/>
            </a:pPr>
            <a:r>
              <a:rPr b="1" i="0" lang="en-US" sz="2800" u="none" cap="none" strike="noStrike">
                <a:solidFill>
                  <a:srgbClr val="1F2937"/>
                </a:solidFill>
                <a:latin typeface="Noto Sans JP"/>
                <a:ea typeface="Noto Sans JP"/>
                <a:cs typeface="Noto Sans JP"/>
                <a:sym typeface="Noto Sans JP"/>
              </a:rPr>
              <a:t>3,000</a:t>
            </a:r>
            <a:r>
              <a:rPr b="1" i="0" lang="en-US" sz="1200" u="none" cap="none" strike="noStrike">
                <a:solidFill>
                  <a:srgbClr val="6B7280"/>
                </a:solidFill>
                <a:latin typeface="Noto Sans JP"/>
                <a:ea typeface="Noto Sans JP"/>
                <a:cs typeface="Noto Sans JP"/>
                <a:sym typeface="Noto Sans JP"/>
              </a:rPr>
              <a:t>円 / 名</a:t>
            </a:r>
            <a:endParaRPr b="0" i="0" sz="2800" u="none" cap="none" strike="noStrike">
              <a:solidFill>
                <a:schemeClr val="dk1"/>
              </a:solidFill>
              <a:latin typeface="Calibri"/>
              <a:ea typeface="Calibri"/>
              <a:cs typeface="Calibri"/>
              <a:sym typeface="Calibri"/>
            </a:endParaRPr>
          </a:p>
        </p:txBody>
      </p:sp>
      <p:sp>
        <p:nvSpPr>
          <p:cNvPr id="525" name="Google Shape;525;p11"/>
          <p:cNvSpPr txBox="1"/>
          <p:nvPr/>
        </p:nvSpPr>
        <p:spPr>
          <a:xfrm>
            <a:off x="6486754" y="3053182"/>
            <a:ext cx="50776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900"/>
              <a:buFont typeface="Noto Sans JP"/>
              <a:buNone/>
            </a:pPr>
            <a:r>
              <a:rPr b="0" i="0" lang="en-US" sz="900" u="none" cap="none" strike="noStrike">
                <a:solidFill>
                  <a:srgbClr val="4B5563"/>
                </a:solidFill>
                <a:latin typeface="Noto Sans JP"/>
                <a:ea typeface="Noto Sans JP"/>
                <a:cs typeface="Noto Sans JP"/>
                <a:sym typeface="Noto Sans JP"/>
              </a:rPr>
              <a:t>手軽に始められ、コストを抑えて継続的な還元が可能です。</a:t>
            </a:r>
            <a:endParaRPr b="0" i="0" sz="900" u="none" cap="none" strike="noStrike">
              <a:solidFill>
                <a:schemeClr val="dk1"/>
              </a:solidFill>
              <a:latin typeface="Calibri"/>
              <a:ea typeface="Calibri"/>
              <a:cs typeface="Calibri"/>
              <a:sym typeface="Calibri"/>
            </a:endParaRPr>
          </a:p>
        </p:txBody>
      </p:sp>
      <p:sp>
        <p:nvSpPr>
          <p:cNvPr id="526" name="Google Shape;526;p11"/>
          <p:cNvSpPr txBox="1"/>
          <p:nvPr/>
        </p:nvSpPr>
        <p:spPr>
          <a:xfrm>
            <a:off x="571500" y="3733495"/>
            <a:ext cx="11239805" cy="3145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600"/>
              <a:buFont typeface="Arial"/>
              <a:buNone/>
            </a:pPr>
            <a:r>
              <a:rPr b="1" i="0" lang="en-US" sz="1600" u="none" cap="none" strike="noStrike">
                <a:solidFill>
                  <a:srgbClr val="4B5563"/>
                </a:solidFill>
                <a:latin typeface="Arial"/>
                <a:ea typeface="Arial"/>
                <a:cs typeface="Arial"/>
                <a:sym typeface="Arial"/>
              </a:rPr>
              <a:t>年間運用シミュレーション例</a:t>
            </a:r>
            <a:endParaRPr b="0" i="0" sz="1600" u="none" cap="none" strike="noStrike">
              <a:solidFill>
                <a:schemeClr val="dk1"/>
              </a:solidFill>
              <a:latin typeface="Calibri"/>
              <a:ea typeface="Calibri"/>
              <a:cs typeface="Calibri"/>
              <a:sym typeface="Calibri"/>
            </a:endParaRPr>
          </a:p>
        </p:txBody>
      </p:sp>
      <p:sp>
        <p:nvSpPr>
          <p:cNvPr id="527" name="Google Shape;527;p11"/>
          <p:cNvSpPr/>
          <p:nvPr/>
        </p:nvSpPr>
        <p:spPr>
          <a:xfrm>
            <a:off x="571500" y="3733495"/>
            <a:ext cx="75895" cy="209398"/>
          </a:xfrm>
          <a:prstGeom prst="roundRect">
            <a:avLst>
              <a:gd fmla="val 602411" name="adj"/>
            </a:avLst>
          </a:prstGeom>
          <a:solidFill>
            <a:srgbClr val="F97316"/>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1"/>
          <p:cNvSpPr/>
          <p:nvPr/>
        </p:nvSpPr>
        <p:spPr>
          <a:xfrm>
            <a:off x="571500" y="4162349"/>
            <a:ext cx="11048695" cy="2143354"/>
          </a:xfrm>
          <a:prstGeom prst="roundRect">
            <a:avLst>
              <a:gd fmla="val 6067" name="adj"/>
            </a:avLst>
          </a:prstGeom>
          <a:solidFill>
            <a:srgbClr val="F9FAFB"/>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1"/>
          <p:cNvSpPr txBox="1"/>
          <p:nvPr/>
        </p:nvSpPr>
        <p:spPr>
          <a:xfrm>
            <a:off x="1114654" y="4362602"/>
            <a:ext cx="4981651"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Noto Sans JP"/>
              <a:buNone/>
            </a:pPr>
            <a:r>
              <a:rPr b="1" i="0" lang="en-US" sz="1200" u="none" cap="none" strike="noStrike">
                <a:solidFill>
                  <a:srgbClr val="374151"/>
                </a:solidFill>
                <a:latin typeface="Noto Sans JP"/>
                <a:ea typeface="Noto Sans JP"/>
                <a:cs typeface="Noto Sans JP"/>
                <a:sym typeface="Noto Sans JP"/>
              </a:rPr>
              <a:t> 年間一括設計（10ヶ月）の例 </a:t>
            </a:r>
            <a:endParaRPr b="0" i="0" sz="1200" u="none" cap="none" strike="noStrike">
              <a:solidFill>
                <a:schemeClr val="dk1"/>
              </a:solidFill>
              <a:latin typeface="Calibri"/>
              <a:ea typeface="Calibri"/>
              <a:cs typeface="Calibri"/>
              <a:sym typeface="Calibri"/>
            </a:endParaRPr>
          </a:p>
        </p:txBody>
      </p:sp>
      <p:pic>
        <p:nvPicPr>
          <p:cNvPr descr="preencoded.png" id="530" name="Google Shape;530;p11"/>
          <p:cNvPicPr preferRelativeResize="0"/>
          <p:nvPr/>
        </p:nvPicPr>
        <p:blipFill rotWithShape="1">
          <a:blip r:embed="rId3">
            <a:alphaModFix/>
          </a:blip>
          <a:srcRect b="0" l="-760" r="-760" t="0"/>
          <a:stretch/>
        </p:blipFill>
        <p:spPr>
          <a:xfrm>
            <a:off x="866851" y="4390949"/>
            <a:ext cx="152705" cy="171907"/>
          </a:xfrm>
          <a:prstGeom prst="rect">
            <a:avLst/>
          </a:prstGeom>
          <a:noFill/>
          <a:ln>
            <a:noFill/>
          </a:ln>
        </p:spPr>
      </p:pic>
      <p:sp>
        <p:nvSpPr>
          <p:cNvPr id="531" name="Google Shape;531;p11"/>
          <p:cNvSpPr/>
          <p:nvPr/>
        </p:nvSpPr>
        <p:spPr>
          <a:xfrm>
            <a:off x="866851" y="4705502"/>
            <a:ext cx="5038344" cy="1399946"/>
          </a:xfrm>
          <a:prstGeom prst="roundRect">
            <a:avLst>
              <a:gd fmla="val 10664" name="adj"/>
            </a:avLst>
          </a:prstGeom>
          <a:solidFill>
            <a:srgbClr val="FFFFFF"/>
          </a:solidFill>
          <a:ln cap="flat" cmpd="sng" w="12700">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1"/>
          <p:cNvSpPr txBox="1"/>
          <p:nvPr/>
        </p:nvSpPr>
        <p:spPr>
          <a:xfrm>
            <a:off x="2086661" y="4881982"/>
            <a:ext cx="147675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200"/>
              <a:buFont typeface="Noto Sans JP"/>
              <a:buNone/>
            </a:pPr>
            <a:r>
              <a:rPr b="0" i="0" lang="en-US" sz="1200" u="none" cap="none" strike="noStrike">
                <a:solidFill>
                  <a:srgbClr val="4B5563"/>
                </a:solidFill>
                <a:latin typeface="Noto Sans JP"/>
                <a:ea typeface="Noto Sans JP"/>
                <a:cs typeface="Noto Sans JP"/>
                <a:sym typeface="Noto Sans JP"/>
              </a:rPr>
              <a:t>Aコース（6,000円）</a:t>
            </a:r>
            <a:endParaRPr b="0" i="0" sz="1200" u="none" cap="none" strike="noStrike">
              <a:solidFill>
                <a:schemeClr val="dk1"/>
              </a:solidFill>
              <a:latin typeface="Calibri"/>
              <a:ea typeface="Calibri"/>
              <a:cs typeface="Calibri"/>
              <a:sym typeface="Calibri"/>
            </a:endParaRPr>
          </a:p>
        </p:txBody>
      </p:sp>
      <p:sp>
        <p:nvSpPr>
          <p:cNvPr id="533" name="Google Shape;533;p11"/>
          <p:cNvSpPr txBox="1"/>
          <p:nvPr/>
        </p:nvSpPr>
        <p:spPr>
          <a:xfrm>
            <a:off x="3557016" y="4867351"/>
            <a:ext cx="247802"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300"/>
              <a:buFont typeface="Noto Sans JP"/>
              <a:buNone/>
            </a:pPr>
            <a:r>
              <a:rPr b="0" i="0" lang="en-US" sz="1300" u="none" cap="none" strike="noStrike">
                <a:solidFill>
                  <a:srgbClr val="4B5563"/>
                </a:solidFill>
                <a:latin typeface="Noto Sans JP"/>
                <a:ea typeface="Noto Sans JP"/>
                <a:cs typeface="Noto Sans JP"/>
                <a:sym typeface="Noto Sans JP"/>
              </a:rPr>
              <a:t>×</a:t>
            </a:r>
            <a:endParaRPr b="0" i="0" sz="1300" u="none" cap="none" strike="noStrike">
              <a:solidFill>
                <a:schemeClr val="dk1"/>
              </a:solidFill>
              <a:latin typeface="Calibri"/>
              <a:ea typeface="Calibri"/>
              <a:cs typeface="Calibri"/>
              <a:sym typeface="Calibri"/>
            </a:endParaRPr>
          </a:p>
        </p:txBody>
      </p:sp>
      <p:sp>
        <p:nvSpPr>
          <p:cNvPr id="534" name="Google Shape;534;p11"/>
          <p:cNvSpPr txBox="1"/>
          <p:nvPr/>
        </p:nvSpPr>
        <p:spPr>
          <a:xfrm>
            <a:off x="3804818" y="4881982"/>
            <a:ext cx="715061"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200"/>
              <a:buFont typeface="Noto Sans JP"/>
              <a:buNone/>
            </a:pPr>
            <a:r>
              <a:rPr b="0" i="0" lang="en-US" sz="1200" u="none" cap="none" strike="noStrike">
                <a:solidFill>
                  <a:srgbClr val="4B5563"/>
                </a:solidFill>
                <a:latin typeface="Noto Sans JP"/>
                <a:ea typeface="Noto Sans JP"/>
                <a:cs typeface="Noto Sans JP"/>
                <a:sym typeface="Noto Sans JP"/>
              </a:rPr>
              <a:t>10回配送</a:t>
            </a:r>
            <a:endParaRPr b="0" i="0" sz="1200" u="none" cap="none" strike="noStrike">
              <a:solidFill>
                <a:schemeClr val="dk1"/>
              </a:solidFill>
              <a:latin typeface="Calibri"/>
              <a:ea typeface="Calibri"/>
              <a:cs typeface="Calibri"/>
              <a:sym typeface="Calibri"/>
            </a:endParaRPr>
          </a:p>
        </p:txBody>
      </p:sp>
      <p:sp>
        <p:nvSpPr>
          <p:cNvPr id="535" name="Google Shape;535;p11"/>
          <p:cNvSpPr txBox="1"/>
          <p:nvPr/>
        </p:nvSpPr>
        <p:spPr>
          <a:xfrm>
            <a:off x="4511650" y="4867351"/>
            <a:ext cx="181051"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300"/>
              <a:buFont typeface="Noto Sans JP"/>
              <a:buNone/>
            </a:pPr>
            <a:r>
              <a:rPr b="0" i="0" lang="en-US" sz="1300" u="none" cap="none" strike="noStrike">
                <a:solidFill>
                  <a:srgbClr val="4B5563"/>
                </a:solidFill>
                <a:latin typeface="Noto Sans JP"/>
                <a:ea typeface="Noto Sans JP"/>
                <a:cs typeface="Noto Sans JP"/>
                <a:sym typeface="Noto Sans JP"/>
              </a:rPr>
              <a:t>=</a:t>
            </a:r>
            <a:endParaRPr b="0" i="0" sz="1300" u="none" cap="none" strike="noStrike">
              <a:solidFill>
                <a:schemeClr val="dk1"/>
              </a:solidFill>
              <a:latin typeface="Calibri"/>
              <a:ea typeface="Calibri"/>
              <a:cs typeface="Calibri"/>
              <a:sym typeface="Calibri"/>
            </a:endParaRPr>
          </a:p>
        </p:txBody>
      </p:sp>
      <p:sp>
        <p:nvSpPr>
          <p:cNvPr id="536" name="Google Shape;536;p11"/>
          <p:cNvSpPr txBox="1"/>
          <p:nvPr/>
        </p:nvSpPr>
        <p:spPr>
          <a:xfrm>
            <a:off x="2318918" y="5201107"/>
            <a:ext cx="1116482" cy="3337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A580C"/>
              </a:buClr>
              <a:buSzPts val="1800"/>
              <a:buFont typeface="Noto Sans JP"/>
              <a:buNone/>
            </a:pPr>
            <a:r>
              <a:rPr b="1" i="0" lang="en-US" sz="1800" u="none" cap="none" strike="noStrike">
                <a:solidFill>
                  <a:srgbClr val="EA580C"/>
                </a:solidFill>
                <a:latin typeface="Noto Sans JP"/>
                <a:ea typeface="Noto Sans JP"/>
                <a:cs typeface="Noto Sans JP"/>
                <a:sym typeface="Noto Sans JP"/>
              </a:rPr>
              <a:t>60,000円</a:t>
            </a:r>
            <a:endParaRPr b="0" i="0" sz="1800" u="none" cap="none" strike="noStrike">
              <a:solidFill>
                <a:schemeClr val="dk1"/>
              </a:solidFill>
              <a:latin typeface="Calibri"/>
              <a:ea typeface="Calibri"/>
              <a:cs typeface="Calibri"/>
              <a:sym typeface="Calibri"/>
            </a:endParaRPr>
          </a:p>
        </p:txBody>
      </p:sp>
      <p:sp>
        <p:nvSpPr>
          <p:cNvPr id="537" name="Google Shape;537;p11"/>
          <p:cNvSpPr txBox="1"/>
          <p:nvPr/>
        </p:nvSpPr>
        <p:spPr>
          <a:xfrm>
            <a:off x="3318358" y="5324551"/>
            <a:ext cx="1234440"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 1人あたり（年額）</a:t>
            </a:r>
            <a:endParaRPr b="0" i="0" sz="900" u="none" cap="none" strike="noStrike">
              <a:solidFill>
                <a:schemeClr val="dk1"/>
              </a:solidFill>
              <a:latin typeface="Calibri"/>
              <a:ea typeface="Calibri"/>
              <a:cs typeface="Calibri"/>
              <a:sym typeface="Calibri"/>
            </a:endParaRPr>
          </a:p>
        </p:txBody>
      </p:sp>
      <p:sp>
        <p:nvSpPr>
          <p:cNvPr id="538" name="Google Shape;538;p11"/>
          <p:cNvSpPr txBox="1"/>
          <p:nvPr/>
        </p:nvSpPr>
        <p:spPr>
          <a:xfrm>
            <a:off x="990295" y="5619902"/>
            <a:ext cx="4791456" cy="32461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 年間の福利厚生予算として固定しやすく、</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 毎月の稟議承認の手間を削減できます。 </a:t>
            </a:r>
            <a:endParaRPr b="0" i="0" sz="900" u="none" cap="none" strike="noStrike">
              <a:solidFill>
                <a:schemeClr val="dk1"/>
              </a:solidFill>
              <a:latin typeface="Calibri"/>
              <a:ea typeface="Calibri"/>
              <a:cs typeface="Calibri"/>
              <a:sym typeface="Calibri"/>
            </a:endParaRPr>
          </a:p>
        </p:txBody>
      </p:sp>
      <p:sp>
        <p:nvSpPr>
          <p:cNvPr id="539" name="Google Shape;539;p11"/>
          <p:cNvSpPr txBox="1"/>
          <p:nvPr/>
        </p:nvSpPr>
        <p:spPr>
          <a:xfrm>
            <a:off x="6553505" y="4362602"/>
            <a:ext cx="4962449"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Noto Sans JP"/>
              <a:buNone/>
            </a:pPr>
            <a:r>
              <a:rPr b="1" i="0" lang="en-US" sz="1200" u="none" cap="none" strike="noStrike">
                <a:solidFill>
                  <a:srgbClr val="374151"/>
                </a:solidFill>
                <a:latin typeface="Noto Sans JP"/>
                <a:ea typeface="Noto Sans JP"/>
                <a:cs typeface="Noto Sans JP"/>
                <a:sym typeface="Noto Sans JP"/>
              </a:rPr>
              <a:t> A・B組み合わせ運用の例 </a:t>
            </a:r>
            <a:endParaRPr b="0" i="0" sz="1200" u="none" cap="none" strike="noStrike">
              <a:solidFill>
                <a:schemeClr val="dk1"/>
              </a:solidFill>
              <a:latin typeface="Calibri"/>
              <a:ea typeface="Calibri"/>
              <a:cs typeface="Calibri"/>
              <a:sym typeface="Calibri"/>
            </a:endParaRPr>
          </a:p>
        </p:txBody>
      </p:sp>
      <p:pic>
        <p:nvPicPr>
          <p:cNvPr descr="preencoded.png" id="540" name="Google Shape;540;p11"/>
          <p:cNvPicPr preferRelativeResize="0"/>
          <p:nvPr/>
        </p:nvPicPr>
        <p:blipFill rotWithShape="1">
          <a:blip r:embed="rId4">
            <a:alphaModFix/>
          </a:blip>
          <a:srcRect b="0" l="0" r="0" t="0"/>
          <a:stretch/>
        </p:blipFill>
        <p:spPr>
          <a:xfrm>
            <a:off x="6286500" y="4390949"/>
            <a:ext cx="171907" cy="171907"/>
          </a:xfrm>
          <a:prstGeom prst="rect">
            <a:avLst/>
          </a:prstGeom>
          <a:noFill/>
          <a:ln>
            <a:noFill/>
          </a:ln>
        </p:spPr>
      </p:pic>
      <p:sp>
        <p:nvSpPr>
          <p:cNvPr id="541" name="Google Shape;541;p11"/>
          <p:cNvSpPr/>
          <p:nvPr/>
        </p:nvSpPr>
        <p:spPr>
          <a:xfrm>
            <a:off x="6286500" y="4705502"/>
            <a:ext cx="5038344" cy="1399946"/>
          </a:xfrm>
          <a:prstGeom prst="roundRect">
            <a:avLst>
              <a:gd fmla="val 10664" name="adj"/>
            </a:avLst>
          </a:prstGeom>
          <a:solidFill>
            <a:srgbClr val="FFFFFF"/>
          </a:solidFill>
          <a:ln cap="flat" cmpd="sng" w="12700">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1"/>
          <p:cNvSpPr/>
          <p:nvPr/>
        </p:nvSpPr>
        <p:spPr>
          <a:xfrm>
            <a:off x="7776972" y="4900270"/>
            <a:ext cx="761695" cy="190195"/>
          </a:xfrm>
          <a:prstGeom prst="roundRect">
            <a:avLst>
              <a:gd fmla="val 192308" name="adj"/>
            </a:avLst>
          </a:prstGeom>
          <a:solidFill>
            <a:srgbClr val="FDBA74"/>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1"/>
          <p:cNvSpPr txBox="1"/>
          <p:nvPr/>
        </p:nvSpPr>
        <p:spPr>
          <a:xfrm>
            <a:off x="7739482" y="4900270"/>
            <a:ext cx="838505" cy="191110"/>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9A3412"/>
              </a:buClr>
              <a:buSzPts val="800"/>
              <a:buFont typeface="Noto Sans JP"/>
              <a:buNone/>
            </a:pPr>
            <a:r>
              <a:rPr b="1" i="0" lang="en-US" sz="800" u="none" cap="none" strike="noStrike">
                <a:solidFill>
                  <a:srgbClr val="9A3412"/>
                </a:solidFill>
                <a:latin typeface="Noto Sans JP"/>
                <a:ea typeface="Noto Sans JP"/>
                <a:cs typeface="Noto Sans JP"/>
                <a:sym typeface="Noto Sans JP"/>
              </a:rPr>
              <a:t>A: 夏冬</a:t>
            </a:r>
            <a:endParaRPr b="0" i="0" sz="800" u="none" cap="none" strike="noStrike">
              <a:solidFill>
                <a:schemeClr val="dk1"/>
              </a:solidFill>
              <a:latin typeface="Calibri"/>
              <a:ea typeface="Calibri"/>
              <a:cs typeface="Calibri"/>
              <a:sym typeface="Calibri"/>
            </a:endParaRPr>
          </a:p>
        </p:txBody>
      </p:sp>
      <p:pic>
        <p:nvPicPr>
          <p:cNvPr descr="preencoded.png" id="544" name="Google Shape;544;p11"/>
          <p:cNvPicPr preferRelativeResize="0"/>
          <p:nvPr/>
        </p:nvPicPr>
        <p:blipFill rotWithShape="1">
          <a:blip r:embed="rId5">
            <a:alphaModFix/>
          </a:blip>
          <a:srcRect b="-1100" l="0" r="0" t="-1100"/>
          <a:stretch/>
        </p:blipFill>
        <p:spPr>
          <a:xfrm>
            <a:off x="8615477" y="4929530"/>
            <a:ext cx="114300" cy="133502"/>
          </a:xfrm>
          <a:prstGeom prst="rect">
            <a:avLst/>
          </a:prstGeom>
          <a:noFill/>
          <a:ln>
            <a:noFill/>
          </a:ln>
        </p:spPr>
      </p:pic>
      <p:sp>
        <p:nvSpPr>
          <p:cNvPr id="545" name="Google Shape;545;p11"/>
          <p:cNvSpPr/>
          <p:nvPr/>
        </p:nvSpPr>
        <p:spPr>
          <a:xfrm>
            <a:off x="8805672" y="4900270"/>
            <a:ext cx="761695" cy="190195"/>
          </a:xfrm>
          <a:prstGeom prst="roundRect">
            <a:avLst>
              <a:gd fmla="val 192308" name="adj"/>
            </a:avLst>
          </a:prstGeom>
          <a:solidFill>
            <a:srgbClr val="E5E7EB"/>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1"/>
          <p:cNvSpPr txBox="1"/>
          <p:nvPr/>
        </p:nvSpPr>
        <p:spPr>
          <a:xfrm>
            <a:off x="8768182" y="4900270"/>
            <a:ext cx="838505" cy="191110"/>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B5563"/>
              </a:buClr>
              <a:buSzPts val="800"/>
              <a:buFont typeface="Noto Sans JP"/>
              <a:buNone/>
            </a:pPr>
            <a:r>
              <a:rPr b="1" i="0" lang="en-US" sz="800" u="none" cap="none" strike="noStrike">
                <a:solidFill>
                  <a:srgbClr val="4B5563"/>
                </a:solidFill>
                <a:latin typeface="Noto Sans JP"/>
                <a:ea typeface="Noto Sans JP"/>
                <a:cs typeface="Noto Sans JP"/>
                <a:sym typeface="Noto Sans JP"/>
              </a:rPr>
              <a:t>B: 通常</a:t>
            </a:r>
            <a:endParaRPr b="0" i="0" sz="800" u="none" cap="none" strike="noStrike">
              <a:solidFill>
                <a:schemeClr val="dk1"/>
              </a:solidFill>
              <a:latin typeface="Calibri"/>
              <a:ea typeface="Calibri"/>
              <a:cs typeface="Calibri"/>
              <a:sym typeface="Calibri"/>
            </a:endParaRPr>
          </a:p>
        </p:txBody>
      </p:sp>
      <p:pic>
        <p:nvPicPr>
          <p:cNvPr descr="preencoded.png" id="547" name="Google Shape;547;p11"/>
          <p:cNvPicPr preferRelativeResize="0"/>
          <p:nvPr/>
        </p:nvPicPr>
        <p:blipFill rotWithShape="1">
          <a:blip r:embed="rId6">
            <a:alphaModFix/>
          </a:blip>
          <a:srcRect b="-1100" l="0" r="0" t="-1100"/>
          <a:stretch/>
        </p:blipFill>
        <p:spPr>
          <a:xfrm>
            <a:off x="9720072" y="4929530"/>
            <a:ext cx="114300" cy="133502"/>
          </a:xfrm>
          <a:prstGeom prst="rect">
            <a:avLst/>
          </a:prstGeom>
          <a:noFill/>
          <a:ln>
            <a:noFill/>
          </a:ln>
        </p:spPr>
      </p:pic>
      <p:sp>
        <p:nvSpPr>
          <p:cNvPr id="548" name="Google Shape;548;p11"/>
          <p:cNvSpPr txBox="1"/>
          <p:nvPr/>
        </p:nvSpPr>
        <p:spPr>
          <a:xfrm>
            <a:off x="7643470" y="5290718"/>
            <a:ext cx="457200"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900"/>
              <a:buFont typeface="Noto Sans JP"/>
              <a:buNone/>
            </a:pPr>
            <a:r>
              <a:rPr b="0" i="0" lang="en-US" sz="900" u="none" cap="none" strike="noStrike">
                <a:solidFill>
                  <a:srgbClr val="4B5563"/>
                </a:solidFill>
                <a:latin typeface="Noto Sans JP"/>
                <a:ea typeface="Noto Sans JP"/>
                <a:cs typeface="Noto Sans JP"/>
                <a:sym typeface="Noto Sans JP"/>
              </a:rPr>
              <a:t>月平均</a:t>
            </a:r>
            <a:endParaRPr b="0" i="0" sz="900" u="none" cap="none" strike="noStrike">
              <a:solidFill>
                <a:schemeClr val="dk1"/>
              </a:solidFill>
              <a:latin typeface="Calibri"/>
              <a:ea typeface="Calibri"/>
              <a:cs typeface="Calibri"/>
              <a:sym typeface="Calibri"/>
            </a:endParaRPr>
          </a:p>
        </p:txBody>
      </p:sp>
      <p:sp>
        <p:nvSpPr>
          <p:cNvPr id="549" name="Google Shape;549;p11"/>
          <p:cNvSpPr txBox="1"/>
          <p:nvPr/>
        </p:nvSpPr>
        <p:spPr>
          <a:xfrm>
            <a:off x="8060436" y="5167274"/>
            <a:ext cx="1337767" cy="3337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A580C"/>
              </a:buClr>
              <a:buSzPts val="1800"/>
              <a:buFont typeface="Noto Sans JP"/>
              <a:buNone/>
            </a:pPr>
            <a:r>
              <a:rPr b="1" i="0" lang="en-US" sz="1800" u="none" cap="none" strike="noStrike">
                <a:solidFill>
                  <a:srgbClr val="EA580C"/>
                </a:solidFill>
                <a:latin typeface="Noto Sans JP"/>
                <a:ea typeface="Noto Sans JP"/>
                <a:cs typeface="Noto Sans JP"/>
                <a:sym typeface="Noto Sans JP"/>
              </a:rPr>
              <a:t>約 4,500円</a:t>
            </a:r>
            <a:endParaRPr b="0" i="0" sz="1800" u="none" cap="none" strike="noStrike">
              <a:solidFill>
                <a:schemeClr val="dk1"/>
              </a:solidFill>
              <a:latin typeface="Calibri"/>
              <a:ea typeface="Calibri"/>
              <a:cs typeface="Calibri"/>
              <a:sym typeface="Calibri"/>
            </a:endParaRPr>
          </a:p>
        </p:txBody>
      </p:sp>
      <p:sp>
        <p:nvSpPr>
          <p:cNvPr id="550" name="Google Shape;550;p11"/>
          <p:cNvSpPr txBox="1"/>
          <p:nvPr/>
        </p:nvSpPr>
        <p:spPr>
          <a:xfrm>
            <a:off x="9239098" y="5290718"/>
            <a:ext cx="750722"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 1人あたり</a:t>
            </a:r>
            <a:endParaRPr b="0" i="0" sz="900" u="none" cap="none" strike="noStrike">
              <a:solidFill>
                <a:schemeClr val="dk1"/>
              </a:solidFill>
              <a:latin typeface="Calibri"/>
              <a:ea typeface="Calibri"/>
              <a:cs typeface="Calibri"/>
              <a:sym typeface="Calibri"/>
            </a:endParaRPr>
          </a:p>
        </p:txBody>
      </p:sp>
      <p:sp>
        <p:nvSpPr>
          <p:cNvPr id="551" name="Google Shape;551;p11"/>
          <p:cNvSpPr txBox="1"/>
          <p:nvPr/>
        </p:nvSpPr>
        <p:spPr>
          <a:xfrm>
            <a:off x="6409944" y="5586070"/>
            <a:ext cx="4791456" cy="32461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 「ボーナス月はAコース」「通常はBコース」など、</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B7280"/>
              </a:buClr>
              <a:buSzPts val="900"/>
              <a:buFont typeface="Noto Sans JP"/>
              <a:buNone/>
            </a:pPr>
            <a:r>
              <a:rPr b="0" i="0" lang="en-US" sz="900" u="none" cap="none" strike="noStrike">
                <a:solidFill>
                  <a:srgbClr val="6B7280"/>
                </a:solidFill>
                <a:latin typeface="Noto Sans JP"/>
                <a:ea typeface="Noto Sans JP"/>
                <a:cs typeface="Noto Sans JP"/>
                <a:sym typeface="Noto Sans JP"/>
              </a:rPr>
              <a:t> メリハリをつけた予算配分が可能です。 </a:t>
            </a:r>
            <a:endParaRPr b="0" i="0" sz="900" u="none" cap="none" strike="noStrike">
              <a:solidFill>
                <a:schemeClr val="dk1"/>
              </a:solidFill>
              <a:latin typeface="Calibri"/>
              <a:ea typeface="Calibri"/>
              <a:cs typeface="Calibri"/>
              <a:sym typeface="Calibri"/>
            </a:endParaRPr>
          </a:p>
        </p:txBody>
      </p:sp>
      <p:sp>
        <p:nvSpPr>
          <p:cNvPr id="552" name="Google Shape;552;p11"/>
          <p:cNvSpPr txBox="1"/>
          <p:nvPr/>
        </p:nvSpPr>
        <p:spPr>
          <a:xfrm>
            <a:off x="495605" y="6492240"/>
            <a:ext cx="11125505" cy="2670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9CA3AF"/>
              </a:buClr>
              <a:buSzPts val="900"/>
              <a:buFont typeface="Noto Sans JP"/>
              <a:buNone/>
            </a:pPr>
            <a:r>
              <a:rPr b="0" i="0" lang="en-US" sz="900" u="none" cap="none" strike="noStrike">
                <a:solidFill>
                  <a:srgbClr val="9CA3AF"/>
                </a:solidFill>
                <a:latin typeface="Noto Sans JP"/>
                <a:ea typeface="Noto Sans JP"/>
                <a:cs typeface="Noto Sans JP"/>
                <a:sym typeface="Noto Sans JP"/>
              </a:rPr>
              <a:t>※上記は一例です。貴社のご予算・人数・ご希望の頻度に合わせて最適なプランをお見積りいたします。</a:t>
            </a:r>
            <a:endParaRPr b="0" i="0" sz="900" u="none" cap="none" strike="noStrike">
              <a:solidFill>
                <a:schemeClr val="dk1"/>
              </a:solidFill>
              <a:latin typeface="Calibri"/>
              <a:ea typeface="Calibri"/>
              <a:cs typeface="Calibri"/>
              <a:sym typeface="Calibri"/>
            </a:endParaRPr>
          </a:p>
        </p:txBody>
      </p:sp>
      <p:pic>
        <p:nvPicPr>
          <p:cNvPr descr="preencoded.png" id="553" name="Google Shape;553;p11"/>
          <p:cNvPicPr preferRelativeResize="0"/>
          <p:nvPr/>
        </p:nvPicPr>
        <p:blipFill rotWithShape="1">
          <a:blip r:embed="rId7">
            <a:alphaModFix/>
          </a:blip>
          <a:srcRect b="0" l="-200" r="-200" t="0"/>
          <a:stretch/>
        </p:blipFill>
        <p:spPr>
          <a:xfrm>
            <a:off x="0" y="6782105"/>
            <a:ext cx="12191695" cy="7589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2026-02-27T00:58:02Z</dcterms:created>
  <dc:creator>Visual Extract to PPTX Converter</dc:creator>
</cp:coreProperties>
</file>